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69" r:id="rId4"/>
    <p:sldId id="258" r:id="rId5"/>
    <p:sldId id="293" r:id="rId6"/>
    <p:sldId id="259" r:id="rId7"/>
    <p:sldId id="277" r:id="rId8"/>
    <p:sldId id="278" r:id="rId9"/>
    <p:sldId id="260" r:id="rId10"/>
    <p:sldId id="266" r:id="rId11"/>
    <p:sldId id="261" r:id="rId12"/>
    <p:sldId id="262" r:id="rId13"/>
    <p:sldId id="263" r:id="rId14"/>
    <p:sldId id="267" r:id="rId15"/>
    <p:sldId id="268" r:id="rId16"/>
    <p:sldId id="273" r:id="rId17"/>
    <p:sldId id="272" r:id="rId18"/>
    <p:sldId id="274" r:id="rId19"/>
    <p:sldId id="275" r:id="rId20"/>
    <p:sldId id="270" r:id="rId21"/>
    <p:sldId id="271" r:id="rId22"/>
    <p:sldId id="284" r:id="rId23"/>
    <p:sldId id="295" r:id="rId24"/>
    <p:sldId id="279" r:id="rId25"/>
    <p:sldId id="280" r:id="rId26"/>
    <p:sldId id="281" r:id="rId27"/>
    <p:sldId id="282" r:id="rId28"/>
    <p:sldId id="287" r:id="rId29"/>
    <p:sldId id="288" r:id="rId30"/>
    <p:sldId id="291" r:id="rId31"/>
    <p:sldId id="292" r:id="rId32"/>
    <p:sldId id="283" r:id="rId33"/>
    <p:sldId id="294" r:id="rId3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6"/>
    <a:srgbClr val="009900"/>
    <a:srgbClr val="CC0000"/>
    <a:srgbClr val="234063"/>
    <a:srgbClr val="2A4D78"/>
    <a:srgbClr val="2D2682"/>
    <a:srgbClr val="294983"/>
    <a:srgbClr val="8A2E6B"/>
    <a:srgbClr val="E6E6E6"/>
    <a:srgbClr val="2A4C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9122" autoAdjust="0"/>
    <p:restoredTop sz="94660"/>
  </p:normalViewPr>
  <p:slideViewPr>
    <p:cSldViewPr snapToGrid="0">
      <p:cViewPr varScale="1">
        <p:scale>
          <a:sx n="80" d="100"/>
          <a:sy n="80" d="100"/>
        </p:scale>
        <p:origin x="48"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D137B93-5DC2-4635-9492-63710B3F2146}"/>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92BF6A2-3775-44AC-BA0A-236357DEEC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57ABD6DD-01C6-41FF-8B52-1F65B08EB708}"/>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405CF56E-C4FE-4BD8-B9E8-64C635D0FC9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0DE02F2-FCEB-441E-A0C9-BD76883E0896}"/>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3567495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E79263-48D1-4E62-A33C-CF15DBBA25C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F497490-690C-418E-BBCF-C82B7602660F}"/>
              </a:ext>
            </a:extLst>
          </p:cNvPr>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B8DC929-2E3B-469F-A865-96BF553C822D}"/>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6242BA01-A54B-4884-963F-F3AD0CA9ACE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D7E08F8-6999-401F-A914-BD3DA9A66A13}"/>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2355286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99B397-5F48-47D7-B495-ABEECA145B5A}"/>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BBDCD9D-6C83-4955-9562-2DA2D79D3B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3D582C48-3974-462F-B8A0-2FFCF95D943E}"/>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E568F1C2-BB95-4450-9F2A-DD81646563A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F50C3B9-0FD7-4D47-B55E-0282519E9581}"/>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1145553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EF3F6A8-8461-45CB-A41B-5C4EAE976AC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63F9343-B4F8-4299-A068-A33BCE6FFD72}"/>
              </a:ext>
            </a:extLst>
          </p:cNvPr>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1AC85CFF-AC67-453B-9865-74761836F468}"/>
              </a:ext>
            </a:extLst>
          </p:cNvPr>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6A344AC-3EEC-4AA1-BEF6-936C5897189F}"/>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6" name="מציין מיקום של כותרת תחתונה 5">
            <a:extLst>
              <a:ext uri="{FF2B5EF4-FFF2-40B4-BE49-F238E27FC236}">
                <a16:creationId xmlns:a16="http://schemas.microsoft.com/office/drawing/2014/main" id="{AF083296-C678-415B-A651-27B90C23234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B3562C0-4097-4D7B-B670-2B37741B98CC}"/>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3697407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1607EE0-1DEA-47AC-AE38-BDAB1BB778AF}"/>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260BBF5-D9A8-4432-8A48-3BF44AA1E5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a:extLst>
              <a:ext uri="{FF2B5EF4-FFF2-40B4-BE49-F238E27FC236}">
                <a16:creationId xmlns:a16="http://schemas.microsoft.com/office/drawing/2014/main" id="{56A50D5D-561F-443A-8C20-6E27A62BECBA}"/>
              </a:ext>
            </a:extLst>
          </p:cNvPr>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EDF064A5-DD75-488B-AC30-F1A77658B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a:extLst>
              <a:ext uri="{FF2B5EF4-FFF2-40B4-BE49-F238E27FC236}">
                <a16:creationId xmlns:a16="http://schemas.microsoft.com/office/drawing/2014/main" id="{7DDC52C8-6A39-4A25-91CF-34B02770590E}"/>
              </a:ext>
            </a:extLst>
          </p:cNvPr>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F242AFA1-4104-44C0-AF51-81BF89D071F3}"/>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8" name="מציין מיקום של כותרת תחתונה 7">
            <a:extLst>
              <a:ext uri="{FF2B5EF4-FFF2-40B4-BE49-F238E27FC236}">
                <a16:creationId xmlns:a16="http://schemas.microsoft.com/office/drawing/2014/main" id="{DDB32E7D-1B16-4B6C-95EF-04320C7E27DF}"/>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18CE716-64B2-4BBC-9253-EF3DE65837DC}"/>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164106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9E4973-6379-4E53-A751-55ACE20BA23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50449BD-B17D-4988-A7CE-4C71A9B19D00}"/>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4" name="מציין מיקום של כותרת תחתונה 3">
            <a:extLst>
              <a:ext uri="{FF2B5EF4-FFF2-40B4-BE49-F238E27FC236}">
                <a16:creationId xmlns:a16="http://schemas.microsoft.com/office/drawing/2014/main" id="{A14FD9AD-212D-4F47-ADAD-633B3CAAB0E8}"/>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3871E832-2380-47C2-9EC4-99E5E671C649}"/>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2748766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5E1D324-C561-479D-9879-F835517A96DE}"/>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3" name="מציין מיקום של כותרת תחתונה 2">
            <a:extLst>
              <a:ext uri="{FF2B5EF4-FFF2-40B4-BE49-F238E27FC236}">
                <a16:creationId xmlns:a16="http://schemas.microsoft.com/office/drawing/2014/main" id="{DDA95851-8539-44AC-AEE4-7DE00D259222}"/>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958BCB11-BEFC-491D-8322-2F9065EE94E2}"/>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1102101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62072E-B5CF-4812-AEC4-8D4E88A3897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44D6CBF-105E-4E89-9CCD-AF0DA211DE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F58DE5E3-4F47-412C-B326-72AE53DB5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592973EB-4AA3-429C-B1FD-F392EB1C8B6A}"/>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6" name="מציין מיקום של כותרת תחתונה 5">
            <a:extLst>
              <a:ext uri="{FF2B5EF4-FFF2-40B4-BE49-F238E27FC236}">
                <a16:creationId xmlns:a16="http://schemas.microsoft.com/office/drawing/2014/main" id="{A9EFF4FE-EF7C-4009-B8A3-DDF5A475527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3FB5AB3-6CA2-458A-8937-6B9534AA9D53}"/>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313315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CCC8A9-AE4A-4E6B-B491-4AF8CBBC941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F68F1401-08E5-4D2E-B6F6-A784728FEF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A75F563-3D80-42CA-BBC2-784C25ABC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D2D33A1E-5F7C-4B8B-A1AC-979817F410B4}"/>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6" name="מציין מיקום של כותרת תחתונה 5">
            <a:extLst>
              <a:ext uri="{FF2B5EF4-FFF2-40B4-BE49-F238E27FC236}">
                <a16:creationId xmlns:a16="http://schemas.microsoft.com/office/drawing/2014/main" id="{E3DAB88D-CB09-4E38-AC5D-D9689260A75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A60E2B0-AF42-4DEA-8524-C9A45F31416B}"/>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584556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3EFD12-5160-471C-A46E-5305BE31DD0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B1E5334-3CD3-47CC-A4C5-4500C6947DF9}"/>
              </a:ext>
            </a:extLst>
          </p:cNvPr>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D89657A-24D9-430C-B3BB-2907B8BD8D32}"/>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4963C413-F588-40DA-9359-C2210741A32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307A64E-E699-4E4A-A0FD-61977AE1666C}"/>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121651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3DC8D7C-F0EE-4005-90D1-33B41FDE068D}"/>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554FDCD0-D4C6-49BE-81DA-70469A6AFF10}"/>
              </a:ext>
            </a:extLst>
          </p:cNvPr>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AEBF949-BD7C-4516-9870-512360DF3D9E}"/>
              </a:ext>
            </a:extLst>
          </p:cNvPr>
          <p:cNvSpPr>
            <a:spLocks noGrp="1"/>
          </p:cNvSpPr>
          <p:nvPr>
            <p:ph type="dt" sz="half" idx="10"/>
          </p:nvPr>
        </p:nvSpPr>
        <p:spPr/>
        <p:txBody>
          <a:body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F0160618-C57D-4522-A5A2-6526EC987FF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E7FD5E9-C8F3-4B8F-8469-1C3CBE101C83}"/>
              </a:ext>
            </a:extLst>
          </p:cNvPr>
          <p:cNvSpPr>
            <a:spLocks noGrp="1"/>
          </p:cNvSpPr>
          <p:nvPr>
            <p:ph type="sldNum" sz="quarter" idx="12"/>
          </p:nvPr>
        </p:nvSpPr>
        <p:spPr/>
        <p:txBody>
          <a:bodyPr/>
          <a:lstStyle/>
          <a:p>
            <a:fld id="{E3BC8405-276A-4AC4-865B-D42C6E9B539B}" type="slidenum">
              <a:rPr lang="he-IL" smtClean="0"/>
              <a:t>‹#›</a:t>
            </a:fld>
            <a:endParaRPr lang="he-IL"/>
          </a:p>
        </p:txBody>
      </p:sp>
    </p:spTree>
    <p:extLst>
      <p:ext uri="{BB962C8B-B14F-4D97-AF65-F5344CB8AC3E}">
        <p14:creationId xmlns:p14="http://schemas.microsoft.com/office/powerpoint/2010/main" val="29358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1E1EB18-65FF-4886-AA23-FA8BEC2AB9F0}"/>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48C33B7-BBBC-4790-B148-FC388A164795}"/>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0A9AD74-04EA-4F84-B937-8BC842829A82}"/>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B583330-949B-48DA-948D-1D1279E6AA5E}" type="datetimeFigureOut">
              <a:rPr lang="he-IL" smtClean="0"/>
              <a:t>ג'/תמוז/תשפ"ו</a:t>
            </a:fld>
            <a:endParaRPr lang="he-IL"/>
          </a:p>
        </p:txBody>
      </p:sp>
      <p:sp>
        <p:nvSpPr>
          <p:cNvPr id="5" name="מציין מיקום של כותרת תחתונה 4">
            <a:extLst>
              <a:ext uri="{FF2B5EF4-FFF2-40B4-BE49-F238E27FC236}">
                <a16:creationId xmlns:a16="http://schemas.microsoft.com/office/drawing/2014/main" id="{7952A677-8228-421B-A0B2-8B14061B1D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7A1055CF-A732-460F-817F-3F4EB6485D2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E3BC8405-276A-4AC4-865B-D42C6E9B539B}" type="slidenum">
              <a:rPr lang="he-IL" smtClean="0"/>
              <a:t>‹#›</a:t>
            </a:fld>
            <a:endParaRPr lang="he-IL"/>
          </a:p>
        </p:txBody>
      </p:sp>
    </p:spTree>
    <p:extLst>
      <p:ext uri="{BB962C8B-B14F-4D97-AF65-F5344CB8AC3E}">
        <p14:creationId xmlns:p14="http://schemas.microsoft.com/office/powerpoint/2010/main" val="29835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2.png"/><Relationship Id="rId5" Type="http://schemas.microsoft.com/office/2007/relationships/hdphoto" Target="../media/hdphoto3.wdp"/><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2.png"/><Relationship Id="rId5" Type="http://schemas.microsoft.com/office/2007/relationships/hdphoto" Target="../media/hdphoto3.wdp"/><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5" Type="http://schemas.microsoft.com/office/2007/relationships/hdphoto" Target="../media/hdphoto3.wdp"/><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4063"/>
        </a:solidFill>
        <a:effectLst/>
      </p:bgPr>
    </p:bg>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551E90DC-ACB3-409D-B541-E6A18A7E8081}"/>
              </a:ext>
            </a:extLst>
          </p:cNvPr>
          <p:cNvSpPr/>
          <p:nvPr/>
        </p:nvSpPr>
        <p:spPr>
          <a:xfrm>
            <a:off x="5691187" y="2352585"/>
            <a:ext cx="2928938" cy="1754326"/>
          </a:xfrm>
          <a:prstGeom prst="rect">
            <a:avLst/>
          </a:prstGeom>
        </p:spPr>
        <p:txBody>
          <a:bodyPr wrap="square">
            <a:spAutoFit/>
          </a:bodyPr>
          <a:lstStyle/>
          <a:p>
            <a:pPr algn="l" rtl="0">
              <a:spcBef>
                <a:spcPts val="0"/>
              </a:spcBef>
              <a:spcAft>
                <a:spcPts val="0"/>
              </a:spcAft>
            </a:pPr>
            <a:r>
              <a:rPr lang="en-US" sz="5400">
                <a:solidFill>
                  <a:srgbClr val="000000"/>
                </a:solidFill>
                <a:effectLst>
                  <a:outerShdw blurRad="50800" dist="38100" dir="5400000" algn="t" rotWithShape="0">
                    <a:prstClr val="black">
                      <a:alpha val="40000"/>
                    </a:prstClr>
                  </a:outerShdw>
                </a:effectLst>
                <a:latin typeface="Calibri" panose="020F0502020204030204" pitchFamily="34" charset="0"/>
              </a:rPr>
              <a:t>koka</a:t>
            </a:r>
            <a:endParaRPr lang="en-US" sz="5400" b="0">
              <a:effectLst>
                <a:outerShdw blurRad="50800" dist="38100" dir="5400000" algn="t" rotWithShape="0">
                  <a:prstClr val="black">
                    <a:alpha val="40000"/>
                  </a:prstClr>
                </a:outerShdw>
              </a:effectLst>
            </a:endParaRPr>
          </a:p>
          <a:p>
            <a:pPr algn="l" rtl="0">
              <a:spcBef>
                <a:spcPts val="0"/>
              </a:spcBef>
              <a:spcAft>
                <a:spcPts val="0"/>
              </a:spcAft>
            </a:pPr>
            <a:r>
              <a:rPr lang="en-US" sz="5400">
                <a:solidFill>
                  <a:srgbClr val="000000"/>
                </a:solidFill>
                <a:effectLst>
                  <a:outerShdw blurRad="50800" dist="38100" dir="5400000" algn="t" rotWithShape="0">
                    <a:prstClr val="black">
                      <a:alpha val="40000"/>
                    </a:prstClr>
                  </a:outerShdw>
                </a:effectLst>
                <a:latin typeface="Calibri" panose="020F0502020204030204" pitchFamily="34" charset="0"/>
              </a:rPr>
              <a:t>language</a:t>
            </a:r>
            <a:endParaRPr lang="en-US" sz="5400" b="0">
              <a:effectLst>
                <a:outerShdw blurRad="50800" dist="38100" dir="5400000" algn="t" rotWithShape="0">
                  <a:prstClr val="black">
                    <a:alpha val="40000"/>
                  </a:prstClr>
                </a:outerShdw>
              </a:effectLst>
            </a:endParaRPr>
          </a:p>
        </p:txBody>
      </p:sp>
      <p:pic>
        <p:nvPicPr>
          <p:cNvPr id="1026" name="Picture 2" descr="https://lh7-rt.googleusercontent.com/slidesz/AGV_vUffO_MycmtLOKmDWVLyaNKPq7H6OT3YgaPmC1W81-Lz6cKkKTJL1CVCCfHn7ynkwDh3msH0rkmVuJ1FPX1u3okVmYWLtfphitplf1EHiseTPoYVrYMveQLQMRtVs3pJ6TKi_LAGblNuSzDDuTkiP3A=s2048?key=N_ogX3XYXw7_UV5vwMrNaw">
            <a:extLst>
              <a:ext uri="{FF2B5EF4-FFF2-40B4-BE49-F238E27FC236}">
                <a16:creationId xmlns:a16="http://schemas.microsoft.com/office/drawing/2014/main" id="{FA7206C7-63B5-483E-BE34-B73A60A4270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778" b="95111" l="5778" r="95556">
                        <a14:foregroundMark x1="24444" y1="15556" x2="64444" y2="92000"/>
                        <a14:foregroundMark x1="82222" y1="49778" x2="50222" y2="87556"/>
                        <a14:foregroundMark x1="65333" y1="69333" x2="56000" y2="89778"/>
                        <a14:foregroundMark x1="56000" y1="89778" x2="30667" y2="82667"/>
                        <a14:foregroundMark x1="16444" y1="23556" x2="9333" y2="44889"/>
                        <a14:foregroundMark x1="9333" y1="44889" x2="28000" y2="63111"/>
                        <a14:foregroundMark x1="28000" y1="63111" x2="24444" y2="38667"/>
                        <a14:foregroundMark x1="24444" y1="38667" x2="32889" y2="28444"/>
                        <a14:foregroundMark x1="40000" y1="13333" x2="62222" y2="16000"/>
                        <a14:foregroundMark x1="62222" y1="16000" x2="81333" y2="32000"/>
                        <a14:foregroundMark x1="81333" y1="32000" x2="92000" y2="52444"/>
                        <a14:foregroundMark x1="92000" y1="52444" x2="35556" y2="41778"/>
                        <a14:foregroundMark x1="35556" y1="41778" x2="34667" y2="16444"/>
                        <a14:foregroundMark x1="34667" y1="16444" x2="28889" y2="64889"/>
                        <a14:foregroundMark x1="28889" y1="64889" x2="35111" y2="77778"/>
                        <a14:foregroundMark x1="34667" y1="21778" x2="54222" y2="6667"/>
                        <a14:foregroundMark x1="54222" y1="6667" x2="75111" y2="14222"/>
                        <a14:foregroundMark x1="75111" y1="14222" x2="95556" y2="57778"/>
                        <a14:foregroundMark x1="95556" y1="57778" x2="81333" y2="79556"/>
                        <a14:foregroundMark x1="81333" y1="79556" x2="56444" y2="88444"/>
                        <a14:foregroundMark x1="56444" y1="88444" x2="33333" y2="88000"/>
                        <a14:foregroundMark x1="33333" y1="88000" x2="18667" y2="68889"/>
                        <a14:foregroundMark x1="18667" y1="68889" x2="13778" y2="42667"/>
                        <a14:foregroundMark x1="48444" y1="7556" x2="26222" y2="13778"/>
                        <a14:foregroundMark x1="26222" y1="13778" x2="10222" y2="37333"/>
                        <a14:foregroundMark x1="9333" y1="35111" x2="8000" y2="49778"/>
                        <a14:foregroundMark x1="5778" y1="51111" x2="7111" y2="58667"/>
                        <a14:foregroundMark x1="67111" y1="25333" x2="85778" y2="24000"/>
                        <a14:foregroundMark x1="34222" y1="6222" x2="60000" y2="13778"/>
                        <a14:foregroundMark x1="60000" y1="13778" x2="89333" y2="35556"/>
                        <a14:foregroundMark x1="59111" y1="36000" x2="49333" y2="82667"/>
                        <a14:foregroundMark x1="49333" y1="82667" x2="49333" y2="92889"/>
                        <a14:foregroundMark x1="40444" y1="91111" x2="54222" y2="92444"/>
                        <a14:foregroundMark x1="67556" y1="32889" x2="62667" y2="56000"/>
                        <a14:foregroundMark x1="62667" y1="56000" x2="35111" y2="56000"/>
                        <a14:foregroundMark x1="35111" y1="56000" x2="24444" y2="32000"/>
                        <a14:foregroundMark x1="24444" y1="32000" x2="36889" y2="12444"/>
                        <a14:foregroundMark x1="36889" y1="12444" x2="52444" y2="10667"/>
                        <a14:foregroundMark x1="57333" y1="34667" x2="63111" y2="59556"/>
                        <a14:foregroundMark x1="63111" y1="59556" x2="83556" y2="48889"/>
                        <a14:foregroundMark x1="83556" y1="48889" x2="84889" y2="25778"/>
                        <a14:foregroundMark x1="84889" y1="25778" x2="73778" y2="17333"/>
                        <a14:foregroundMark x1="55556" y1="91111" x2="55556" y2="95111"/>
                        <a14:foregroundMark x1="45333" y1="77778" x2="45333" y2="93778"/>
                      </a14:backgroundRemoval>
                    </a14:imgEffect>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367088" y="2068561"/>
            <a:ext cx="2143125" cy="2143125"/>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09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תמונה 7">
            <a:extLst>
              <a:ext uri="{FF2B5EF4-FFF2-40B4-BE49-F238E27FC236}">
                <a16:creationId xmlns:a16="http://schemas.microsoft.com/office/drawing/2014/main" id="{583A32B0-9F82-43FF-A8BC-4ED14DA1A65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BD6C985D-D651-4197-9708-67D46BE1B35F}"/>
              </a:ext>
            </a:extLst>
          </p:cNvPr>
          <p:cNvSpPr/>
          <p:nvPr/>
        </p:nvSpPr>
        <p:spPr>
          <a:xfrm>
            <a:off x="-6421079" y="661761"/>
            <a:ext cx="5923368" cy="2031325"/>
          </a:xfrm>
          <a:prstGeom prst="rect">
            <a:avLst/>
          </a:prstGeom>
        </p:spPr>
        <p:txBody>
          <a:bodyPr wrap="square">
            <a:spAutoFit/>
          </a:bodyPr>
          <a:lstStyle/>
          <a:p>
            <a:r>
              <a:rPr lang="he-IL" b="1">
                <a:solidFill>
                  <a:srgbClr val="000000"/>
                </a:solidFill>
                <a:latin typeface="Calibri" panose="020F0502020204030204" pitchFamily="34" charset="0"/>
              </a:rPr>
              <a:t>## 1. היסטוריה של השפת </a:t>
            </a:r>
            <a:r>
              <a:rPr lang="en-US" b="1">
                <a:solidFill>
                  <a:srgbClr val="000000"/>
                </a:solidFill>
                <a:latin typeface="Calibri" panose="020F0502020204030204" pitchFamily="34" charset="0"/>
              </a:rPr>
              <a:t>Koka</a:t>
            </a:r>
            <a:br>
              <a:rPr lang="en-US">
                <a:solidFill>
                  <a:srgbClr val="000000"/>
                </a:solidFill>
                <a:latin typeface="Calibri" panose="020F0502020204030204" pitchFamily="34" charset="0"/>
              </a:rPr>
            </a:br>
            <a:r>
              <a:rPr lang="he-IL">
                <a:solidFill>
                  <a:srgbClr val="000000"/>
                </a:solidFill>
                <a:latin typeface="Calibri" panose="020F0502020204030204" pitchFamily="34" charset="0"/>
              </a:rPr>
              <a:t>שפת </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 פותחה בשנת 2012 על ידי </a:t>
            </a:r>
            <a:r>
              <a:rPr lang="en-US">
                <a:solidFill>
                  <a:srgbClr val="000000"/>
                </a:solidFill>
                <a:latin typeface="Calibri" panose="020F0502020204030204" pitchFamily="34" charset="0"/>
              </a:rPr>
              <a:t>Daan Leijen </a:t>
            </a:r>
            <a:r>
              <a:rPr lang="he-IL">
                <a:solidFill>
                  <a:srgbClr val="000000"/>
                </a:solidFill>
                <a:latin typeface="Calibri" panose="020F0502020204030204" pitchFamily="34" charset="0"/>
              </a:rPr>
              <a:t> במיקרוסופט. השם "</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 משמעותו "אפקט" ביפנית, המרמז על המטרה העיקרית של השפה - טיפול יעיל באפקטים וסימון מדויק של אפקטים צדדיים בקוד.</a:t>
            </a:r>
            <a:endParaRPr lang="he-IL" b="0">
              <a:effectLst/>
            </a:endParaRPr>
          </a:p>
          <a:p>
            <a:br>
              <a:rPr lang="he-IL" b="0">
                <a:effectLst/>
              </a:rPr>
            </a:br>
            <a:endParaRPr lang="he-IL"/>
          </a:p>
        </p:txBody>
      </p:sp>
      <p:sp>
        <p:nvSpPr>
          <p:cNvPr id="3" name="מלבן 2">
            <a:extLst>
              <a:ext uri="{FF2B5EF4-FFF2-40B4-BE49-F238E27FC236}">
                <a16:creationId xmlns:a16="http://schemas.microsoft.com/office/drawing/2014/main" id="{2BB7EC05-E37C-454F-9DD8-51DDC97727A5}"/>
              </a:ext>
            </a:extLst>
          </p:cNvPr>
          <p:cNvSpPr/>
          <p:nvPr/>
        </p:nvSpPr>
        <p:spPr>
          <a:xfrm>
            <a:off x="4780191" y="432480"/>
            <a:ext cx="2631618" cy="1107996"/>
          </a:xfrm>
          <a:prstGeom prst="rect">
            <a:avLst/>
          </a:prstGeom>
        </p:spPr>
        <p:txBody>
          <a:bodyPr wrap="none">
            <a:spAutoFit/>
          </a:bodyPr>
          <a:lstStyle/>
          <a:p>
            <a:pPr algn="l" rtl="0">
              <a:spcBef>
                <a:spcPts val="0"/>
              </a:spcBef>
              <a:spcAft>
                <a:spcPts val="0"/>
              </a:spcAft>
            </a:pPr>
            <a:r>
              <a:rPr lang="en-US" sz="6600">
                <a:solidFill>
                  <a:srgbClr val="000000"/>
                </a:solidFill>
                <a:effectLst>
                  <a:outerShdw blurRad="50800" dist="38100" dir="5400000" algn="t" rotWithShape="0">
                    <a:prstClr val="black">
                      <a:alpha val="40000"/>
                    </a:prstClr>
                  </a:outerShdw>
                </a:effectLst>
                <a:latin typeface="Calibri" panose="020F0502020204030204" pitchFamily="34" charset="0"/>
              </a:rPr>
              <a:t>History</a:t>
            </a:r>
            <a:endParaRPr lang="en-US" sz="6600">
              <a:effectLst>
                <a:outerShdw blurRad="50800" dist="38100" dir="5400000" algn="t" rotWithShape="0">
                  <a:prstClr val="black">
                    <a:alpha val="40000"/>
                  </a:prstClr>
                </a:outerShdw>
              </a:effectLst>
            </a:endParaRPr>
          </a:p>
        </p:txBody>
      </p:sp>
      <p:pic>
        <p:nvPicPr>
          <p:cNvPr id="10242" name="Picture 2" descr="Microsoft 365 - Cloud247">
            <a:extLst>
              <a:ext uri="{FF2B5EF4-FFF2-40B4-BE49-F238E27FC236}">
                <a16:creationId xmlns:a16="http://schemas.microsoft.com/office/drawing/2014/main" id="{BD99D8F5-E4FC-44C9-809F-06B4AA5C0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670" y="4221828"/>
            <a:ext cx="2870521" cy="1614668"/>
          </a:xfrm>
          <a:prstGeom prst="rect">
            <a:avLst/>
          </a:prstGeom>
          <a:noFill/>
          <a:extLst>
            <a:ext uri="{909E8E84-426E-40DD-AFC4-6F175D3DCCD1}">
              <a14:hiddenFill xmlns:a14="http://schemas.microsoft.com/office/drawing/2010/main">
                <a:solidFill>
                  <a:srgbClr val="FFFFFF"/>
                </a:solidFill>
              </a14:hiddenFill>
            </a:ext>
          </a:extLst>
        </p:spPr>
      </p:pic>
      <p:sp>
        <p:nvSpPr>
          <p:cNvPr id="5" name="מלבן 4">
            <a:extLst>
              <a:ext uri="{FF2B5EF4-FFF2-40B4-BE49-F238E27FC236}">
                <a16:creationId xmlns:a16="http://schemas.microsoft.com/office/drawing/2014/main" id="{AAAF5410-3F7A-44D1-B106-841FA16051E7}"/>
              </a:ext>
            </a:extLst>
          </p:cNvPr>
          <p:cNvSpPr/>
          <p:nvPr/>
        </p:nvSpPr>
        <p:spPr>
          <a:xfrm>
            <a:off x="1315809" y="2009414"/>
            <a:ext cx="4780191" cy="3046988"/>
          </a:xfrm>
          <a:prstGeom prst="rect">
            <a:avLst/>
          </a:prstGeom>
        </p:spPr>
        <p:txBody>
          <a:bodyPr wrap="square">
            <a:spAutoFit/>
          </a:bodyPr>
          <a:lstStyle/>
          <a:p>
            <a:pPr algn="l" rtl="0"/>
            <a:r>
              <a:rPr lang="he-IL" sz="2400">
                <a:effectLst>
                  <a:outerShdw blurRad="38100" dist="38100" dir="2700000" algn="tl">
                    <a:srgbClr val="000000">
                      <a:alpha val="43137"/>
                    </a:srgbClr>
                  </a:outerShdw>
                </a:effectLst>
              </a:rPr>
              <a:t>• Established: April 13, 2012</a:t>
            </a:r>
          </a:p>
          <a:p>
            <a:pPr algn="l" rtl="0"/>
            <a:r>
              <a:rPr lang="he-IL" sz="2400">
                <a:effectLst>
                  <a:outerShdw blurRad="38100" dist="38100" dir="2700000" algn="tl">
                    <a:srgbClr val="000000">
                      <a:alpha val="43137"/>
                    </a:srgbClr>
                  </a:outerShdw>
                </a:effectLst>
              </a:rPr>
              <a:t>• Research programming language</a:t>
            </a:r>
          </a:p>
          <a:p>
            <a:pPr algn="l" rtl="0"/>
            <a:r>
              <a:rPr lang="he-IL" sz="2400">
                <a:effectLst>
                  <a:outerShdw blurRad="38100" dist="38100" dir="2700000" algn="tl">
                    <a:srgbClr val="000000">
                      <a:alpha val="43137"/>
                    </a:srgbClr>
                  </a:outerShdw>
                </a:effectLst>
              </a:rPr>
              <a:t>developed at Microsoft Research</a:t>
            </a:r>
          </a:p>
          <a:p>
            <a:pPr algn="l" rtl="0"/>
            <a:r>
              <a:rPr lang="he-IL" sz="2400">
                <a:effectLst>
                  <a:outerShdw blurRad="38100" dist="38100" dir="2700000" algn="tl">
                    <a:srgbClr val="000000">
                      <a:alpha val="43137"/>
                    </a:srgbClr>
                  </a:outerShdw>
                </a:effectLst>
              </a:rPr>
              <a:t>• Written in C++</a:t>
            </a:r>
          </a:p>
          <a:p>
            <a:pPr algn="l" rtl="0"/>
            <a:r>
              <a:rPr lang="he-IL" sz="2400">
                <a:effectLst>
                  <a:outerShdw blurRad="38100" dist="38100" dir="2700000" algn="tl">
                    <a:srgbClr val="000000">
                      <a:alpha val="43137"/>
                    </a:srgbClr>
                  </a:outerShdw>
                </a:effectLst>
              </a:rPr>
              <a:t>"• A strongly typed functional-style</a:t>
            </a:r>
          </a:p>
          <a:p>
            <a:pPr algn="l" rtl="0"/>
            <a:r>
              <a:rPr lang="he-IL" sz="2400">
                <a:effectLst>
                  <a:outerShdw blurRad="38100" dist="38100" dir="2700000" algn="tl">
                    <a:srgbClr val="000000">
                      <a:alpha val="43137"/>
                    </a:srgbClr>
                  </a:outerShdw>
                </a:effectLst>
              </a:rPr>
              <a:t>language with effect types and</a:t>
            </a:r>
          </a:p>
          <a:p>
            <a:pPr algn="l" rtl="0"/>
            <a:r>
              <a:rPr lang="he-IL" sz="2400">
                <a:effectLst>
                  <a:outerShdw blurRad="38100" dist="38100" dir="2700000" algn="tl">
                    <a:srgbClr val="000000">
                      <a:alpha val="43137"/>
                    </a:srgbClr>
                  </a:outerShdw>
                </a:effectLst>
              </a:rPr>
              <a:t>handlers."</a:t>
            </a:r>
          </a:p>
          <a:p>
            <a:pPr algn="l" rtl="0"/>
            <a:r>
              <a:rPr lang="he-IL">
                <a:effectLst>
                  <a:outerShdw blurRad="38100" dist="38100" dir="2700000" algn="tl">
                    <a:srgbClr val="000000">
                      <a:alpha val="43137"/>
                    </a:srgbClr>
                  </a:outerShdw>
                </a:effectLst>
              </a:rPr>
              <a:t>-Daan Leijen, Koka dev</a:t>
            </a:r>
            <a:endParaRPr lang="he-IL" sz="2400">
              <a:effectLst>
                <a:outerShdw blurRad="38100" dist="38100" dir="2700000" algn="tl">
                  <a:srgbClr val="000000">
                    <a:alpha val="43137"/>
                  </a:srgbClr>
                </a:outerShdw>
              </a:effectLst>
            </a:endParaRPr>
          </a:p>
        </p:txBody>
      </p:sp>
      <p:pic>
        <p:nvPicPr>
          <p:cNvPr id="23554" name="Picture 2" descr="Daan Leijen at Microsoft Research">
            <a:extLst>
              <a:ext uri="{FF2B5EF4-FFF2-40B4-BE49-F238E27FC236}">
                <a16:creationId xmlns:a16="http://schemas.microsoft.com/office/drawing/2014/main" id="{5A6FC708-2868-4E20-BA54-A1C366F560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7373" y="2209858"/>
            <a:ext cx="3247114" cy="189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028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38AA07F2-432B-4E83-8BB5-1EFE38D39FD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1D828413-3CF6-40F9-BF2B-F8B32FD6CD5E}"/>
              </a:ext>
            </a:extLst>
          </p:cNvPr>
          <p:cNvSpPr/>
          <p:nvPr/>
        </p:nvSpPr>
        <p:spPr>
          <a:xfrm>
            <a:off x="847334" y="1376561"/>
            <a:ext cx="4195059" cy="523220"/>
          </a:xfrm>
          <a:prstGeom prst="rect">
            <a:avLst/>
          </a:prstGeom>
        </p:spPr>
        <p:txBody>
          <a:bodyPr wrap="none">
            <a:spAutoFit/>
          </a:bodyPr>
          <a:lstStyle/>
          <a:p>
            <a:r>
              <a:rPr lang="en-US" sz="2800">
                <a:effectLst>
                  <a:outerShdw blurRad="38100" dist="38100" dir="2700000" algn="tl">
                    <a:srgbClr val="000000">
                      <a:alpha val="43137"/>
                    </a:srgbClr>
                  </a:outerShdw>
                </a:effectLst>
              </a:rPr>
              <a:t>Development Environment</a:t>
            </a:r>
            <a:endParaRPr lang="he-IL" sz="2800">
              <a:effectLst>
                <a:outerShdw blurRad="38100" dist="38100" dir="2700000" algn="tl">
                  <a:srgbClr val="000000">
                    <a:alpha val="43137"/>
                  </a:srgbClr>
                </a:outerShdw>
              </a:effectLst>
            </a:endParaRPr>
          </a:p>
        </p:txBody>
      </p:sp>
      <p:pic>
        <p:nvPicPr>
          <p:cNvPr id="5122" name="Picture 2" descr="‪Visual Studio Code full logo transparent PNG - StickPNG‬‏">
            <a:extLst>
              <a:ext uri="{FF2B5EF4-FFF2-40B4-BE49-F238E27FC236}">
                <a16:creationId xmlns:a16="http://schemas.microsoft.com/office/drawing/2014/main" id="{282C3CFE-1435-4BBD-8F52-1216D86847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334" y="2396652"/>
            <a:ext cx="3668527" cy="188099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209DC33-B55C-4F79-8DEA-78D9BF53527C}"/>
              </a:ext>
            </a:extLst>
          </p:cNvPr>
          <p:cNvSpPr>
            <a:spLocks noChangeArrowheads="1"/>
          </p:cNvSpPr>
          <p:nvPr/>
        </p:nvSpPr>
        <p:spPr bwMode="auto">
          <a:xfrm>
            <a:off x="12611070" y="2440979"/>
            <a:ext cx="422799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00000"/>
              </a:lnSpc>
              <a:spcBef>
                <a:spcPct val="0"/>
              </a:spcBef>
              <a:spcAft>
                <a:spcPct val="0"/>
              </a:spcAft>
              <a:buClrTx/>
              <a:buSzTx/>
              <a:buFontTx/>
              <a:buNone/>
              <a:tabLst/>
            </a:pPr>
            <a:r>
              <a:rPr kumimoji="0" lang="he-IL" altLang="he-IL" sz="1600" b="0" i="0" u="none" strike="noStrike" cap="none" normalizeH="0" baseline="0">
                <a:ln>
                  <a:noFill/>
                </a:ln>
                <a:solidFill>
                  <a:schemeClr val="tx1"/>
                </a:solidFill>
                <a:effectLst/>
                <a:latin typeface="Arial" panose="020B0604020202020204" pitchFamily="34" charset="0"/>
                <a:cs typeface="Arial" panose="020B0604020202020204" pitchFamily="34" charset="0"/>
              </a:rPr>
              <a:t>יש בשפה קומפיילר מתקדם.</a:t>
            </a:r>
          </a:p>
          <a:p>
            <a:pPr marL="0" marR="0" lvl="0" indent="0" defTabSz="914400" eaLnBrk="0" fontAlgn="base" latinLnBrk="0" hangingPunct="0">
              <a:lnSpc>
                <a:spcPct val="100000"/>
              </a:lnSpc>
              <a:spcBef>
                <a:spcPct val="0"/>
              </a:spcBef>
              <a:spcAft>
                <a:spcPct val="0"/>
              </a:spcAft>
              <a:buClrTx/>
              <a:buSzTx/>
              <a:buFontTx/>
              <a:buNone/>
              <a:tabLst/>
            </a:pPr>
            <a:r>
              <a:rPr kumimoji="0" lang="he-IL" altLang="he-IL" sz="1600" b="0" i="0" u="none" strike="noStrike" cap="none" normalizeH="0" baseline="0">
                <a:ln>
                  <a:noFill/>
                </a:ln>
                <a:solidFill>
                  <a:schemeClr val="tx1"/>
                </a:solidFill>
                <a:effectLst/>
                <a:latin typeface="Arial" panose="020B0604020202020204" pitchFamily="34" charset="0"/>
                <a:cs typeface="Arial" panose="020B0604020202020204" pitchFamily="34" charset="0"/>
              </a:rPr>
              <a:t>הקומפיילר מקמפל את הקוד ישירות לשפת C.</a:t>
            </a:r>
          </a:p>
          <a:p>
            <a:pPr marL="0" marR="0" lvl="0" indent="0" defTabSz="914400" eaLnBrk="0" fontAlgn="base" latinLnBrk="0" hangingPunct="0">
              <a:lnSpc>
                <a:spcPct val="100000"/>
              </a:lnSpc>
              <a:spcBef>
                <a:spcPct val="0"/>
              </a:spcBef>
              <a:spcAft>
                <a:spcPct val="0"/>
              </a:spcAft>
              <a:buClrTx/>
              <a:buSzTx/>
              <a:buFontTx/>
              <a:buNone/>
              <a:tabLst/>
            </a:pPr>
            <a:r>
              <a:rPr kumimoji="0" lang="he-IL" altLang="he-IL" sz="1600" b="0" i="0" u="none" strike="noStrike" cap="none" normalizeH="0" baseline="0">
                <a:ln>
                  <a:noFill/>
                </a:ln>
                <a:solidFill>
                  <a:schemeClr val="tx1"/>
                </a:solidFill>
                <a:effectLst/>
                <a:latin typeface="Arial" panose="020B0604020202020204" pitchFamily="34" charset="0"/>
                <a:cs typeface="Arial" panose="020B0604020202020204" pitchFamily="34" charset="0"/>
              </a:rPr>
              <a:t>הוא תומך במערכות הפעלה כמו Windows, MacOS, ו-Linux. </a:t>
            </a:r>
          </a:p>
          <a:p>
            <a:pPr marL="0" marR="0" lvl="0" indent="0" defTabSz="914400" eaLnBrk="0" fontAlgn="base" latinLnBrk="0" hangingPunct="0">
              <a:lnSpc>
                <a:spcPct val="100000"/>
              </a:lnSpc>
              <a:spcBef>
                <a:spcPct val="0"/>
              </a:spcBef>
              <a:spcAft>
                <a:spcPct val="0"/>
              </a:spcAft>
              <a:buClrTx/>
              <a:buSzTx/>
              <a:buFontTx/>
              <a:buNone/>
              <a:tabLst/>
            </a:pPr>
            <a:r>
              <a:rPr kumimoji="0" lang="he-IL" altLang="he-IL" sz="1600" b="0" i="0" u="none" strike="noStrike" cap="none" normalizeH="0" baseline="0">
                <a:ln>
                  <a:noFill/>
                </a:ln>
                <a:solidFill>
                  <a:schemeClr val="tx1"/>
                </a:solidFill>
                <a:effectLst/>
                <a:latin typeface="Arial" panose="020B0604020202020204" pitchFamily="34" charset="0"/>
                <a:cs typeface="Arial" panose="020B0604020202020204" pitchFamily="34" charset="0"/>
              </a:rPr>
              <a:t>הקומפיילר כולל אופטימיזציות שמאפשרות לו להיות יעיל במיוחד.</a:t>
            </a:r>
            <a:endParaRPr kumimoji="0" lang="he-IL" altLang="he-IL" sz="1600" b="0" i="0" u="none" strike="noStrike" cap="none" normalizeH="0" baseline="0">
              <a:ln>
                <a:noFill/>
              </a:ln>
              <a:solidFill>
                <a:schemeClr val="tx1"/>
              </a:solidFill>
              <a:effectLst/>
              <a:latin typeface="Arial" panose="020B0604020202020204" pitchFamily="34" charset="0"/>
            </a:endParaRPr>
          </a:p>
          <a:p>
            <a:pPr marL="0" marR="0" lvl="0" indent="0" defTabSz="914400" eaLnBrk="0" fontAlgn="base" latinLnBrk="0" hangingPunct="0">
              <a:lnSpc>
                <a:spcPct val="100000"/>
              </a:lnSpc>
              <a:spcBef>
                <a:spcPct val="0"/>
              </a:spcBef>
              <a:spcAft>
                <a:spcPct val="0"/>
              </a:spcAft>
              <a:buClrTx/>
              <a:buSzTx/>
              <a:buFontTx/>
              <a:buNone/>
              <a:tabLst/>
            </a:pPr>
            <a:r>
              <a:rPr kumimoji="0" lang="he-IL" altLang="he-IL" sz="1600" b="0" i="0" u="none" strike="noStrike" cap="none" normalizeH="0" baseline="0">
                <a:ln>
                  <a:noFill/>
                </a:ln>
                <a:solidFill>
                  <a:schemeClr val="tx1"/>
                </a:solidFill>
                <a:effectLst/>
                <a:latin typeface="Arial" panose="020B0604020202020204" pitchFamily="34" charset="0"/>
                <a:cs typeface="Arial" panose="020B0604020202020204" pitchFamily="34" charset="0"/>
              </a:rPr>
              <a:t>השפה גם תומכת בעבודה נוחה בסביבת VS Code עם תוסף רשמי שמתקין את הקומפיילר אוטומטית. </a:t>
            </a:r>
          </a:p>
        </p:txBody>
      </p:sp>
      <p:pic>
        <p:nvPicPr>
          <p:cNvPr id="8" name="תמונה 7">
            <a:extLst>
              <a:ext uri="{FF2B5EF4-FFF2-40B4-BE49-F238E27FC236}">
                <a16:creationId xmlns:a16="http://schemas.microsoft.com/office/drawing/2014/main" id="{A30B7049-DBD8-43B4-B0E0-2E1A04DE20F7}"/>
              </a:ext>
            </a:extLst>
          </p:cNvPr>
          <p:cNvPicPr>
            <a:picLocks noChangeAspect="1"/>
          </p:cNvPicPr>
          <p:nvPr/>
        </p:nvPicPr>
        <p:blipFill>
          <a:blip r:embed="rId5"/>
          <a:stretch>
            <a:fillRect/>
          </a:stretch>
        </p:blipFill>
        <p:spPr>
          <a:xfrm>
            <a:off x="6407350" y="4065085"/>
            <a:ext cx="4509903" cy="1836669"/>
          </a:xfrm>
          <a:prstGeom prst="rect">
            <a:avLst/>
          </a:prstGeom>
        </p:spPr>
      </p:pic>
      <p:sp>
        <p:nvSpPr>
          <p:cNvPr id="13" name="מלבן 12">
            <a:extLst>
              <a:ext uri="{FF2B5EF4-FFF2-40B4-BE49-F238E27FC236}">
                <a16:creationId xmlns:a16="http://schemas.microsoft.com/office/drawing/2014/main" id="{1BC3B975-1B87-4861-BF51-5FACF2522396}"/>
              </a:ext>
            </a:extLst>
          </p:cNvPr>
          <p:cNvSpPr/>
          <p:nvPr/>
        </p:nvSpPr>
        <p:spPr>
          <a:xfrm>
            <a:off x="7597379" y="1345942"/>
            <a:ext cx="1507144" cy="523220"/>
          </a:xfrm>
          <a:prstGeom prst="rect">
            <a:avLst/>
          </a:prstGeom>
        </p:spPr>
        <p:txBody>
          <a:bodyPr wrap="none">
            <a:spAutoFit/>
          </a:bodyPr>
          <a:lstStyle/>
          <a:p>
            <a:r>
              <a:rPr lang="en-US" sz="2800">
                <a:effectLst>
                  <a:outerShdw blurRad="38100" dist="38100" dir="2700000" algn="tl">
                    <a:srgbClr val="000000">
                      <a:alpha val="43137"/>
                    </a:srgbClr>
                  </a:outerShdw>
                </a:effectLst>
              </a:rPr>
              <a:t>Compiler</a:t>
            </a:r>
            <a:endParaRPr lang="he-IL" sz="2800">
              <a:effectLst>
                <a:outerShdw blurRad="38100" dist="38100" dir="2700000" algn="tl">
                  <a:srgbClr val="000000">
                    <a:alpha val="43137"/>
                  </a:srgbClr>
                </a:outerShdw>
              </a:effectLst>
            </a:endParaRPr>
          </a:p>
        </p:txBody>
      </p:sp>
      <p:sp>
        <p:nvSpPr>
          <p:cNvPr id="12" name="מלבן 11">
            <a:extLst>
              <a:ext uri="{FF2B5EF4-FFF2-40B4-BE49-F238E27FC236}">
                <a16:creationId xmlns:a16="http://schemas.microsoft.com/office/drawing/2014/main" id="{2ECD9D54-0880-439E-8C0F-9BC81011DE63}"/>
              </a:ext>
            </a:extLst>
          </p:cNvPr>
          <p:cNvSpPr/>
          <p:nvPr/>
        </p:nvSpPr>
        <p:spPr>
          <a:xfrm>
            <a:off x="5614302" y="2195923"/>
            <a:ext cx="6096000" cy="1754326"/>
          </a:xfrm>
          <a:prstGeom prst="rect">
            <a:avLst/>
          </a:prstGeom>
        </p:spPr>
        <p:txBody>
          <a:bodyPr>
            <a:spAutoFit/>
          </a:bodyPr>
          <a:lstStyle/>
          <a:p>
            <a:pPr lvl="0" algn="l" rtl="0" eaLnBrk="0" fontAlgn="base" hangingPunct="0">
              <a:spcBef>
                <a:spcPct val="0"/>
              </a:spcBef>
              <a:spcAft>
                <a:spcPct val="0"/>
              </a:spcAft>
              <a:buFontTx/>
              <a:buChar char="•"/>
            </a:pPr>
            <a:r>
              <a:rPr lang="he-IL" altLang="he-IL">
                <a:effectLst>
                  <a:outerShdw blurRad="38100" dist="38100" dir="2700000" algn="tl">
                    <a:srgbClr val="000000">
                      <a:alpha val="43137"/>
                    </a:srgbClr>
                  </a:outerShdw>
                </a:effectLst>
                <a:latin typeface="Arial" panose="020B0604020202020204" pitchFamily="34" charset="0"/>
              </a:rPr>
              <a:t>The compiler compiles the code directly to C language.</a:t>
            </a:r>
          </a:p>
          <a:p>
            <a:pPr lvl="0" algn="l" rtl="0" eaLnBrk="0" fontAlgn="base" hangingPunct="0">
              <a:spcBef>
                <a:spcPct val="0"/>
              </a:spcBef>
              <a:spcAft>
                <a:spcPct val="0"/>
              </a:spcAft>
              <a:buFontTx/>
              <a:buChar char="•"/>
            </a:pPr>
            <a:r>
              <a:rPr lang="he-IL" altLang="he-IL">
                <a:effectLst>
                  <a:outerShdw blurRad="38100" dist="38100" dir="2700000" algn="tl">
                    <a:srgbClr val="000000">
                      <a:alpha val="43137"/>
                    </a:srgbClr>
                  </a:outerShdw>
                </a:effectLst>
                <a:latin typeface="Arial" panose="020B0604020202020204" pitchFamily="34" charset="0"/>
              </a:rPr>
              <a:t>It supports operating systems like Windows, MacOS, and Linux.</a:t>
            </a:r>
          </a:p>
          <a:p>
            <a:pPr lvl="0" algn="l" rtl="0" eaLnBrk="0" fontAlgn="base" hangingPunct="0">
              <a:spcBef>
                <a:spcPct val="0"/>
              </a:spcBef>
              <a:spcAft>
                <a:spcPct val="0"/>
              </a:spcAft>
              <a:buFontTx/>
              <a:buChar char="•"/>
            </a:pPr>
            <a:r>
              <a:rPr lang="he-IL" altLang="he-IL">
                <a:effectLst>
                  <a:outerShdw blurRad="38100" dist="38100" dir="2700000" algn="tl">
                    <a:srgbClr val="000000">
                      <a:alpha val="43137"/>
                    </a:srgbClr>
                  </a:outerShdw>
                </a:effectLst>
                <a:latin typeface="Arial" panose="020B0604020202020204" pitchFamily="34" charset="0"/>
              </a:rPr>
              <a:t>The compiler includes optimizations that make it especially efficient.</a:t>
            </a:r>
          </a:p>
          <a:p>
            <a:pPr lvl="0" algn="l" rtl="0" eaLnBrk="0" fontAlgn="base" hangingPunct="0">
              <a:spcBef>
                <a:spcPct val="0"/>
              </a:spcBef>
              <a:spcAft>
                <a:spcPct val="0"/>
              </a:spcAft>
            </a:pPr>
            <a:endParaRPr lang="he-IL" altLang="he-IL">
              <a:effectLst>
                <a:outerShdw blurRad="38100" dist="38100" dir="2700000" algn="tl">
                  <a:srgbClr val="000000">
                    <a:alpha val="43137"/>
                  </a:srgbClr>
                </a:outerShdw>
              </a:effectLst>
              <a:latin typeface="Arial" panose="020B0604020202020204" pitchFamily="34" charset="0"/>
            </a:endParaRPr>
          </a:p>
        </p:txBody>
      </p:sp>
    </p:spTree>
    <p:extLst>
      <p:ext uri="{BB962C8B-B14F-4D97-AF65-F5344CB8AC3E}">
        <p14:creationId xmlns:p14="http://schemas.microsoft.com/office/powerpoint/2010/main" val="2456323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תמונה 7">
            <a:extLst>
              <a:ext uri="{FF2B5EF4-FFF2-40B4-BE49-F238E27FC236}">
                <a16:creationId xmlns:a16="http://schemas.microsoft.com/office/drawing/2014/main" id="{46519C7C-DFC8-406E-A161-4F650A9D45E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25171DBA-44F4-4069-AF8B-91964602363F}"/>
              </a:ext>
            </a:extLst>
          </p:cNvPr>
          <p:cNvSpPr/>
          <p:nvPr/>
        </p:nvSpPr>
        <p:spPr>
          <a:xfrm>
            <a:off x="5310076" y="257175"/>
            <a:ext cx="1224181" cy="646331"/>
          </a:xfrm>
          <a:prstGeom prst="rect">
            <a:avLst/>
          </a:prstGeom>
        </p:spPr>
        <p:txBody>
          <a:bodyPr wrap="none">
            <a:spAutoFit/>
          </a:bodyPr>
          <a:lstStyle/>
          <a:p>
            <a:pPr algn="l" rtl="0">
              <a:spcBef>
                <a:spcPts val="0"/>
              </a:spcBef>
              <a:spcAft>
                <a:spcPts val="0"/>
              </a:spcAft>
            </a:pPr>
            <a:r>
              <a:rPr lang="en-US" sz="3600">
                <a:solidFill>
                  <a:srgbClr val="000000"/>
                </a:solidFill>
                <a:effectLst>
                  <a:outerShdw blurRad="50800" dist="38100" dir="5400000" algn="t" rotWithShape="0">
                    <a:prstClr val="black">
                      <a:alpha val="40000"/>
                    </a:prstClr>
                  </a:outerShdw>
                </a:effectLst>
                <a:latin typeface="Calibri" panose="020F0502020204030204" pitchFamily="34" charset="0"/>
              </a:rPr>
              <a:t>Effets</a:t>
            </a:r>
            <a:endParaRPr lang="en-US" sz="3600">
              <a:effectLst>
                <a:outerShdw blurRad="50800" dist="38100" dir="5400000" algn="t" rotWithShape="0">
                  <a:prstClr val="black">
                    <a:alpha val="40000"/>
                  </a:prstClr>
                </a:outerShdw>
              </a:effectLst>
            </a:endParaRPr>
          </a:p>
        </p:txBody>
      </p:sp>
      <p:sp>
        <p:nvSpPr>
          <p:cNvPr id="6" name="מלבן 5">
            <a:extLst>
              <a:ext uri="{FF2B5EF4-FFF2-40B4-BE49-F238E27FC236}">
                <a16:creationId xmlns:a16="http://schemas.microsoft.com/office/drawing/2014/main" id="{6AD7AFEB-E9DE-4B85-BBA5-D7C38F62D0D9}"/>
              </a:ext>
            </a:extLst>
          </p:cNvPr>
          <p:cNvSpPr/>
          <p:nvPr/>
        </p:nvSpPr>
        <p:spPr>
          <a:xfrm>
            <a:off x="-6593710" y="159845"/>
            <a:ext cx="6096000" cy="7571303"/>
          </a:xfrm>
          <a:prstGeom prst="rect">
            <a:avLst/>
          </a:prstGeom>
        </p:spPr>
        <p:txBody>
          <a:bodyPr>
            <a:spAutoFit/>
          </a:bodyPr>
          <a:lstStyle/>
          <a:p>
            <a:r>
              <a:rPr lang="en-US" b="1"/>
              <a:t>Koka </a:t>
            </a:r>
            <a:r>
              <a:rPr lang="he-IL" b="1"/>
              <a:t> עוקבת אחרי תופעות הלוואי של כל פונקציה דרך טיפוס הפונקציה שלה, כאשר יש הבחנה בין חישובים טהורים לחישובים עם תופעות לוואי.</a:t>
            </a:r>
            <a:br>
              <a:rPr lang="he-IL" b="1"/>
            </a:br>
            <a:r>
              <a:rPr lang="he-IL" b="1"/>
              <a:t>הטיפוס המדויק של תופעות הלוואי מעניק ל־</a:t>
            </a:r>
            <a:r>
              <a:rPr lang="en-US" b="1"/>
              <a:t>Koka </a:t>
            </a:r>
            <a:r>
              <a:rPr lang="he-IL" b="1"/>
              <a:t> משמעות חזקה ויציבה, הנתמכת בתיאוריה מתמטית מוכרת (תורת הקטגוריות</a:t>
            </a:r>
          </a:p>
          <a:p>
            <a:r>
              <a:rPr lang="he-IL"/>
              <a:t>ב־</a:t>
            </a:r>
            <a:r>
              <a:rPr lang="en-US"/>
              <a:t> Koka, </a:t>
            </a:r>
            <a:r>
              <a:rPr lang="he-IL"/>
              <a:t>לכל פונקציה יש </a:t>
            </a:r>
            <a:r>
              <a:rPr lang="he-IL" b="1"/>
              <a:t>טיפוס</a:t>
            </a:r>
            <a:r>
              <a:rPr lang="he-IL"/>
              <a:t> (</a:t>
            </a:r>
            <a:r>
              <a:rPr lang="en-US"/>
              <a:t> signature) </a:t>
            </a:r>
            <a:r>
              <a:rPr lang="he-IL"/>
              <a:t>שמתאר שלושה חלקים:</a:t>
            </a:r>
          </a:p>
          <a:p>
            <a:r>
              <a:rPr lang="he-IL" b="1"/>
              <a:t>סוגי הארגומנטים (הקלטים)</a:t>
            </a:r>
            <a:endParaRPr lang="he-IL"/>
          </a:p>
          <a:p>
            <a:r>
              <a:rPr lang="he-IL" b="1"/>
              <a:t>סוג האפקטים שהפונקציה עלולה לגרום להם</a:t>
            </a:r>
            <a:r>
              <a:rPr lang="he-IL"/>
              <a:t> (כמו הדפסה למסך, שגיאה, או לולאה אינסופית)</a:t>
            </a:r>
          </a:p>
          <a:p>
            <a:r>
              <a:rPr lang="he-IL" b="1"/>
              <a:t>סוג התוצאה (הפלט)</a:t>
            </a:r>
            <a:endParaRPr lang="he-IL"/>
          </a:p>
          <a:p>
            <a:r>
              <a:rPr lang="en-US"/>
              <a:t> Koka </a:t>
            </a:r>
            <a:r>
              <a:rPr lang="he-IL" b="1"/>
              <a:t>מזהה ומחשבת אוטומטית</a:t>
            </a:r>
            <a:r>
              <a:rPr lang="he-IL"/>
              <a:t> את האפקטים של פונקציה, ומשקפת אותם במפורש בטיפוס שלה.</a:t>
            </a:r>
          </a:p>
          <a:p>
            <a:r>
              <a:rPr lang="he-IL"/>
              <a:t>לכל פונקציה יש טיפוס שמכיל מידע </a:t>
            </a:r>
            <a:r>
              <a:rPr lang="he-IL" i="1"/>
              <a:t>מדויק</a:t>
            </a:r>
            <a:r>
              <a:rPr lang="he-IL"/>
              <a:t> על התנהגותה:</a:t>
            </a:r>
          </a:p>
          <a:p>
            <a:r>
              <a:rPr lang="he-IL"/>
              <a:t>האם היא עלולה לזרוק שגיאה?</a:t>
            </a:r>
          </a:p>
          <a:p>
            <a:r>
              <a:rPr lang="he-IL"/>
              <a:t>האם היא מדפיסה למסך?</a:t>
            </a:r>
          </a:p>
          <a:p>
            <a:r>
              <a:rPr lang="he-IL"/>
              <a:t>האם היא לא תסיים?</a:t>
            </a:r>
          </a:p>
          <a:p>
            <a:r>
              <a:rPr lang="he-IL"/>
              <a:t>העובדה הזו נותנת ל־</a:t>
            </a:r>
            <a:r>
              <a:rPr lang="en-US"/>
              <a:t>Koka:</a:t>
            </a:r>
          </a:p>
          <a:p>
            <a:r>
              <a:rPr lang="he-IL" b="1"/>
              <a:t>בטיחות גבוהה מאוד</a:t>
            </a:r>
            <a:r>
              <a:rPr lang="he-IL"/>
              <a:t> (אפשר לדעת מראש מה הפונקציה עלולה לעשות).</a:t>
            </a:r>
          </a:p>
          <a:p>
            <a:r>
              <a:rPr lang="he-IL" b="1"/>
              <a:t>יכולת הסקה והבנה טובה</a:t>
            </a:r>
            <a:r>
              <a:rPr lang="he-IL"/>
              <a:t> גם לבני אדם וגם לקומפיילרים.</a:t>
            </a:r>
          </a:p>
          <a:p>
            <a:r>
              <a:rPr lang="he-IL"/>
              <a:t>בסיס תאורטי יציב (מובסס על </a:t>
            </a:r>
            <a:r>
              <a:rPr lang="he-IL" b="1"/>
              <a:t>תורת הקטגוריות</a:t>
            </a:r>
            <a:r>
              <a:rPr lang="he-IL"/>
              <a:t> – תיאוריה מתמטית שמסבירה מבנים כאלה).</a:t>
            </a:r>
          </a:p>
          <a:p>
            <a:r>
              <a:rPr lang="he-IL"/>
              <a:t>הדוגמא של הלא דטרמינסטי- תלוי במשהו חיצוני כמו רנדום</a:t>
            </a:r>
          </a:p>
          <a:p>
            <a:endParaRPr lang="he-IL"/>
          </a:p>
          <a:p>
            <a:endParaRPr lang="he-IL"/>
          </a:p>
        </p:txBody>
      </p:sp>
      <p:sp>
        <p:nvSpPr>
          <p:cNvPr id="7" name="מלבן 6">
            <a:extLst>
              <a:ext uri="{FF2B5EF4-FFF2-40B4-BE49-F238E27FC236}">
                <a16:creationId xmlns:a16="http://schemas.microsoft.com/office/drawing/2014/main" id="{EC5DD054-4635-41F8-9530-C8155F68F38D}"/>
              </a:ext>
            </a:extLst>
          </p:cNvPr>
          <p:cNvSpPr/>
          <p:nvPr/>
        </p:nvSpPr>
        <p:spPr>
          <a:xfrm>
            <a:off x="340704" y="1739626"/>
            <a:ext cx="11176521" cy="2677656"/>
          </a:xfrm>
          <a:prstGeom prst="rect">
            <a:avLst/>
          </a:prstGeom>
        </p:spPr>
        <p:txBody>
          <a:bodyPr wrap="none">
            <a:spAutoFit/>
          </a:bodyPr>
          <a:lstStyle/>
          <a:p>
            <a:pPr rtl="0"/>
            <a:r>
              <a:rPr lang="he-IL" sz="2800">
                <a:effectLst>
                  <a:outerShdw blurRad="38100" dist="38100" dir="2700000" algn="tl">
                    <a:srgbClr val="000000">
                      <a:alpha val="43137"/>
                    </a:srgbClr>
                  </a:outerShdw>
                </a:effectLst>
              </a:rPr>
              <a:t>fun divide : (int,int) -&gt; exn int</a:t>
            </a:r>
            <a:r>
              <a:rPr lang="en-US" sz="2800">
                <a:effectLst>
                  <a:outerShdw blurRad="38100" dist="38100" dir="2700000" algn="tl">
                    <a:srgbClr val="000000">
                      <a:alpha val="43137"/>
                    </a:srgbClr>
                  </a:outerShdw>
                </a:effectLst>
              </a:rPr>
              <a:t>  		</a:t>
            </a:r>
            <a:r>
              <a:rPr lang="en-US" sz="2800">
                <a:solidFill>
                  <a:srgbClr val="009A46"/>
                </a:solidFill>
                <a:effectLst>
                  <a:outerShdw blurRad="38100" dist="38100" dir="2700000" algn="tl">
                    <a:srgbClr val="000000">
                      <a:alpha val="43137"/>
                    </a:srgbClr>
                  </a:outerShdw>
                </a:effectLst>
              </a:rPr>
              <a:t>// may be a exception if we divide by zero</a:t>
            </a:r>
          </a:p>
          <a:p>
            <a:pPr rtl="0"/>
            <a:endParaRPr lang="en-US" sz="2800">
              <a:solidFill>
                <a:srgbClr val="009A46"/>
              </a:solidFill>
              <a:effectLst>
                <a:outerShdw blurRad="38100" dist="38100" dir="2700000" algn="tl">
                  <a:srgbClr val="000000">
                    <a:alpha val="43137"/>
                  </a:srgbClr>
                </a:outerShdw>
              </a:effectLst>
            </a:endParaRPr>
          </a:p>
          <a:p>
            <a:pPr algn="l" rtl="0"/>
            <a:r>
              <a:rPr lang="he-IL" sz="2800">
                <a:effectLst>
                  <a:outerShdw blurRad="38100" dist="38100" dir="2700000" algn="tl">
                    <a:srgbClr val="000000">
                      <a:alpha val="43137"/>
                    </a:srgbClr>
                  </a:outerShdw>
                </a:effectLst>
              </a:rPr>
              <a:t>fun print  : (string) -&gt; console</a:t>
            </a:r>
            <a:r>
              <a:rPr lang="en-US" sz="2800">
                <a:effectLst>
                  <a:outerShdw blurRad="38100" dist="38100" dir="2700000" algn="tl">
                    <a:srgbClr val="000000">
                      <a:alpha val="43137"/>
                    </a:srgbClr>
                  </a:outerShdw>
                </a:effectLst>
              </a:rPr>
              <a:t>()	   </a:t>
            </a:r>
            <a:r>
              <a:rPr lang="en-US" sz="2800">
                <a:solidFill>
                  <a:srgbClr val="009A46"/>
                </a:solidFill>
                <a:effectLst>
                  <a:outerShdw blurRad="38100" dist="38100" dir="2700000" algn="tl">
                    <a:srgbClr val="000000">
                      <a:alpha val="43137"/>
                    </a:srgbClr>
                  </a:outerShdw>
                </a:effectLst>
              </a:rPr>
              <a:t> // may write to the console</a:t>
            </a:r>
          </a:p>
          <a:p>
            <a:pPr algn="l" rtl="0"/>
            <a:endParaRPr lang="en-US" sz="2800">
              <a:solidFill>
                <a:srgbClr val="00B050"/>
              </a:solidFill>
              <a:effectLst>
                <a:outerShdw blurRad="38100" dist="38100" dir="2700000" algn="tl">
                  <a:srgbClr val="000000">
                    <a:alpha val="43137"/>
                  </a:srgbClr>
                </a:outerShdw>
              </a:effectLst>
            </a:endParaRPr>
          </a:p>
          <a:p>
            <a:pPr algn="l" rtl="0"/>
            <a:r>
              <a:rPr lang="en-US" sz="2800">
                <a:solidFill>
                  <a:schemeClr val="tx1">
                    <a:lumMod val="95000"/>
                    <a:lumOff val="5000"/>
                  </a:schemeClr>
                </a:solidFill>
                <a:effectLst>
                  <a:outerShdw blurRad="38100" dist="38100" dir="2700000" algn="tl">
                    <a:srgbClr val="000000">
                      <a:alpha val="43137"/>
                    </a:srgbClr>
                  </a:outerShdw>
                </a:effectLst>
              </a:rPr>
              <a:t>fun rand   : () -&gt; ndet int 		    </a:t>
            </a:r>
            <a:r>
              <a:rPr lang="en-US" sz="2800">
                <a:solidFill>
                  <a:srgbClr val="009A46"/>
                </a:solidFill>
                <a:effectLst>
                  <a:outerShdw blurRad="38100" dist="38100" dir="2700000" algn="tl">
                    <a:srgbClr val="000000">
                      <a:alpha val="43137"/>
                    </a:srgbClr>
                  </a:outerShdw>
                </a:effectLst>
              </a:rPr>
              <a:t>// may be Non-deterministic result</a:t>
            </a:r>
          </a:p>
          <a:p>
            <a:pPr algn="l" rtl="0"/>
            <a:endParaRPr lang="he-IL" sz="280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4124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45F26878-D7A0-4829-BC09-01B233076FA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25171DBA-44F4-4069-AF8B-91964602363F}"/>
              </a:ext>
            </a:extLst>
          </p:cNvPr>
          <p:cNvSpPr/>
          <p:nvPr/>
        </p:nvSpPr>
        <p:spPr>
          <a:xfrm>
            <a:off x="4298873" y="135663"/>
            <a:ext cx="3594254" cy="646331"/>
          </a:xfrm>
          <a:prstGeom prst="rect">
            <a:avLst/>
          </a:prstGeom>
        </p:spPr>
        <p:txBody>
          <a:bodyPr wrap="none">
            <a:spAutoFit/>
          </a:bodyPr>
          <a:lstStyle/>
          <a:p>
            <a:pPr algn="l" rtl="0">
              <a:spcBef>
                <a:spcPts val="0"/>
              </a:spcBef>
              <a:spcAft>
                <a:spcPts val="0"/>
              </a:spcAft>
            </a:pPr>
            <a:r>
              <a:rPr lang="en-US" sz="3600">
                <a:effectLst>
                  <a:outerShdw blurRad="50800" dist="38100" dir="5400000" algn="t" rotWithShape="0">
                    <a:prstClr val="black">
                      <a:alpha val="40000"/>
                    </a:prstClr>
                  </a:outerShdw>
                </a:effectLst>
              </a:rPr>
              <a:t>Something</a:t>
            </a:r>
            <a:r>
              <a:rPr lang="he-IL" sz="3600">
                <a:effectLst>
                  <a:outerShdw blurRad="50800" dist="38100" dir="5400000" algn="t" rotWithShape="0">
                    <a:prstClr val="black">
                      <a:alpha val="40000"/>
                    </a:prstClr>
                  </a:outerShdw>
                </a:effectLst>
              </a:rPr>
              <a:t> </a:t>
            </a:r>
            <a:r>
              <a:rPr lang="en-US" sz="3600">
                <a:effectLst>
                  <a:outerShdw blurRad="50800" dist="38100" dir="5400000" algn="t" rotWithShape="0">
                    <a:prstClr val="black">
                      <a:alpha val="40000"/>
                    </a:prstClr>
                  </a:outerShdw>
                </a:effectLst>
              </a:rPr>
              <a:t>nice </a:t>
            </a:r>
            <a:r>
              <a:rPr lang="en-US" sz="3600">
                <a:effectLst>
                  <a:outerShdw blurRad="50800" dist="38100" dir="5400000" algn="t" rotWithShape="0">
                    <a:prstClr val="black">
                      <a:alpha val="40000"/>
                    </a:prstClr>
                  </a:outerShdw>
                </a:effectLst>
                <a:sym typeface="Wingdings" panose="05000000000000000000" pitchFamily="2" charset="2"/>
              </a:rPr>
              <a:t></a:t>
            </a:r>
            <a:endParaRPr lang="en-US" sz="3600">
              <a:effectLst>
                <a:outerShdw blurRad="50800" dist="38100" dir="5400000" algn="t" rotWithShape="0">
                  <a:prstClr val="black">
                    <a:alpha val="40000"/>
                  </a:prstClr>
                </a:outerShdw>
              </a:effectLst>
            </a:endParaRPr>
          </a:p>
        </p:txBody>
      </p:sp>
      <p:sp>
        <p:nvSpPr>
          <p:cNvPr id="6" name="מלבן 5">
            <a:extLst>
              <a:ext uri="{FF2B5EF4-FFF2-40B4-BE49-F238E27FC236}">
                <a16:creationId xmlns:a16="http://schemas.microsoft.com/office/drawing/2014/main" id="{6AD7AFEB-E9DE-4B85-BBA5-D7C38F62D0D9}"/>
              </a:ext>
            </a:extLst>
          </p:cNvPr>
          <p:cNvSpPr/>
          <p:nvPr/>
        </p:nvSpPr>
        <p:spPr>
          <a:xfrm>
            <a:off x="-6593710" y="159845"/>
            <a:ext cx="6096000" cy="646331"/>
          </a:xfrm>
          <a:prstGeom prst="rect">
            <a:avLst/>
          </a:prstGeom>
        </p:spPr>
        <p:txBody>
          <a:bodyPr>
            <a:spAutoFit/>
          </a:bodyPr>
          <a:lstStyle/>
          <a:p>
            <a:endParaRPr lang="he-IL"/>
          </a:p>
          <a:p>
            <a:endParaRPr lang="he-IL"/>
          </a:p>
        </p:txBody>
      </p:sp>
      <p:sp>
        <p:nvSpPr>
          <p:cNvPr id="7" name="מלבן 6">
            <a:extLst>
              <a:ext uri="{FF2B5EF4-FFF2-40B4-BE49-F238E27FC236}">
                <a16:creationId xmlns:a16="http://schemas.microsoft.com/office/drawing/2014/main" id="{EC5DD054-4635-41F8-9530-C8155F68F38D}"/>
              </a:ext>
            </a:extLst>
          </p:cNvPr>
          <p:cNvSpPr/>
          <p:nvPr/>
        </p:nvSpPr>
        <p:spPr>
          <a:xfrm>
            <a:off x="6100038" y="806176"/>
            <a:ext cx="3291839" cy="3108543"/>
          </a:xfrm>
          <a:prstGeom prst="rect">
            <a:avLst/>
          </a:prstGeom>
        </p:spPr>
        <p:txBody>
          <a:bodyPr wrap="square">
            <a:spAutoFit/>
          </a:bodyPr>
          <a:lstStyle/>
          <a:p>
            <a:pPr algn="l"/>
            <a:endParaRPr lang="he-IL" sz="2800">
              <a:solidFill>
                <a:schemeClr val="tx1">
                  <a:lumMod val="95000"/>
                  <a:lumOff val="5000"/>
                </a:schemeClr>
              </a:solidFill>
              <a:effectLst>
                <a:outerShdw blurRad="38100" dist="38100" dir="2700000" algn="tl">
                  <a:srgbClr val="000000">
                    <a:alpha val="43137"/>
                  </a:srgbClr>
                </a:outerShdw>
              </a:effectLst>
            </a:endParaRPr>
          </a:p>
          <a:p>
            <a:pPr algn="l"/>
            <a:r>
              <a:rPr lang="fr-FR" sz="2800">
                <a:solidFill>
                  <a:schemeClr val="tx1">
                    <a:lumMod val="95000"/>
                    <a:lumOff val="5000"/>
                  </a:schemeClr>
                </a:solidFill>
                <a:effectLst>
                  <a:outerShdw blurRad="38100" dist="38100" dir="2700000" algn="tl">
                    <a:srgbClr val="000000">
                      <a:alpha val="43137"/>
                    </a:srgbClr>
                  </a:outerShdw>
                </a:effectLst>
              </a:rPr>
              <a:t>fun double(x)</a:t>
            </a:r>
          </a:p>
          <a:p>
            <a:pPr algn="l"/>
            <a:r>
              <a:rPr lang="fr-FR" sz="2800">
                <a:solidFill>
                  <a:schemeClr val="tx1">
                    <a:lumMod val="95000"/>
                    <a:lumOff val="5000"/>
                  </a:schemeClr>
                </a:solidFill>
                <a:effectLst>
                  <a:outerShdw blurRad="38100" dist="38100" dir="2700000" algn="tl">
                    <a:srgbClr val="000000">
                      <a:alpha val="43137"/>
                    </a:srgbClr>
                  </a:outerShdw>
                </a:effectLst>
              </a:rPr>
              <a:t> </a:t>
            </a:r>
            <a:r>
              <a:rPr lang="he-IL" sz="2800">
                <a:solidFill>
                  <a:schemeClr val="tx1">
                    <a:lumMod val="95000"/>
                    <a:lumOff val="5000"/>
                  </a:schemeClr>
                </a:solidFill>
                <a:effectLst>
                  <a:outerShdw blurRad="38100" dist="38100" dir="2700000" algn="tl">
                    <a:srgbClr val="000000">
                      <a:alpha val="43137"/>
                    </a:srgbClr>
                  </a:outerShdw>
                </a:effectLst>
              </a:rPr>
              <a:t> </a:t>
            </a:r>
            <a:r>
              <a:rPr lang="en-US" sz="2800">
                <a:solidFill>
                  <a:schemeClr val="tx1">
                    <a:lumMod val="95000"/>
                    <a:lumOff val="5000"/>
                  </a:schemeClr>
                </a:solidFill>
                <a:effectLst>
                  <a:outerShdw blurRad="38100" dist="38100" dir="2700000" algn="tl">
                    <a:srgbClr val="000000">
                      <a:alpha val="43137"/>
                    </a:srgbClr>
                  </a:outerShdw>
                </a:effectLst>
              </a:rPr>
              <a:t> </a:t>
            </a:r>
            <a:r>
              <a:rPr lang="fr-FR" sz="2800">
                <a:solidFill>
                  <a:schemeClr val="tx1">
                    <a:lumMod val="95000"/>
                    <a:lumOff val="5000"/>
                  </a:schemeClr>
                </a:solidFill>
                <a:effectLst>
                  <a:outerShdw blurRad="38100" dist="38100" dir="2700000" algn="tl">
                    <a:srgbClr val="000000">
                      <a:alpha val="43137"/>
                    </a:srgbClr>
                  </a:outerShdw>
                </a:effectLst>
              </a:rPr>
              <a:t> x * 2</a:t>
            </a:r>
          </a:p>
          <a:p>
            <a:pPr algn="l"/>
            <a:br>
              <a:rPr lang="fr-FR" sz="2800">
                <a:solidFill>
                  <a:schemeClr val="tx1">
                    <a:lumMod val="95000"/>
                    <a:lumOff val="5000"/>
                  </a:schemeClr>
                </a:solidFill>
                <a:effectLst>
                  <a:outerShdw blurRad="38100" dist="38100" dir="2700000" algn="tl">
                    <a:srgbClr val="000000">
                      <a:alpha val="43137"/>
                    </a:srgbClr>
                  </a:outerShdw>
                </a:effectLst>
              </a:rPr>
            </a:br>
            <a:r>
              <a:rPr lang="fr-FR" sz="2800">
                <a:solidFill>
                  <a:schemeClr val="tx1">
                    <a:lumMod val="95000"/>
                    <a:lumOff val="5000"/>
                  </a:schemeClr>
                </a:solidFill>
                <a:effectLst>
                  <a:outerShdw blurRad="38100" dist="38100" dir="2700000" algn="tl">
                    <a:srgbClr val="000000">
                      <a:alpha val="43137"/>
                    </a:srgbClr>
                  </a:outerShdw>
                </a:effectLst>
              </a:rPr>
              <a:t>fun double(x) </a:t>
            </a:r>
            <a:r>
              <a:rPr lang="fr-FR" sz="2800">
                <a:solidFill>
                  <a:srgbClr val="C00000"/>
                </a:solidFill>
                <a:effectLst>
                  <a:outerShdw blurRad="38100" dist="38100" dir="2700000" algn="tl">
                    <a:srgbClr val="000000">
                      <a:alpha val="43137"/>
                    </a:srgbClr>
                  </a:outerShdw>
                </a:effectLst>
              </a:rPr>
              <a:t>{</a:t>
            </a:r>
          </a:p>
          <a:p>
            <a:pPr algn="l"/>
            <a:r>
              <a:rPr lang="fr-FR" sz="2800">
                <a:solidFill>
                  <a:schemeClr val="tx1">
                    <a:lumMod val="95000"/>
                    <a:lumOff val="5000"/>
                  </a:schemeClr>
                </a:solidFill>
                <a:effectLst>
                  <a:outerShdw blurRad="38100" dist="38100" dir="2700000" algn="tl">
                    <a:srgbClr val="000000">
                      <a:alpha val="43137"/>
                    </a:srgbClr>
                  </a:outerShdw>
                </a:effectLst>
              </a:rPr>
              <a:t>   x * 2</a:t>
            </a:r>
          </a:p>
          <a:p>
            <a:pPr algn="l"/>
            <a:r>
              <a:rPr lang="fr-FR" sz="2800">
                <a:solidFill>
                  <a:srgbClr val="C00000"/>
                </a:solidFill>
                <a:effectLst>
                  <a:outerShdw blurRad="38100" dist="38100" dir="2700000" algn="tl">
                    <a:srgbClr val="000000">
                      <a:alpha val="43137"/>
                    </a:srgbClr>
                  </a:outerShdw>
                </a:effectLst>
              </a:rPr>
              <a:t>}</a:t>
            </a:r>
            <a:endParaRPr lang="he-IL" sz="2800">
              <a:solidFill>
                <a:srgbClr val="C00000"/>
              </a:solidFill>
              <a:effectLst>
                <a:outerShdw blurRad="38100" dist="38100" dir="2700000" algn="tl">
                  <a:srgbClr val="000000">
                    <a:alpha val="43137"/>
                  </a:srgbClr>
                </a:outerShdw>
              </a:effectLst>
            </a:endParaRPr>
          </a:p>
        </p:txBody>
      </p:sp>
      <p:sp>
        <p:nvSpPr>
          <p:cNvPr id="5" name="מלבן 4">
            <a:extLst>
              <a:ext uri="{FF2B5EF4-FFF2-40B4-BE49-F238E27FC236}">
                <a16:creationId xmlns:a16="http://schemas.microsoft.com/office/drawing/2014/main" id="{A39AEE7A-BA10-4B7C-8C13-7761EAF62AFC}"/>
              </a:ext>
            </a:extLst>
          </p:cNvPr>
          <p:cNvSpPr/>
          <p:nvPr/>
        </p:nvSpPr>
        <p:spPr>
          <a:xfrm>
            <a:off x="-4942390" y="927772"/>
            <a:ext cx="4444680" cy="1569660"/>
          </a:xfrm>
          <a:prstGeom prst="rect">
            <a:avLst/>
          </a:prstGeom>
        </p:spPr>
        <p:txBody>
          <a:bodyPr wrap="square">
            <a:spAutoFit/>
          </a:bodyPr>
          <a:lstStyle/>
          <a:p>
            <a:pPr lvl="0" rtl="0" eaLnBrk="0" fontAlgn="base" hangingPunct="0">
              <a:spcBef>
                <a:spcPct val="0"/>
              </a:spcBef>
              <a:spcAft>
                <a:spcPct val="0"/>
              </a:spcAft>
            </a:pPr>
            <a:r>
              <a:rPr lang="he-IL" altLang="he-IL" sz="1600">
                <a:latin typeface="Arial" panose="020B0604020202020204" pitchFamily="34" charset="0"/>
              </a:rPr>
              <a:t>הקומפיילר מאחורי הקלעים רואה שהשורה השנייה מוזחת, אז הוא אוטומטית מוסיף סוגריים מסולסלים כדי ליצור בלוק.</a:t>
            </a:r>
            <a:endParaRPr lang="en-US" altLang="he-IL" sz="1600">
              <a:latin typeface="Arial" panose="020B0604020202020204" pitchFamily="34" charset="0"/>
            </a:endParaRPr>
          </a:p>
          <a:p>
            <a:pPr lvl="0" rtl="0" eaLnBrk="0" fontAlgn="base" hangingPunct="0">
              <a:spcBef>
                <a:spcPct val="0"/>
              </a:spcBef>
              <a:spcAft>
                <a:spcPct val="0"/>
              </a:spcAft>
            </a:pPr>
            <a:r>
              <a:rPr lang="he-IL" altLang="he-IL" sz="1600">
                <a:latin typeface="Arial" panose="020B0604020202020204" pitchFamily="34" charset="0"/>
              </a:rPr>
              <a:t>זה שהזיהוי הוא רק לפי ההזחות זה גם חיסרון כי בקוקה הוא לא מתקן את זה כמו שצריך- השגיאה לא קשורה להזחה.</a:t>
            </a:r>
          </a:p>
        </p:txBody>
      </p:sp>
      <p:sp>
        <p:nvSpPr>
          <p:cNvPr id="8" name="TextBox 7">
            <a:extLst>
              <a:ext uri="{FF2B5EF4-FFF2-40B4-BE49-F238E27FC236}">
                <a16:creationId xmlns:a16="http://schemas.microsoft.com/office/drawing/2014/main" id="{A12ED433-2ACB-44D4-9ACC-D1734C8C078F}"/>
              </a:ext>
            </a:extLst>
          </p:cNvPr>
          <p:cNvSpPr txBox="1"/>
          <p:nvPr/>
        </p:nvSpPr>
        <p:spPr>
          <a:xfrm>
            <a:off x="606942" y="1160119"/>
            <a:ext cx="11186160" cy="4708981"/>
          </a:xfrm>
          <a:prstGeom prst="rect">
            <a:avLst/>
          </a:prstGeom>
          <a:noFill/>
        </p:spPr>
        <p:txBody>
          <a:bodyPr wrap="square" rtlCol="1">
            <a:spAutoFit/>
          </a:bodyPr>
          <a:lstStyle/>
          <a:p>
            <a:pPr algn="l"/>
            <a:r>
              <a:rPr lang="en-US" sz="2800">
                <a:effectLst>
                  <a:outerShdw blurRad="38100" dist="38100" dir="2700000" algn="tl">
                    <a:srgbClr val="000000">
                      <a:alpha val="43137"/>
                    </a:srgbClr>
                  </a:outerShdw>
                </a:effectLst>
              </a:rPr>
              <a:t>We can write like this -&gt;</a:t>
            </a:r>
          </a:p>
          <a:p>
            <a:pPr algn="l"/>
            <a:endParaRPr lang="en-US" sz="2800">
              <a:effectLst>
                <a:outerShdw blurRad="38100" dist="38100" dir="2700000" algn="tl">
                  <a:srgbClr val="000000">
                    <a:alpha val="43137"/>
                  </a:srgbClr>
                </a:outerShdw>
              </a:effectLst>
            </a:endParaRPr>
          </a:p>
          <a:p>
            <a:pPr algn="l"/>
            <a:endParaRPr lang="en-US" sz="2800">
              <a:effectLst>
                <a:outerShdw blurRad="38100" dist="38100" dir="2700000" algn="tl">
                  <a:srgbClr val="000000">
                    <a:alpha val="43137"/>
                  </a:srgbClr>
                </a:outerShdw>
              </a:effectLst>
            </a:endParaRPr>
          </a:p>
          <a:p>
            <a:pPr algn="l"/>
            <a:r>
              <a:rPr lang="en-US" sz="2800">
                <a:effectLst>
                  <a:outerShdw blurRad="38100" dist="38100" dir="2700000" algn="tl">
                    <a:srgbClr val="000000">
                      <a:alpha val="43137"/>
                    </a:srgbClr>
                  </a:outerShdw>
                </a:effectLst>
              </a:rPr>
              <a:t>and also like this -&gt;</a:t>
            </a:r>
          </a:p>
          <a:p>
            <a:pPr algn="l"/>
            <a:endParaRPr lang="en-US" sz="2800">
              <a:effectLst>
                <a:outerShdw blurRad="38100" dist="38100" dir="2700000" algn="tl">
                  <a:srgbClr val="000000">
                    <a:alpha val="43137"/>
                  </a:srgbClr>
                </a:outerShdw>
              </a:effectLst>
            </a:endParaRPr>
          </a:p>
          <a:p>
            <a:pPr algn="l"/>
            <a:endParaRPr lang="en-US" sz="2400">
              <a:effectLst>
                <a:outerShdw blurRad="38100" dist="38100" dir="2700000" algn="tl">
                  <a:srgbClr val="000000">
                    <a:alpha val="43137"/>
                  </a:srgbClr>
                </a:outerShdw>
              </a:effectLst>
            </a:endParaRPr>
          </a:p>
          <a:p>
            <a:pPr algn="l"/>
            <a:endParaRPr lang="en-US" sz="2400">
              <a:effectLst>
                <a:outerShdw blurRad="38100" dist="38100" dir="2700000" algn="tl">
                  <a:srgbClr val="000000">
                    <a:alpha val="43137"/>
                  </a:srgbClr>
                </a:outerShdw>
              </a:effectLst>
            </a:endParaRPr>
          </a:p>
          <a:p>
            <a:pPr algn="l"/>
            <a:endParaRPr lang="he-IL" sz="2400">
              <a:effectLst>
                <a:outerShdw blurRad="38100" dist="38100" dir="2700000" algn="tl">
                  <a:srgbClr val="000000">
                    <a:alpha val="43137"/>
                  </a:srgbClr>
                </a:outerShdw>
              </a:effectLst>
            </a:endParaRPr>
          </a:p>
          <a:p>
            <a:pPr algn="l"/>
            <a:endParaRPr lang="he-IL" sz="2400">
              <a:effectLst>
                <a:outerShdw blurRad="38100" dist="38100" dir="2700000" algn="tl">
                  <a:srgbClr val="000000">
                    <a:alpha val="43137"/>
                  </a:srgbClr>
                </a:outerShdw>
              </a:effectLst>
            </a:endParaRPr>
          </a:p>
          <a:p>
            <a:pPr algn="l"/>
            <a:r>
              <a:rPr lang="en-US" sz="2000" b="1">
                <a:solidFill>
                  <a:srgbClr val="C00000"/>
                </a:solidFill>
                <a:effectLst>
                  <a:outerShdw blurRad="38100" dist="38100" dir="2700000" algn="tl">
                    <a:srgbClr val="000000">
                      <a:alpha val="43137"/>
                    </a:srgbClr>
                  </a:outerShdw>
                </a:effectLst>
              </a:rPr>
              <a:t>⚠️ The Hidden Trap:</a:t>
            </a:r>
            <a:r>
              <a:rPr lang="en-US" sz="2000">
                <a:solidFill>
                  <a:srgbClr val="C00000"/>
                </a:solidFill>
                <a:effectLst>
                  <a:outerShdw blurRad="38100" dist="38100" dir="2700000" algn="tl">
                    <a:srgbClr val="000000">
                      <a:alpha val="43137"/>
                    </a:srgbClr>
                  </a:outerShdw>
                </a:effectLst>
              </a:rPr>
              <a:t> Koka is </a:t>
            </a:r>
            <a:r>
              <a:rPr lang="en-US" sz="2000" b="1">
                <a:solidFill>
                  <a:srgbClr val="C00000"/>
                </a:solidFill>
                <a:effectLst>
                  <a:outerShdw blurRad="38100" dist="38100" dir="2700000" algn="tl">
                    <a:srgbClr val="000000">
                      <a:alpha val="43137"/>
                    </a:srgbClr>
                  </a:outerShdw>
                </a:effectLst>
              </a:rPr>
              <a:t>super sensitive to indentation</a:t>
            </a:r>
            <a:r>
              <a:rPr lang="en-US" sz="2000">
                <a:solidFill>
                  <a:srgbClr val="C00000"/>
                </a:solidFill>
                <a:effectLst>
                  <a:outerShdw blurRad="38100" dist="38100" dir="2700000" algn="tl">
                    <a:srgbClr val="000000">
                      <a:alpha val="43137"/>
                    </a:srgbClr>
                  </a:outerShdw>
                </a:effectLst>
              </a:rPr>
              <a:t>, but indentation errors show up as unrelated messages - not "indentation error.“</a:t>
            </a:r>
          </a:p>
          <a:p>
            <a:pPr algn="l"/>
            <a:r>
              <a:rPr lang="en-US" sz="2000">
                <a:solidFill>
                  <a:srgbClr val="C00000"/>
                </a:solidFill>
                <a:effectLst>
                  <a:outerShdw blurRad="38100" dist="38100" dir="2700000" algn="tl">
                    <a:srgbClr val="000000">
                      <a:alpha val="43137"/>
                    </a:srgbClr>
                  </a:outerShdw>
                </a:effectLst>
              </a:rPr>
              <a:t>You will receive a general error message about a syntax error</a:t>
            </a:r>
            <a:r>
              <a:rPr lang="en-US" sz="2400">
                <a:solidFill>
                  <a:srgbClr val="C00000"/>
                </a:solidFill>
                <a:effectLst>
                  <a:outerShdw blurRad="38100" dist="38100" dir="2700000" algn="tl">
                    <a:srgbClr val="000000">
                      <a:alpha val="43137"/>
                    </a:srgbClr>
                  </a:outerShdw>
                </a:effectLst>
              </a:rPr>
              <a:t>.</a:t>
            </a:r>
          </a:p>
        </p:txBody>
      </p:sp>
      <p:pic>
        <p:nvPicPr>
          <p:cNvPr id="9" name="תמונה 8">
            <a:extLst>
              <a:ext uri="{FF2B5EF4-FFF2-40B4-BE49-F238E27FC236}">
                <a16:creationId xmlns:a16="http://schemas.microsoft.com/office/drawing/2014/main" id="{E66AFA15-69E4-4A1E-92EA-F86D2A01E619}"/>
              </a:ext>
            </a:extLst>
          </p:cNvPr>
          <p:cNvPicPr>
            <a:picLocks noChangeAspect="1"/>
          </p:cNvPicPr>
          <p:nvPr/>
        </p:nvPicPr>
        <p:blipFill rotWithShape="1">
          <a:blip r:embed="rId4"/>
          <a:srcRect r="7290"/>
          <a:stretch/>
        </p:blipFill>
        <p:spPr>
          <a:xfrm>
            <a:off x="7318048" y="3334063"/>
            <a:ext cx="4267010" cy="1209675"/>
          </a:xfrm>
          <a:prstGeom prst="rect">
            <a:avLst/>
          </a:prstGeom>
        </p:spPr>
      </p:pic>
    </p:spTree>
    <p:extLst>
      <p:ext uri="{BB962C8B-B14F-4D97-AF65-F5344CB8AC3E}">
        <p14:creationId xmlns:p14="http://schemas.microsoft.com/office/powerpoint/2010/main" val="56172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C94A79CB-138B-49C6-A250-368D935E2B8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89F9EF66-2C85-4DA2-ABEA-99BE88287E66}"/>
              </a:ext>
            </a:extLst>
          </p:cNvPr>
          <p:cNvSpPr/>
          <p:nvPr/>
        </p:nvSpPr>
        <p:spPr>
          <a:xfrm>
            <a:off x="-6949440" y="-2259737"/>
            <a:ext cx="6096000" cy="13316466"/>
          </a:xfrm>
          <a:prstGeom prst="rect">
            <a:avLst/>
          </a:prstGeom>
        </p:spPr>
        <p:txBody>
          <a:bodyPr>
            <a:spAutoFit/>
          </a:bodyPr>
          <a:lstStyle/>
          <a:p>
            <a:r>
              <a:rPr lang="he-IL" sz="1600" b="0" i="0" u="none" strike="noStrike">
                <a:solidFill>
                  <a:srgbClr val="000000"/>
                </a:solidFill>
                <a:effectLst/>
                <a:latin typeface="Calibri" panose="020F0502020204030204" pitchFamily="34" charset="0"/>
              </a:rPr>
              <a:t>ב"ה</a:t>
            </a:r>
            <a:endParaRPr lang="he-IL" b="0">
              <a:effectLst/>
            </a:endParaRPr>
          </a:p>
          <a:p>
            <a:pPr>
              <a:spcBef>
                <a:spcPts val="1000"/>
              </a:spcBef>
            </a:pPr>
            <a:br>
              <a:rPr lang="he-IL" b="0">
                <a:effectLst/>
              </a:rPr>
            </a:br>
            <a:r>
              <a:rPr lang="he-IL" b="1">
                <a:solidFill>
                  <a:srgbClr val="000000"/>
                </a:solidFill>
                <a:latin typeface="Calibri" panose="020F0502020204030204" pitchFamily="34" charset="0"/>
              </a:rPr>
              <a:t>## 3. לאילו פרדיגמות השפה משתייכת:</a:t>
            </a:r>
            <a:endParaRPr lang="he-IL" b="0">
              <a:effectLst/>
            </a:endParaRPr>
          </a:p>
          <a:p>
            <a:pPr>
              <a:spcBef>
                <a:spcPts val="1000"/>
              </a:spcBef>
            </a:pPr>
            <a:r>
              <a:rPr lang="he-IL" b="1">
                <a:solidFill>
                  <a:srgbClr val="000000"/>
                </a:solidFill>
                <a:latin typeface="Calibri" panose="020F0502020204030204" pitchFamily="34" charset="0"/>
              </a:rPr>
              <a:t>### פרדיגמה פונקציונלית</a:t>
            </a:r>
            <a:endParaRPr lang="he-IL" b="0">
              <a:effectLst/>
            </a:endParaRPr>
          </a:p>
          <a:p>
            <a:r>
              <a:rPr lang="en-US"/>
              <a:t>Koka </a:t>
            </a:r>
            <a:r>
              <a:rPr lang="he-IL"/>
              <a:t> היא שפה פונקציונלית בבסיסה.</a:t>
            </a:r>
            <a:br>
              <a:rPr lang="he-IL"/>
            </a:br>
            <a:r>
              <a:rPr lang="he-IL"/>
              <a:t>היא מדגישה </a:t>
            </a:r>
            <a:r>
              <a:rPr lang="he-IL" b="1"/>
              <a:t>חישובים טהורים</a:t>
            </a:r>
            <a:r>
              <a:rPr lang="he-IL"/>
              <a:t> – כלומר פונקציות </a:t>
            </a:r>
            <a:r>
              <a:rPr lang="he-IL" b="1"/>
              <a:t>ללא תופעות לוואי</a:t>
            </a:r>
            <a:r>
              <a:rPr lang="he-IL"/>
              <a:t>:</a:t>
            </a:r>
            <a:br>
              <a:rPr lang="he-IL"/>
            </a:br>
            <a:r>
              <a:rPr lang="he-IL"/>
              <a:t>פונקציה טהורה תמיד תחזיר את אותה תוצאה עבור אותו קלט, ולא תשפיע על משתנים חיצוניים או תבצע פעולות כמו הדפסה למסך.</a:t>
            </a:r>
          </a:p>
          <a:p>
            <a:r>
              <a:rPr lang="he-IL"/>
              <a:t>השפה תומכת ב־</a:t>
            </a:r>
            <a:r>
              <a:rPr lang="he-IL" b="1"/>
              <a:t>פונקציות מסדר ראשון</a:t>
            </a:r>
            <a:r>
              <a:rPr lang="he-IL"/>
              <a:t> (</a:t>
            </a:r>
            <a:r>
              <a:rPr lang="en-US"/>
              <a:t>first-class functions), </a:t>
            </a:r>
            <a:r>
              <a:rPr lang="he-IL"/>
              <a:t>כלומר פונקציות שאפשר להעביר כפרמטרים, להחזיר כתוצאה, או לשמור במבנים.</a:t>
            </a:r>
            <a:br>
              <a:rPr lang="he-IL"/>
            </a:br>
            <a:r>
              <a:rPr lang="he-IL"/>
              <a:t>בנוסף, </a:t>
            </a:r>
            <a:r>
              <a:rPr lang="en-US"/>
              <a:t>Koka </a:t>
            </a:r>
            <a:r>
              <a:rPr lang="he-IL"/>
              <a:t>תומכת ב־</a:t>
            </a:r>
            <a:r>
              <a:rPr lang="he-IL" b="1"/>
              <a:t>טיפוסי נתונים אלגבריים</a:t>
            </a:r>
            <a:r>
              <a:rPr lang="he-IL"/>
              <a:t> (</a:t>
            </a:r>
            <a:r>
              <a:rPr lang="en-US"/>
              <a:t>algebraic data types), </a:t>
            </a:r>
            <a:r>
              <a:rPr lang="he-IL"/>
              <a:t>המאפשרים לבנות מבני נתונים מורכבים בצורה פשוטה וברורה.</a:t>
            </a:r>
          </a:p>
          <a:p>
            <a:pPr>
              <a:spcBef>
                <a:spcPts val="1000"/>
              </a:spcBef>
            </a:pPr>
            <a:br>
              <a:rPr lang="he-IL">
                <a:solidFill>
                  <a:srgbClr val="000000"/>
                </a:solidFill>
                <a:latin typeface="Calibri" panose="020F0502020204030204" pitchFamily="34" charset="0"/>
              </a:rPr>
            </a:br>
            <a:r>
              <a:rPr lang="he-IL" b="1">
                <a:solidFill>
                  <a:srgbClr val="000000"/>
                </a:solidFill>
                <a:latin typeface="Calibri" panose="020F0502020204030204" pitchFamily="34" charset="0"/>
              </a:rPr>
              <a:t>### פרדיגמה מונחית אפקטים (</a:t>
            </a:r>
            <a:r>
              <a:rPr lang="en-US" b="1">
                <a:solidFill>
                  <a:srgbClr val="000000"/>
                </a:solidFill>
                <a:latin typeface="Calibri" panose="020F0502020204030204" pitchFamily="34" charset="0"/>
              </a:rPr>
              <a:t>Effect-oriented)</a:t>
            </a:r>
            <a:endParaRPr lang="en-US" b="0">
              <a:effectLst/>
            </a:endParaRPr>
          </a:p>
          <a:p>
            <a:pPr>
              <a:spcBef>
                <a:spcPts val="1000"/>
              </a:spcBef>
            </a:pPr>
            <a:r>
              <a:rPr lang="he-IL">
                <a:solidFill>
                  <a:srgbClr val="000000"/>
                </a:solidFill>
                <a:latin typeface="Calibri" panose="020F0502020204030204" pitchFamily="34" charset="0"/>
              </a:rPr>
              <a:t>המאפיין הייחודי ביותר של </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הוא מערכת האפקטים שלה. כל פונקציה ב</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כוללת בטיפוס שלה גם את האפקטים שהיא עשויה לבצע. למשל, פונקציה שקוראת מהמסך תסומן עם אפקט ה־`</a:t>
            </a:r>
            <a:r>
              <a:rPr lang="en-US">
                <a:solidFill>
                  <a:srgbClr val="000000"/>
                </a:solidFill>
                <a:latin typeface="Calibri" panose="020F0502020204030204" pitchFamily="34" charset="0"/>
              </a:rPr>
              <a:t>console`. </a:t>
            </a:r>
            <a:r>
              <a:rPr lang="he-IL">
                <a:solidFill>
                  <a:srgbClr val="000000"/>
                </a:solidFill>
                <a:latin typeface="Calibri" panose="020F0502020204030204" pitchFamily="34" charset="0"/>
              </a:rPr>
              <a:t>זה מאפשר לקומפיילר ולמתכנת לדעת בדיוק אילו אפקטים צדדיים עלולים להתרחש בכל נקודה בקוד.</a:t>
            </a:r>
            <a:endParaRPr lang="he-IL" b="0">
              <a:effectLst/>
            </a:endParaRPr>
          </a:p>
          <a:p>
            <a:pPr rtl="0">
              <a:spcBef>
                <a:spcPts val="0"/>
              </a:spcBef>
              <a:spcAft>
                <a:spcPts val="0"/>
              </a:spcAft>
            </a:pPr>
            <a:br>
              <a:rPr lang="he-IL" b="0">
                <a:effectLst/>
              </a:rPr>
            </a:br>
            <a:br>
              <a:rPr lang="he-IL" b="0">
                <a:effectLst/>
              </a:rPr>
            </a:br>
            <a:r>
              <a:rPr lang="he-IL" sz="1600" b="0" i="0" u="none" strike="noStrike">
                <a:solidFill>
                  <a:srgbClr val="000000"/>
                </a:solidFill>
                <a:effectLst/>
                <a:latin typeface="Arial" panose="020B0604020202020204" pitchFamily="34" charset="0"/>
              </a:rPr>
              <a:t>// 1. פרדיגמה פונקציונלית - פונקציות טהורות</a:t>
            </a:r>
            <a:endParaRPr lang="he-IL"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fun double(x: int): int = x * 2</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fun sum-list(xs: list&lt;int&gt;): int = xs.foldl((+), 0)</a:t>
            </a:r>
            <a:endParaRPr lang="en-US" b="0">
              <a:effectLst/>
            </a:endParaRPr>
          </a:p>
          <a:p>
            <a:pPr rtl="0">
              <a:spcBef>
                <a:spcPts val="0"/>
              </a:spcBef>
              <a:spcAft>
                <a:spcPts val="0"/>
              </a:spcAft>
            </a:pPr>
            <a:br>
              <a:rPr lang="en-US" b="0">
                <a:effectLst/>
              </a:rPr>
            </a:br>
            <a:r>
              <a:rPr lang="en-US" sz="1600" b="0" i="0" u="none" strike="noStrike">
                <a:solidFill>
                  <a:srgbClr val="000000"/>
                </a:solidFill>
                <a:effectLst/>
                <a:latin typeface="Arial" panose="020B0604020202020204" pitchFamily="34" charset="0"/>
              </a:rPr>
              <a:t>// </a:t>
            </a:r>
            <a:r>
              <a:rPr lang="he-IL" sz="1600" b="0" i="0" u="none" strike="noStrike">
                <a:solidFill>
                  <a:srgbClr val="000000"/>
                </a:solidFill>
                <a:effectLst/>
                <a:latin typeface="Arial" panose="020B0604020202020204" pitchFamily="34" charset="0"/>
              </a:rPr>
              <a:t>טיפוס נתונים אלגברי + פונקציה מסדר ראשון</a:t>
            </a:r>
            <a:endParaRPr lang="he-IL"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type maybe&lt;a&gt;</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Nothing</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Just(value: a)</a:t>
            </a:r>
            <a:endParaRPr lang="en-US" b="0">
              <a:effectLst/>
            </a:endParaRPr>
          </a:p>
          <a:p>
            <a:pPr rtl="0">
              <a:spcBef>
                <a:spcPts val="0"/>
              </a:spcBef>
              <a:spcAft>
                <a:spcPts val="0"/>
              </a:spcAft>
            </a:pPr>
            <a:br>
              <a:rPr lang="en-US" b="0">
                <a:effectLst/>
              </a:rPr>
            </a:br>
            <a:r>
              <a:rPr lang="en-US" sz="1600" b="0" i="0" u="none" strike="noStrike">
                <a:solidFill>
                  <a:srgbClr val="000000"/>
                </a:solidFill>
                <a:effectLst/>
                <a:latin typeface="Arial" panose="020B0604020202020204" pitchFamily="34" charset="0"/>
              </a:rPr>
              <a:t>fun map-maybe(f: a -&gt; b, m: maybe&lt;a&gt;): maybe&lt;b&gt;</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match m</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Nothing -&gt; Nothing</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Just(x) -&gt; Just(f(x))</a:t>
            </a:r>
            <a:endParaRPr lang="en-US" b="0">
              <a:effectLst/>
            </a:endParaRPr>
          </a:p>
          <a:p>
            <a:pPr rtl="0">
              <a:spcBef>
                <a:spcPts val="0"/>
              </a:spcBef>
              <a:spcAft>
                <a:spcPts val="0"/>
              </a:spcAft>
            </a:pPr>
            <a:br>
              <a:rPr lang="en-US" b="0">
                <a:effectLst/>
              </a:rPr>
            </a:br>
            <a:r>
              <a:rPr lang="en-US" sz="1600" b="0" i="0" u="none" strike="noStrike">
                <a:solidFill>
                  <a:srgbClr val="000000"/>
                </a:solidFill>
                <a:effectLst/>
                <a:latin typeface="Arial" panose="020B0604020202020204" pitchFamily="34" charset="0"/>
              </a:rPr>
              <a:t>// 2. </a:t>
            </a:r>
            <a:r>
              <a:rPr lang="he-IL" sz="1600" b="0" i="0" u="none" strike="noStrike">
                <a:solidFill>
                  <a:srgbClr val="000000"/>
                </a:solidFill>
                <a:effectLst/>
                <a:latin typeface="Arial" panose="020B0604020202020204" pitchFamily="34" charset="0"/>
              </a:rPr>
              <a:t>פרדיגמה מונחית אפקטים - אפקטים מסומנים בטיפוס</a:t>
            </a:r>
            <a:endParaRPr lang="he-IL"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fun read-name(): console string = readline()</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fun greet(name: string): console () = println("</a:t>
            </a:r>
            <a:r>
              <a:rPr lang="he-IL" sz="1600" b="0" i="0" u="none" strike="noStrike">
                <a:solidFill>
                  <a:srgbClr val="000000"/>
                </a:solidFill>
                <a:effectLst/>
                <a:latin typeface="Arial" panose="020B0604020202020204" pitchFamily="34" charset="0"/>
              </a:rPr>
              <a:t>שלום " ++ </a:t>
            </a:r>
            <a:r>
              <a:rPr lang="en-US" sz="1600" b="0" i="0" u="none" strike="noStrike">
                <a:solidFill>
                  <a:srgbClr val="000000"/>
                </a:solidFill>
                <a:effectLst/>
                <a:latin typeface="Arial" panose="020B0604020202020204" pitchFamily="34" charset="0"/>
              </a:rPr>
              <a:t>name)</a:t>
            </a:r>
            <a:endParaRPr lang="en-US" b="0">
              <a:effectLst/>
            </a:endParaRPr>
          </a:p>
          <a:p>
            <a:pPr rtl="0">
              <a:spcBef>
                <a:spcPts val="0"/>
              </a:spcBef>
              <a:spcAft>
                <a:spcPts val="0"/>
              </a:spcAft>
            </a:pPr>
            <a:br>
              <a:rPr lang="en-US" b="0">
                <a:effectLst/>
              </a:rPr>
            </a:br>
            <a:r>
              <a:rPr lang="en-US" sz="1600" b="0" i="0" u="none" strike="noStrike">
                <a:solidFill>
                  <a:srgbClr val="000000"/>
                </a:solidFill>
                <a:effectLst/>
                <a:latin typeface="Arial" panose="020B0604020202020204" pitchFamily="34" charset="0"/>
              </a:rPr>
              <a:t>// </a:t>
            </a:r>
            <a:r>
              <a:rPr lang="he-IL" sz="1600" b="0" i="0" u="none" strike="noStrike">
                <a:solidFill>
                  <a:srgbClr val="000000"/>
                </a:solidFill>
                <a:effectLst/>
                <a:latin typeface="Arial" panose="020B0604020202020204" pitchFamily="34" charset="0"/>
              </a:rPr>
              <a:t>שילוב - הטיפוס מראה בדיוק אילו אפקטים יש</a:t>
            </a:r>
            <a:endParaRPr lang="he-IL"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fun interactive-greeting(): console ()</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val name = read-name()  // </a:t>
            </a:r>
            <a:r>
              <a:rPr lang="he-IL" sz="1600" b="0" i="0" u="none" strike="noStrike">
                <a:solidFill>
                  <a:srgbClr val="000000"/>
                </a:solidFill>
                <a:effectLst/>
                <a:latin typeface="Arial" panose="020B0604020202020204" pitchFamily="34" charset="0"/>
              </a:rPr>
              <a:t>אפקט </a:t>
            </a:r>
            <a:r>
              <a:rPr lang="en-US" sz="1600" b="0" i="0" u="none" strike="noStrike">
                <a:solidFill>
                  <a:srgbClr val="000000"/>
                </a:solidFill>
                <a:effectLst/>
                <a:latin typeface="Arial" panose="020B0604020202020204" pitchFamily="34" charset="0"/>
              </a:rPr>
              <a:t>console</a:t>
            </a:r>
            <a:endParaRPr lang="en-US" b="0">
              <a:effectLst/>
            </a:endParaRPr>
          </a:p>
          <a:p>
            <a:pPr rtl="0">
              <a:spcBef>
                <a:spcPts val="0"/>
              </a:spcBef>
              <a:spcAft>
                <a:spcPts val="0"/>
              </a:spcAft>
            </a:pPr>
            <a:r>
              <a:rPr lang="en-US" sz="1600" b="0" i="0" u="none" strike="noStrike">
                <a:solidFill>
                  <a:srgbClr val="000000"/>
                </a:solidFill>
                <a:effectLst/>
                <a:latin typeface="Arial" panose="020B0604020202020204" pitchFamily="34" charset="0"/>
              </a:rPr>
              <a:t>  greet(name)            // </a:t>
            </a:r>
            <a:r>
              <a:rPr lang="he-IL" sz="1600" b="0" i="0" u="none" strike="noStrike">
                <a:solidFill>
                  <a:srgbClr val="000000"/>
                </a:solidFill>
                <a:effectLst/>
                <a:latin typeface="Arial" panose="020B0604020202020204" pitchFamily="34" charset="0"/>
              </a:rPr>
              <a:t>אפקט </a:t>
            </a:r>
            <a:r>
              <a:rPr lang="en-US" sz="1600" b="0" i="0" u="none" strike="noStrike">
                <a:solidFill>
                  <a:srgbClr val="000000"/>
                </a:solidFill>
                <a:effectLst/>
                <a:latin typeface="Arial" panose="020B0604020202020204" pitchFamily="34" charset="0"/>
              </a:rPr>
              <a:t>console</a:t>
            </a:r>
            <a:endParaRPr lang="en-US" b="0">
              <a:effectLst/>
            </a:endParaRPr>
          </a:p>
          <a:p>
            <a:br>
              <a:rPr lang="en-US"/>
            </a:br>
            <a:endParaRPr lang="he-IL"/>
          </a:p>
        </p:txBody>
      </p:sp>
      <p:sp>
        <p:nvSpPr>
          <p:cNvPr id="7" name="מלבן 6">
            <a:extLst>
              <a:ext uri="{FF2B5EF4-FFF2-40B4-BE49-F238E27FC236}">
                <a16:creationId xmlns:a16="http://schemas.microsoft.com/office/drawing/2014/main" id="{2A638F00-D2A6-42D8-952F-85759EE36CD1}"/>
              </a:ext>
            </a:extLst>
          </p:cNvPr>
          <p:cNvSpPr/>
          <p:nvPr/>
        </p:nvSpPr>
        <p:spPr>
          <a:xfrm>
            <a:off x="2144048" y="2159619"/>
            <a:ext cx="1713931" cy="954107"/>
          </a:xfrm>
          <a:prstGeom prst="rect">
            <a:avLst/>
          </a:prstGeom>
        </p:spPr>
        <p:txBody>
          <a:bodyPr wrap="none">
            <a:spAutoFit/>
          </a:bodyPr>
          <a:lstStyle/>
          <a:p>
            <a:pPr algn="l" rtl="0">
              <a:spcBef>
                <a:spcPts val="0"/>
              </a:spcBef>
              <a:spcAft>
                <a:spcPts val="0"/>
              </a:spcAft>
            </a:pPr>
            <a:r>
              <a:rPr lang="en-US" sz="2800">
                <a:effectLst>
                  <a:outerShdw blurRad="38100" dist="38100" dir="2700000" algn="tl">
                    <a:srgbClr val="000000">
                      <a:alpha val="43137"/>
                    </a:srgbClr>
                  </a:outerShdw>
                </a:effectLst>
              </a:rPr>
              <a:t>Functional</a:t>
            </a:r>
          </a:p>
          <a:p>
            <a:pPr algn="l" rtl="0">
              <a:spcBef>
                <a:spcPts val="0"/>
              </a:spcBef>
              <a:spcAft>
                <a:spcPts val="0"/>
              </a:spcAft>
            </a:pPr>
            <a:endParaRPr lang="en-US" sz="2800">
              <a:effectLst>
                <a:outerShdw blurRad="38100" dist="38100" dir="2700000" algn="tl">
                  <a:srgbClr val="000000">
                    <a:alpha val="43137"/>
                  </a:srgbClr>
                </a:outerShdw>
              </a:effectLst>
            </a:endParaRPr>
          </a:p>
        </p:txBody>
      </p:sp>
      <p:sp>
        <p:nvSpPr>
          <p:cNvPr id="8" name="מלבן 7">
            <a:extLst>
              <a:ext uri="{FF2B5EF4-FFF2-40B4-BE49-F238E27FC236}">
                <a16:creationId xmlns:a16="http://schemas.microsoft.com/office/drawing/2014/main" id="{BCD7E55F-9FCE-4E0B-8CEA-7B61BAC63811}"/>
              </a:ext>
            </a:extLst>
          </p:cNvPr>
          <p:cNvSpPr/>
          <p:nvPr/>
        </p:nvSpPr>
        <p:spPr>
          <a:xfrm>
            <a:off x="3711757" y="441841"/>
            <a:ext cx="4768486" cy="646331"/>
          </a:xfrm>
          <a:prstGeom prst="rect">
            <a:avLst/>
          </a:prstGeom>
        </p:spPr>
        <p:txBody>
          <a:bodyPr wrap="none">
            <a:spAutoFit/>
          </a:bodyPr>
          <a:lstStyle/>
          <a:p>
            <a:r>
              <a:rPr lang="en-US" sz="3600">
                <a:effectLst>
                  <a:outerShdw blurRad="50800" dist="38100" dir="5400000" algn="t" rotWithShape="0">
                    <a:prstClr val="black">
                      <a:alpha val="40000"/>
                    </a:prstClr>
                  </a:outerShdw>
                </a:effectLst>
              </a:rPr>
              <a:t>Programming paradigms</a:t>
            </a:r>
            <a:endParaRPr lang="he-IL" sz="3600">
              <a:effectLst>
                <a:outerShdw blurRad="50800" dist="38100" dir="5400000" algn="t" rotWithShape="0">
                  <a:prstClr val="black">
                    <a:alpha val="40000"/>
                  </a:prstClr>
                </a:outerShdw>
              </a:effectLst>
            </a:endParaRPr>
          </a:p>
        </p:txBody>
      </p:sp>
      <p:sp>
        <p:nvSpPr>
          <p:cNvPr id="9" name="מלבן 8">
            <a:extLst>
              <a:ext uri="{FF2B5EF4-FFF2-40B4-BE49-F238E27FC236}">
                <a16:creationId xmlns:a16="http://schemas.microsoft.com/office/drawing/2014/main" id="{7E13B06B-0C1F-438F-9677-0946F069D6CF}"/>
              </a:ext>
            </a:extLst>
          </p:cNvPr>
          <p:cNvSpPr/>
          <p:nvPr/>
        </p:nvSpPr>
        <p:spPr>
          <a:xfrm>
            <a:off x="7851011" y="2044005"/>
            <a:ext cx="3634778" cy="800219"/>
          </a:xfrm>
          <a:prstGeom prst="rect">
            <a:avLst/>
          </a:prstGeom>
        </p:spPr>
        <p:txBody>
          <a:bodyPr wrap="none">
            <a:spAutoFit/>
          </a:bodyPr>
          <a:lstStyle/>
          <a:p>
            <a:pPr algn="ctr" rtl="0">
              <a:spcBef>
                <a:spcPts val="0"/>
              </a:spcBef>
              <a:spcAft>
                <a:spcPts val="0"/>
              </a:spcAft>
            </a:pPr>
            <a:r>
              <a:rPr lang="en-US" sz="2800">
                <a:effectLst>
                  <a:outerShdw blurRad="38100" dist="38100" dir="2700000" algn="tl">
                    <a:srgbClr val="000000">
                      <a:alpha val="43137"/>
                    </a:srgbClr>
                  </a:outerShdw>
                </a:effectLst>
              </a:rPr>
              <a:t>Effect-oriented</a:t>
            </a:r>
          </a:p>
          <a:p>
            <a:pPr algn="l" rtl="0">
              <a:spcBef>
                <a:spcPts val="0"/>
              </a:spcBef>
              <a:spcAft>
                <a:spcPts val="0"/>
              </a:spcAft>
            </a:pPr>
            <a:r>
              <a:rPr lang="en-US">
                <a:effectLst>
                  <a:outerShdw blurRad="38100" dist="38100" dir="2700000" algn="tl">
                    <a:srgbClr val="000000">
                      <a:alpha val="43137"/>
                    </a:srgbClr>
                  </a:outerShdw>
                </a:effectLst>
              </a:rPr>
              <a:t>As we showed in the previous slide...</a:t>
            </a:r>
            <a:endParaRPr lang="en-US" sz="6600">
              <a:effectLst>
                <a:outerShdw blurRad="38100" dist="38100" dir="2700000" algn="tl">
                  <a:srgbClr val="000000">
                    <a:alpha val="43137"/>
                  </a:srgbClr>
                </a:outerShdw>
              </a:effectLst>
            </a:endParaRPr>
          </a:p>
        </p:txBody>
      </p:sp>
      <p:sp>
        <p:nvSpPr>
          <p:cNvPr id="11" name="מלבן 10">
            <a:extLst>
              <a:ext uri="{FF2B5EF4-FFF2-40B4-BE49-F238E27FC236}">
                <a16:creationId xmlns:a16="http://schemas.microsoft.com/office/drawing/2014/main" id="{C6D9AE5A-031A-4EF9-A46D-2CD9914E54F5}"/>
              </a:ext>
            </a:extLst>
          </p:cNvPr>
          <p:cNvSpPr/>
          <p:nvPr/>
        </p:nvSpPr>
        <p:spPr>
          <a:xfrm>
            <a:off x="842906" y="3113726"/>
            <a:ext cx="4488986" cy="1569660"/>
          </a:xfrm>
          <a:prstGeom prst="rect">
            <a:avLst/>
          </a:prstGeom>
        </p:spPr>
        <p:txBody>
          <a:bodyPr wrap="none">
            <a:spAutoFit/>
          </a:bodyPr>
          <a:lstStyle/>
          <a:p>
            <a:pPr algn="l"/>
            <a:r>
              <a:rPr lang="en-US" sz="2400">
                <a:effectLst>
                  <a:outerShdw blurRad="38100" dist="38100" dir="2700000" algn="tl">
                    <a:srgbClr val="000000">
                      <a:alpha val="43137"/>
                    </a:srgbClr>
                  </a:outerShdw>
                </a:effectLst>
              </a:rPr>
              <a:t>[1,2,3].map(fn(x) x * 2) </a:t>
            </a:r>
            <a:r>
              <a:rPr lang="en-US" sz="2400">
                <a:solidFill>
                  <a:srgbClr val="009A46"/>
                </a:solidFill>
                <a:effectLst>
                  <a:outerShdw blurRad="38100" dist="38100" dir="2700000" algn="tl">
                    <a:srgbClr val="000000">
                      <a:alpha val="43137"/>
                    </a:srgbClr>
                  </a:outerShdw>
                </a:effectLst>
              </a:rPr>
              <a:t>// [2,4,6]</a:t>
            </a:r>
          </a:p>
          <a:p>
            <a:pPr algn="l"/>
            <a:endParaRPr lang="en-US" sz="2400">
              <a:effectLst>
                <a:outerShdw blurRad="38100" dist="38100" dir="2700000" algn="tl">
                  <a:srgbClr val="000000">
                    <a:alpha val="43137"/>
                  </a:srgbClr>
                </a:outerShdw>
              </a:effectLst>
            </a:endParaRPr>
          </a:p>
          <a:p>
            <a:pPr algn="l"/>
            <a:r>
              <a:rPr lang="en-US" sz="2400">
                <a:effectLst>
                  <a:outerShdw blurRad="38100" dist="38100" dir="2700000" algn="tl">
                    <a:srgbClr val="000000">
                      <a:alpha val="43137"/>
                    </a:srgbClr>
                  </a:outerShdw>
                </a:effectLst>
              </a:rPr>
              <a:t>[1,2,3,4,5].filter(fn(x) x &gt; 3) </a:t>
            </a:r>
            <a:r>
              <a:rPr lang="en-US" sz="2400">
                <a:solidFill>
                  <a:srgbClr val="009A46"/>
                </a:solidFill>
                <a:effectLst>
                  <a:outerShdw blurRad="38100" dist="38100" dir="2700000" algn="tl">
                    <a:srgbClr val="000000">
                      <a:alpha val="43137"/>
                    </a:srgbClr>
                  </a:outerShdw>
                </a:effectLst>
              </a:rPr>
              <a:t>// [4,5]</a:t>
            </a:r>
          </a:p>
          <a:p>
            <a:pPr algn="l"/>
            <a:endParaRPr lang="he-IL" sz="2400">
              <a:solidFill>
                <a:srgbClr val="009A4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4153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7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תמונה 16">
            <a:extLst>
              <a:ext uri="{FF2B5EF4-FFF2-40B4-BE49-F238E27FC236}">
                <a16:creationId xmlns:a16="http://schemas.microsoft.com/office/drawing/2014/main" id="{5D40F2E1-396E-4140-AFC1-08D4D09D1BA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71A68EED-E519-45ED-A131-29F7F711F9EA}"/>
              </a:ext>
            </a:extLst>
          </p:cNvPr>
          <p:cNvSpPr/>
          <p:nvPr/>
        </p:nvSpPr>
        <p:spPr>
          <a:xfrm>
            <a:off x="2049988" y="289441"/>
            <a:ext cx="8092023" cy="646331"/>
          </a:xfrm>
          <a:prstGeom prst="rect">
            <a:avLst/>
          </a:prstGeom>
        </p:spPr>
        <p:txBody>
          <a:bodyPr wrap="none">
            <a:spAutoFit/>
          </a:bodyPr>
          <a:lstStyle/>
          <a:p>
            <a:r>
              <a:rPr lang="en-US" sz="3600">
                <a:effectLst>
                  <a:outerShdw blurRad="38100" dist="38100" dir="2700000" algn="tl">
                    <a:srgbClr val="000000">
                      <a:alpha val="43137"/>
                    </a:srgbClr>
                  </a:outerShdw>
                </a:effectLst>
              </a:rPr>
              <a:t>Something interesting is happening here…</a:t>
            </a:r>
            <a:endParaRPr lang="he-IL" sz="3600">
              <a:effectLst>
                <a:outerShdw blurRad="38100" dist="38100" dir="2700000" algn="tl">
                  <a:srgbClr val="000000">
                    <a:alpha val="43137"/>
                  </a:srgbClr>
                </a:outerShdw>
              </a:effectLst>
            </a:endParaRPr>
          </a:p>
        </p:txBody>
      </p:sp>
      <p:sp>
        <p:nvSpPr>
          <p:cNvPr id="5" name="מלבן 4">
            <a:extLst>
              <a:ext uri="{FF2B5EF4-FFF2-40B4-BE49-F238E27FC236}">
                <a16:creationId xmlns:a16="http://schemas.microsoft.com/office/drawing/2014/main" id="{F241A21A-8DB8-4963-8099-5A125E7B43B9}"/>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pic>
        <p:nvPicPr>
          <p:cNvPr id="4098" name="Picture 2" descr="פרצוף חושב אמוג'י 🤔">
            <a:extLst>
              <a:ext uri="{FF2B5EF4-FFF2-40B4-BE49-F238E27FC236}">
                <a16:creationId xmlns:a16="http://schemas.microsoft.com/office/drawing/2014/main" id="{753C88FF-D7A1-43C3-B84E-4AD2A9946B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7040" y="4175760"/>
            <a:ext cx="2270760" cy="2270760"/>
          </a:xfrm>
          <a:prstGeom prst="rect">
            <a:avLst/>
          </a:prstGeom>
          <a:noFill/>
          <a:extLst>
            <a:ext uri="{909E8E84-426E-40DD-AFC4-6F175D3DCCD1}">
              <a14:hiddenFill xmlns:a14="http://schemas.microsoft.com/office/drawing/2010/main">
                <a:solidFill>
                  <a:srgbClr val="FFFFFF"/>
                </a:solidFill>
              </a14:hiddenFill>
            </a:ext>
          </a:extLst>
        </p:spPr>
      </p:pic>
      <p:pic>
        <p:nvPicPr>
          <p:cNvPr id="9" name="תמונה 8">
            <a:extLst>
              <a:ext uri="{FF2B5EF4-FFF2-40B4-BE49-F238E27FC236}">
                <a16:creationId xmlns:a16="http://schemas.microsoft.com/office/drawing/2014/main" id="{013111B7-DB46-4FFA-BBC7-1CEA0D46D3DF}"/>
              </a:ext>
            </a:extLst>
          </p:cNvPr>
          <p:cNvPicPr>
            <a:picLocks noChangeAspect="1"/>
          </p:cNvPicPr>
          <p:nvPr/>
        </p:nvPicPr>
        <p:blipFill>
          <a:blip r:embed="rId5"/>
          <a:stretch>
            <a:fillRect/>
          </a:stretch>
        </p:blipFill>
        <p:spPr>
          <a:xfrm>
            <a:off x="734415" y="1566138"/>
            <a:ext cx="4599586" cy="2380331"/>
          </a:xfrm>
          <a:prstGeom prst="rect">
            <a:avLst/>
          </a:prstGeom>
        </p:spPr>
      </p:pic>
      <p:sp>
        <p:nvSpPr>
          <p:cNvPr id="10" name="TextBox 9">
            <a:extLst>
              <a:ext uri="{FF2B5EF4-FFF2-40B4-BE49-F238E27FC236}">
                <a16:creationId xmlns:a16="http://schemas.microsoft.com/office/drawing/2014/main" id="{4D6CD374-E268-4763-8E02-0607DF84B867}"/>
              </a:ext>
            </a:extLst>
          </p:cNvPr>
          <p:cNvSpPr txBox="1"/>
          <p:nvPr/>
        </p:nvSpPr>
        <p:spPr>
          <a:xfrm>
            <a:off x="12567919" y="854938"/>
            <a:ext cx="4784259" cy="2031325"/>
          </a:xfrm>
          <a:prstGeom prst="rect">
            <a:avLst/>
          </a:prstGeom>
          <a:noFill/>
        </p:spPr>
        <p:txBody>
          <a:bodyPr wrap="square" rtlCol="1">
            <a:spAutoFit/>
          </a:bodyPr>
          <a:lstStyle/>
          <a:p>
            <a:r>
              <a:rPr lang="he-IL"/>
              <a:t>אמרנו שהשפה היא פונקציונלית, אם היא פונקציונלית לא יכול להיות שיש בה לולאות כאלה כמו </a:t>
            </a:r>
            <a:r>
              <a:rPr lang="en-US"/>
              <a:t>for, while</a:t>
            </a:r>
            <a:r>
              <a:rPr lang="he-IL"/>
              <a:t>-</a:t>
            </a:r>
          </a:p>
          <a:p>
            <a:r>
              <a:rPr lang="he-IL"/>
              <a:t>בשפה פונקציונלית טהורה אין מצב משתנה - כל משתנה הוא קבוע, אי אפשר "לעדכן" אותו.</a:t>
            </a:r>
          </a:p>
          <a:p>
            <a:r>
              <a:rPr lang="he-IL"/>
              <a:t>אין תופעות לוואי כמו עדכון מונה בלולאה.</a:t>
            </a:r>
          </a:p>
          <a:p>
            <a:endParaRPr lang="he-IL"/>
          </a:p>
        </p:txBody>
      </p:sp>
      <p:pic>
        <p:nvPicPr>
          <p:cNvPr id="12" name="תמונה 11">
            <a:extLst>
              <a:ext uri="{FF2B5EF4-FFF2-40B4-BE49-F238E27FC236}">
                <a16:creationId xmlns:a16="http://schemas.microsoft.com/office/drawing/2014/main" id="{BD697C10-A256-4F1E-93CE-231DDB84CBA0}"/>
              </a:ext>
            </a:extLst>
          </p:cNvPr>
          <p:cNvPicPr>
            <a:picLocks noChangeAspect="1"/>
          </p:cNvPicPr>
          <p:nvPr/>
        </p:nvPicPr>
        <p:blipFill>
          <a:blip r:embed="rId6"/>
          <a:stretch>
            <a:fillRect/>
          </a:stretch>
        </p:blipFill>
        <p:spPr>
          <a:xfrm>
            <a:off x="734415" y="4252347"/>
            <a:ext cx="4599586" cy="1835189"/>
          </a:xfrm>
          <a:prstGeom prst="rect">
            <a:avLst/>
          </a:prstGeom>
        </p:spPr>
      </p:pic>
      <p:sp>
        <p:nvSpPr>
          <p:cNvPr id="13" name="מלבן 12">
            <a:extLst>
              <a:ext uri="{FF2B5EF4-FFF2-40B4-BE49-F238E27FC236}">
                <a16:creationId xmlns:a16="http://schemas.microsoft.com/office/drawing/2014/main" id="{0E0D6DD0-86D7-46AE-A67D-9B2260E0B578}"/>
              </a:ext>
            </a:extLst>
          </p:cNvPr>
          <p:cNvSpPr/>
          <p:nvPr/>
        </p:nvSpPr>
        <p:spPr>
          <a:xfrm>
            <a:off x="6039636" y="3652182"/>
            <a:ext cx="1856598" cy="954107"/>
          </a:xfrm>
          <a:prstGeom prst="rect">
            <a:avLst/>
          </a:prstGeom>
        </p:spPr>
        <p:txBody>
          <a:bodyPr wrap="none">
            <a:spAutoFit/>
          </a:bodyPr>
          <a:lstStyle/>
          <a:p>
            <a:pPr algn="ctr"/>
            <a:r>
              <a:rPr lang="en-US" sz="2800">
                <a:effectLst>
                  <a:outerShdw blurRad="38100" dist="38100" dir="2700000" algn="tl">
                    <a:srgbClr val="000000">
                      <a:alpha val="43137"/>
                    </a:srgbClr>
                  </a:outerShdw>
                </a:effectLst>
              </a:rPr>
              <a:t>Not seems</a:t>
            </a:r>
          </a:p>
          <a:p>
            <a:pPr algn="ctr"/>
            <a:r>
              <a:rPr lang="en-US" sz="2800">
                <a:effectLst>
                  <a:outerShdw blurRad="38100" dist="38100" dir="2700000" algn="tl">
                    <a:srgbClr val="000000">
                      <a:alpha val="43137"/>
                    </a:srgbClr>
                  </a:outerShdw>
                </a:effectLst>
              </a:rPr>
              <a:t> functional!</a:t>
            </a:r>
            <a:endParaRPr lang="he-IL" sz="2800"/>
          </a:p>
        </p:txBody>
      </p:sp>
      <p:sp>
        <p:nvSpPr>
          <p:cNvPr id="14" name="מלבן 13">
            <a:extLst>
              <a:ext uri="{FF2B5EF4-FFF2-40B4-BE49-F238E27FC236}">
                <a16:creationId xmlns:a16="http://schemas.microsoft.com/office/drawing/2014/main" id="{02324483-A80F-4D58-82B9-29A256902D9B}"/>
              </a:ext>
            </a:extLst>
          </p:cNvPr>
          <p:cNvSpPr/>
          <p:nvPr/>
        </p:nvSpPr>
        <p:spPr>
          <a:xfrm>
            <a:off x="1220782" y="4926101"/>
            <a:ext cx="881588" cy="48768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a:extLst>
              <a:ext uri="{FF2B5EF4-FFF2-40B4-BE49-F238E27FC236}">
                <a16:creationId xmlns:a16="http://schemas.microsoft.com/office/drawing/2014/main" id="{8ADDFBE6-E7DB-4BD8-927E-6E543CF4A20D}"/>
              </a:ext>
            </a:extLst>
          </p:cNvPr>
          <p:cNvSpPr/>
          <p:nvPr/>
        </p:nvSpPr>
        <p:spPr>
          <a:xfrm>
            <a:off x="1162154" y="2512463"/>
            <a:ext cx="1056640" cy="48768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5586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750"/>
                                        <p:tgtEl>
                                          <p:spTgt spid="16"/>
                                        </p:tgtEl>
                                      </p:cBhvr>
                                    </p:animEffect>
                                  </p:childTnLst>
                                </p:cTn>
                              </p:par>
                            </p:childTnLst>
                          </p:cTn>
                        </p:par>
                        <p:par>
                          <p:cTn id="11"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A7A251CB-8C23-41FE-9799-A421CE2669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875E0B6B-661C-42CA-9063-052C482F46B4}"/>
              </a:ext>
            </a:extLst>
          </p:cNvPr>
          <p:cNvSpPr/>
          <p:nvPr/>
        </p:nvSpPr>
        <p:spPr>
          <a:xfrm>
            <a:off x="3910979" y="441841"/>
            <a:ext cx="4743606" cy="646331"/>
          </a:xfrm>
          <a:prstGeom prst="rect">
            <a:avLst/>
          </a:prstGeom>
        </p:spPr>
        <p:txBody>
          <a:bodyPr wrap="none">
            <a:spAutoFit/>
          </a:bodyPr>
          <a:lstStyle/>
          <a:p>
            <a:pPr algn="l" rtl="0">
              <a:spcBef>
                <a:spcPts val="0"/>
              </a:spcBef>
              <a:spcAft>
                <a:spcPts val="0"/>
              </a:spcAft>
            </a:pPr>
            <a:r>
              <a:rPr lang="en-US" sz="3600">
                <a:solidFill>
                  <a:srgbClr val="000000"/>
                </a:solidFill>
                <a:effectLst>
                  <a:outerShdw blurRad="50800" dist="38100" dir="5400000" algn="t" rotWithShape="0">
                    <a:prstClr val="black">
                      <a:alpha val="40000"/>
                    </a:prstClr>
                  </a:outerShdw>
                </a:effectLst>
                <a:latin typeface="Calibri" panose="020F0502020204030204" pitchFamily="34" charset="0"/>
              </a:rPr>
              <a:t>Behind the scenes-while</a:t>
            </a:r>
            <a:endParaRPr lang="en-US" sz="3600">
              <a:effectLst>
                <a:outerShdw blurRad="50800" dist="38100" dir="5400000" algn="t" rotWithShape="0">
                  <a:prstClr val="black">
                    <a:alpha val="40000"/>
                  </a:prstClr>
                </a:outerShdw>
              </a:effectLst>
            </a:endParaRPr>
          </a:p>
        </p:txBody>
      </p:sp>
      <p:sp>
        <p:nvSpPr>
          <p:cNvPr id="5" name="מלבן 4">
            <a:extLst>
              <a:ext uri="{FF2B5EF4-FFF2-40B4-BE49-F238E27FC236}">
                <a16:creationId xmlns:a16="http://schemas.microsoft.com/office/drawing/2014/main" id="{0DF6615E-4B51-4884-AB98-0BA2525C5BFE}"/>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6" name="מלבן 5">
            <a:extLst>
              <a:ext uri="{FF2B5EF4-FFF2-40B4-BE49-F238E27FC236}">
                <a16:creationId xmlns:a16="http://schemas.microsoft.com/office/drawing/2014/main" id="{69A9EF61-0BB9-4422-9106-A1FD46E2BC74}"/>
              </a:ext>
            </a:extLst>
          </p:cNvPr>
          <p:cNvSpPr/>
          <p:nvPr/>
        </p:nvSpPr>
        <p:spPr>
          <a:xfrm>
            <a:off x="1113322" y="1387986"/>
            <a:ext cx="9029346" cy="3908762"/>
          </a:xfrm>
          <a:prstGeom prst="rect">
            <a:avLst/>
          </a:prstGeom>
        </p:spPr>
        <p:txBody>
          <a:bodyPr wrap="square">
            <a:spAutoFit/>
          </a:bodyPr>
          <a:lstStyle/>
          <a:p>
            <a:pPr algn="l"/>
            <a:r>
              <a:rPr lang="en-US" sz="2000">
                <a:effectLst>
                  <a:outerShdw blurRad="38100" dist="38100" dir="2700000" algn="tl">
                    <a:srgbClr val="000000">
                      <a:alpha val="43137"/>
                    </a:srgbClr>
                  </a:outerShdw>
                </a:effectLst>
              </a:rPr>
              <a:t>fun hello-ten-repeat() </a:t>
            </a:r>
          </a:p>
          <a:p>
            <a:pPr algn="l"/>
            <a:r>
              <a:rPr lang="en-US" sz="2000">
                <a:effectLst>
                  <a:outerShdw blurRad="38100" dist="38100" dir="2700000" algn="tl">
                    <a:srgbClr val="000000">
                      <a:alpha val="43137"/>
                    </a:srgbClr>
                  </a:outerShdw>
                </a:effectLst>
              </a:rPr>
              <a:t> repeat(10) fn(_) println("hello")</a:t>
            </a:r>
          </a:p>
          <a:p>
            <a:pPr algn="l"/>
            <a:r>
              <a:rPr lang="en-US" sz="2000">
                <a:effectLst>
                  <a:outerShdw blurRad="38100" dist="38100" dir="2700000" algn="tl">
                    <a:srgbClr val="000000">
                      <a:alpha val="43137"/>
                    </a:srgbClr>
                  </a:outerShdw>
                </a:effectLst>
              </a:rPr>
              <a:t>fun repeat(n : int, f : int -&gt; &lt;console&gt; ()) </a:t>
            </a:r>
          </a:p>
          <a:p>
            <a:pPr algn="l"/>
            <a:r>
              <a:rPr lang="en-US" sz="2000">
                <a:effectLst>
                  <a:outerShdw blurRad="38100" dist="38100" dir="2700000" algn="tl">
                    <a:srgbClr val="000000">
                      <a:alpha val="43137"/>
                    </a:srgbClr>
                  </a:outerShdw>
                </a:effectLst>
              </a:rPr>
              <a:t> if n &gt; 0 then</a:t>
            </a:r>
          </a:p>
          <a:p>
            <a:pPr algn="l"/>
            <a:r>
              <a:rPr lang="en-US" sz="2000">
                <a:effectLst>
                  <a:outerShdw blurRad="38100" dist="38100" dir="2700000" algn="tl">
                    <a:srgbClr val="000000">
                      <a:alpha val="43137"/>
                    </a:srgbClr>
                  </a:outerShdw>
                </a:effectLst>
              </a:rPr>
              <a:t>  f(n - 1)</a:t>
            </a:r>
          </a:p>
          <a:p>
            <a:pPr algn="l"/>
            <a:r>
              <a:rPr lang="en-US" sz="2000">
                <a:effectLst>
                  <a:outerShdw blurRad="38100" dist="38100" dir="2700000" algn="tl">
                    <a:srgbClr val="000000">
                      <a:alpha val="43137"/>
                    </a:srgbClr>
                  </a:outerShdw>
                </a:effectLst>
              </a:rPr>
              <a:t>  repeat(n - 1, f)</a:t>
            </a:r>
          </a:p>
          <a:p>
            <a:pPr algn="l"/>
            <a:r>
              <a:rPr lang="en-US" sz="2000">
                <a:effectLst>
                  <a:outerShdw blurRad="38100" dist="38100" dir="2700000" algn="tl">
                    <a:srgbClr val="000000">
                      <a:alpha val="43137"/>
                    </a:srgbClr>
                  </a:outerShdw>
                </a:effectLst>
              </a:rPr>
              <a:t> else</a:t>
            </a:r>
          </a:p>
          <a:p>
            <a:pPr algn="l"/>
            <a:r>
              <a:rPr lang="en-US" sz="2000">
                <a:effectLst>
                  <a:outerShdw blurRad="38100" dist="38100" dir="2700000" algn="tl">
                    <a:srgbClr val="000000">
                      <a:alpha val="43137"/>
                    </a:srgbClr>
                  </a:outerShdw>
                </a:effectLst>
              </a:rPr>
              <a:t>  ()</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hello-ten-repeat()</a:t>
            </a:r>
          </a:p>
          <a:p>
            <a:pPr algn="l"/>
            <a:endParaRPr lang="en-US" sz="2800" b="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2749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תמונה 13">
            <a:extLst>
              <a:ext uri="{FF2B5EF4-FFF2-40B4-BE49-F238E27FC236}">
                <a16:creationId xmlns:a16="http://schemas.microsoft.com/office/drawing/2014/main" id="{B5F96F90-2B59-4DCD-99CA-F34D255E75C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21A7EE09-8D75-404A-BA39-BA02BD0DF484}"/>
              </a:ext>
            </a:extLst>
          </p:cNvPr>
          <p:cNvSpPr/>
          <p:nvPr/>
        </p:nvSpPr>
        <p:spPr>
          <a:xfrm>
            <a:off x="2216712" y="4157328"/>
            <a:ext cx="9062677" cy="2062103"/>
          </a:xfrm>
          <a:prstGeom prst="rect">
            <a:avLst/>
          </a:prstGeom>
        </p:spPr>
        <p:txBody>
          <a:bodyPr wrap="square">
            <a:spAutoFit/>
          </a:bodyPr>
          <a:lstStyle/>
          <a:p>
            <a:pPr algn="l" rtl="0" eaLnBrk="0" fontAlgn="base" hangingPunct="0">
              <a:spcBef>
                <a:spcPct val="0"/>
              </a:spcBef>
              <a:spcAft>
                <a:spcPct val="0"/>
              </a:spcAft>
            </a:pPr>
            <a:r>
              <a:rPr lang="en-US" altLang="he-IL" sz="2000">
                <a:solidFill>
                  <a:srgbClr val="009A46"/>
                </a:solidFill>
                <a:effectLst>
                  <a:outerShdw blurRad="38100" dist="38100" dir="2700000" algn="tl">
                    <a:srgbClr val="000000">
                      <a:alpha val="43137"/>
                    </a:srgbClr>
                  </a:outerShdw>
                </a:effectLst>
              </a:rPr>
              <a:t>	</a:t>
            </a:r>
            <a:endParaRPr lang="en-US" sz="2800" b="1">
              <a:solidFill>
                <a:srgbClr val="00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sz="2800" b="1">
                <a:solidFill>
                  <a:srgbClr val="234063"/>
                </a:solidFill>
                <a:effectLst>
                  <a:outerShdw blurRad="38100" dist="38100" dir="2700000" algn="tl">
                    <a:srgbClr val="000000">
                      <a:alpha val="43137"/>
                    </a:srgbClr>
                  </a:outerShdw>
                </a:effectLst>
              </a:rPr>
              <a:t>Reliability –</a:t>
            </a:r>
          </a:p>
          <a:p>
            <a:pPr algn="l" rtl="0" eaLnBrk="0" fontAlgn="base" hangingPunct="0">
              <a:spcBef>
                <a:spcPct val="0"/>
              </a:spcBef>
              <a:spcAft>
                <a:spcPct val="0"/>
              </a:spcAft>
            </a:pPr>
            <a:r>
              <a:rPr lang="en-US" sz="2000">
                <a:solidFill>
                  <a:srgbClr val="234063"/>
                </a:solidFill>
                <a:effectLst>
                  <a:outerShdw blurRad="38100" dist="38100" dir="2700000" algn="tl">
                    <a:srgbClr val="000000">
                      <a:alpha val="43137"/>
                    </a:srgbClr>
                  </a:outerShdw>
                </a:effectLst>
              </a:rPr>
              <a:t>- effects </a:t>
            </a:r>
            <a:r>
              <a:rPr lang="en-US" sz="2000">
                <a:solidFill>
                  <a:srgbClr val="234063"/>
                </a:solidFill>
                <a:effectLst>
                  <a:outerShdw blurRad="38100" dist="38100" dir="2700000" algn="tl">
                    <a:srgbClr val="000000">
                      <a:alpha val="43137"/>
                    </a:srgbClr>
                  </a:outerShdw>
                </a:effectLst>
                <a:sym typeface="Wingdings" panose="05000000000000000000" pitchFamily="2" charset="2"/>
              </a:rPr>
              <a:t></a:t>
            </a:r>
            <a:endParaRPr lang="he-IL" altLang="he-IL" sz="2000">
              <a:solidFill>
                <a:srgbClr val="234063"/>
              </a:solidFill>
              <a:latin typeface="Arial" panose="020B0604020202020204" pitchFamily="34" charset="0"/>
            </a:endParaRPr>
          </a:p>
          <a:p>
            <a:pPr lvl="0" algn="l" rtl="0" eaLnBrk="0" fontAlgn="base" hangingPunct="0">
              <a:spcBef>
                <a:spcPct val="0"/>
              </a:spcBef>
              <a:spcAft>
                <a:spcPct val="0"/>
              </a:spcAft>
            </a:pPr>
            <a:r>
              <a:rPr lang="en-US" altLang="he-IL" sz="2000">
                <a:solidFill>
                  <a:srgbClr val="234063"/>
                </a:solidFill>
                <a:effectLst>
                  <a:outerShdw blurRad="38100" dist="38100" dir="2700000" algn="tl">
                    <a:srgbClr val="000000">
                      <a:alpha val="43137"/>
                    </a:srgbClr>
                  </a:outerShdw>
                </a:effectLst>
              </a:rPr>
              <a:t>- </a:t>
            </a:r>
            <a:r>
              <a:rPr lang="he-IL" altLang="he-IL" sz="2000">
                <a:solidFill>
                  <a:srgbClr val="234063"/>
                </a:solidFill>
                <a:effectLst>
                  <a:outerShdw blurRad="38100" dist="38100" dir="2700000" algn="tl">
                    <a:srgbClr val="000000">
                      <a:alpha val="43137"/>
                    </a:srgbClr>
                  </a:outerShdw>
                </a:effectLst>
              </a:rPr>
              <a:t>type checking </a:t>
            </a:r>
            <a:r>
              <a:rPr lang="en-US" altLang="he-IL" sz="2000">
                <a:solidFill>
                  <a:srgbClr val="234063"/>
                </a:solidFill>
                <a:effectLst>
                  <a:outerShdw blurRad="38100" dist="38100" dir="2700000" algn="tl">
                    <a:srgbClr val="000000">
                      <a:alpha val="43137"/>
                    </a:srgbClr>
                  </a:outerShdw>
                </a:effectLst>
              </a:rPr>
              <a:t>by the comiler </a:t>
            </a:r>
          </a:p>
          <a:p>
            <a:pPr lvl="0" algn="l" rtl="0" eaLnBrk="0" fontAlgn="base" hangingPunct="0">
              <a:spcBef>
                <a:spcPct val="0"/>
              </a:spcBef>
              <a:spcAft>
                <a:spcPct val="0"/>
              </a:spcAft>
            </a:pPr>
            <a:r>
              <a:rPr lang="en-US" altLang="he-IL" sz="2000">
                <a:solidFill>
                  <a:srgbClr val="234063"/>
                </a:solidFill>
                <a:effectLst>
                  <a:outerShdw blurRad="38100" dist="38100" dir="2700000" algn="tl">
                    <a:srgbClr val="000000">
                      <a:alpha val="43137"/>
                    </a:srgbClr>
                  </a:outerShdw>
                </a:effectLst>
              </a:rPr>
              <a:t>- </a:t>
            </a:r>
            <a:r>
              <a:rPr lang="he-IL" altLang="he-IL" sz="2000">
                <a:solidFill>
                  <a:srgbClr val="234063"/>
                </a:solidFill>
                <a:effectLst>
                  <a:outerShdw blurRad="38100" dist="38100" dir="2700000" algn="tl">
                    <a:srgbClr val="000000">
                      <a:alpha val="43137"/>
                    </a:srgbClr>
                  </a:outerShdw>
                </a:effectLst>
              </a:rPr>
              <a:t>Null safety and exception handling using </a:t>
            </a:r>
            <a:r>
              <a:rPr lang="en-US" altLang="he-IL" sz="2000">
                <a:solidFill>
                  <a:srgbClr val="234063"/>
                </a:solidFill>
                <a:effectLst>
                  <a:outerShdw blurRad="38100" dist="38100" dir="2700000" algn="tl">
                    <a:srgbClr val="000000">
                      <a:alpha val="43137"/>
                    </a:srgbClr>
                  </a:outerShdw>
                </a:effectLst>
              </a:rPr>
              <a:t>m</a:t>
            </a:r>
            <a:r>
              <a:rPr lang="he-IL" altLang="he-IL" sz="2000">
                <a:solidFill>
                  <a:srgbClr val="234063"/>
                </a:solidFill>
                <a:effectLst>
                  <a:outerShdw blurRad="38100" dist="38100" dir="2700000" algn="tl">
                    <a:srgbClr val="000000">
                      <a:alpha val="43137"/>
                    </a:srgbClr>
                  </a:outerShdw>
                </a:effectLst>
              </a:rPr>
              <a:t>aybe types </a:t>
            </a:r>
          </a:p>
          <a:p>
            <a:pPr lvl="0" algn="l" rtl="0" eaLnBrk="0" fontAlgn="base" hangingPunct="0">
              <a:spcBef>
                <a:spcPct val="0"/>
              </a:spcBef>
              <a:spcAft>
                <a:spcPct val="0"/>
              </a:spcAft>
            </a:pPr>
            <a:endParaRPr lang="en-US" sz="1000">
              <a:solidFill>
                <a:srgbClr val="00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endParaRPr lang="en-US" sz="1000">
              <a:solidFill>
                <a:srgbClr val="000000"/>
              </a:solidFill>
              <a:effectLst>
                <a:outerShdw blurRad="38100" dist="38100" dir="2700000" algn="tl">
                  <a:srgbClr val="000000">
                    <a:alpha val="43137"/>
                  </a:srgbClr>
                </a:outerShdw>
              </a:effectLst>
            </a:endParaRPr>
          </a:p>
        </p:txBody>
      </p:sp>
      <p:sp>
        <p:nvSpPr>
          <p:cNvPr id="16" name="מלבן 15">
            <a:extLst>
              <a:ext uri="{FF2B5EF4-FFF2-40B4-BE49-F238E27FC236}">
                <a16:creationId xmlns:a16="http://schemas.microsoft.com/office/drawing/2014/main" id="{E89A3B6A-5FEE-4E5E-BA7E-898FB20DAD67}"/>
              </a:ext>
            </a:extLst>
          </p:cNvPr>
          <p:cNvSpPr/>
          <p:nvPr/>
        </p:nvSpPr>
        <p:spPr>
          <a:xfrm>
            <a:off x="12534206" y="-906853"/>
            <a:ext cx="5438022" cy="10464403"/>
          </a:xfrm>
          <a:prstGeom prst="rect">
            <a:avLst/>
          </a:prstGeom>
        </p:spPr>
        <p:txBody>
          <a:bodyPr wrap="square">
            <a:spAutoFit/>
          </a:bodyPr>
          <a:lstStyle/>
          <a:p>
            <a:pPr lvl="0" rtl="0" eaLnBrk="0" fontAlgn="base" hangingPunct="0">
              <a:spcBef>
                <a:spcPct val="0"/>
              </a:spcBef>
              <a:spcAft>
                <a:spcPct val="0"/>
              </a:spcAft>
            </a:pPr>
            <a:r>
              <a:rPr lang="he-IL" altLang="he-IL" b="1">
                <a:latin typeface="Arial" panose="020B0604020202020204" pitchFamily="34" charset="0"/>
              </a:rPr>
              <a:t>קריאות:</a:t>
            </a:r>
          </a:p>
          <a:p>
            <a:pPr lvl="0" rtl="0" eaLnBrk="0" fontAlgn="base" hangingPunct="0">
              <a:spcBef>
                <a:spcPct val="0"/>
              </a:spcBef>
              <a:spcAft>
                <a:spcPct val="0"/>
              </a:spcAft>
            </a:pPr>
            <a:r>
              <a:rPr lang="he-IL" altLang="he-IL" b="1">
                <a:latin typeface="Arial" panose="020B0604020202020204" pitchFamily="34" charset="0"/>
              </a:rPr>
              <a:t>1. תחביר פשוט ונקי</a:t>
            </a:r>
            <a:endParaRPr lang="en-US" altLang="he-IL" b="1">
              <a:latin typeface="Arial" panose="020B0604020202020204" pitchFamily="34" charset="0"/>
            </a:endParaRPr>
          </a:p>
          <a:p>
            <a:pPr lvl="0" eaLnBrk="0" fontAlgn="base" hangingPunct="0">
              <a:spcBef>
                <a:spcPct val="0"/>
              </a:spcBef>
              <a:spcAft>
                <a:spcPct val="0"/>
              </a:spcAft>
            </a:pPr>
            <a:r>
              <a:rPr lang="he-IL">
                <a:solidFill>
                  <a:srgbClr val="000000"/>
                </a:solidFill>
                <a:latin typeface="Calibri" panose="020F0502020204030204" pitchFamily="34" charset="0"/>
              </a:rPr>
              <a:t>קריאות הקוד ב</a:t>
            </a:r>
            <a:r>
              <a:rPr lang="en-US">
                <a:solidFill>
                  <a:srgbClr val="000000"/>
                </a:solidFill>
                <a:latin typeface="Calibri" panose="020F0502020204030204" pitchFamily="34" charset="0"/>
              </a:rPr>
              <a:t> Koka </a:t>
            </a:r>
            <a:r>
              <a:rPr lang="he-IL">
                <a:solidFill>
                  <a:srgbClr val="000000"/>
                </a:solidFill>
                <a:latin typeface="Calibri" panose="020F0502020204030204" pitchFamily="34" charset="0"/>
              </a:rPr>
              <a:t>טובה יחסית בזכות התחביר הנקי והפשוט. יש הבחנה ברורה בין קוד טהור לקוד עם אפקטים צדדיים שהיא  מקלה על הבנת התנהגות התוכנית.</a:t>
            </a:r>
            <a:endParaRPr lang="he-IL" altLang="he-IL" b="1">
              <a:latin typeface="Arial" panose="020B0604020202020204" pitchFamily="34" charset="0"/>
            </a:endParaRPr>
          </a:p>
          <a:p>
            <a:pPr lvl="0" rtl="0" eaLnBrk="0" fontAlgn="base" hangingPunct="0">
              <a:spcBef>
                <a:spcPct val="0"/>
              </a:spcBef>
              <a:spcAft>
                <a:spcPct val="0"/>
              </a:spcAft>
            </a:pPr>
            <a:r>
              <a:rPr lang="he-IL" altLang="he-IL" b="1">
                <a:latin typeface="Arial" panose="020B0604020202020204" pitchFamily="34" charset="0"/>
              </a:rPr>
              <a:t>2. מערכת אפקטים שקופה</a:t>
            </a:r>
          </a:p>
          <a:p>
            <a:pPr lvl="0" rtl="0" eaLnBrk="0" fontAlgn="base" hangingPunct="0">
              <a:spcBef>
                <a:spcPct val="0"/>
              </a:spcBef>
              <a:spcAft>
                <a:spcPct val="0"/>
              </a:spcAft>
            </a:pPr>
            <a:r>
              <a:rPr lang="he-IL" altLang="he-IL">
                <a:latin typeface="Arial Unicode MS"/>
              </a:rPr>
              <a:t>fun dangerous-operation(): &lt;exn,io,console&gt; result </a:t>
            </a:r>
            <a:endParaRPr lang="he-IL" altLang="he-IL"/>
          </a:p>
          <a:p>
            <a:pPr lvl="0" rtl="0" eaLnBrk="0" fontAlgn="base" hangingPunct="0">
              <a:spcBef>
                <a:spcPct val="0"/>
              </a:spcBef>
              <a:spcAft>
                <a:spcPct val="0"/>
              </a:spcAft>
            </a:pPr>
            <a:r>
              <a:rPr lang="he-IL" altLang="he-IL">
                <a:latin typeface="Arial" panose="020B0604020202020204" pitchFamily="34" charset="0"/>
              </a:rPr>
              <a:t>רואים מייד אילו תופעות לוואי הפונקציה יכולה לגרום.</a:t>
            </a:r>
            <a:br>
              <a:rPr lang="he-IL" altLang="he-IL">
                <a:latin typeface="Arial" panose="020B0604020202020204" pitchFamily="34" charset="0"/>
              </a:rPr>
            </a:br>
            <a:r>
              <a:rPr lang="he-IL" altLang="he-IL">
                <a:latin typeface="Arial" panose="020B0604020202020204" pitchFamily="34" charset="0"/>
              </a:rPr>
              <a:t>פונקציות טהורות לא דורשות סימון אפקטים.</a:t>
            </a:r>
            <a:endParaRPr lang="he-IL" altLang="he-IL" b="1">
              <a:latin typeface="Arial" panose="020B0604020202020204" pitchFamily="34" charset="0"/>
            </a:endParaRPr>
          </a:p>
          <a:p>
            <a:pPr lvl="0" rtl="0" eaLnBrk="0" fontAlgn="base" hangingPunct="0">
              <a:spcBef>
                <a:spcPct val="0"/>
              </a:spcBef>
              <a:spcAft>
                <a:spcPct val="0"/>
              </a:spcAft>
            </a:pPr>
            <a:r>
              <a:rPr lang="he-IL" altLang="he-IL" b="1">
                <a:latin typeface="Arial" panose="020B0604020202020204" pitchFamily="34" charset="0"/>
              </a:rPr>
              <a:t>4. מילים שמורות ברורות</a:t>
            </a:r>
          </a:p>
          <a:p>
            <a:pPr lvl="0" rtl="0" eaLnBrk="0" fontAlgn="base" hangingPunct="0">
              <a:spcBef>
                <a:spcPct val="0"/>
              </a:spcBef>
              <a:spcAft>
                <a:spcPct val="0"/>
              </a:spcAft>
            </a:pPr>
            <a:r>
              <a:rPr lang="he-IL" altLang="he-IL">
                <a:latin typeface="Arial" panose="020B0604020202020204" pitchFamily="34" charset="0"/>
              </a:rPr>
              <a:t>כמו </a:t>
            </a:r>
            <a:endParaRPr lang="en-US" altLang="he-IL">
              <a:latin typeface="Arial" panose="020B0604020202020204" pitchFamily="34" charset="0"/>
            </a:endParaRPr>
          </a:p>
          <a:p>
            <a:pPr lvl="0" rtl="0" eaLnBrk="0" fontAlgn="base" hangingPunct="0">
              <a:spcBef>
                <a:spcPct val="0"/>
              </a:spcBef>
              <a:spcAft>
                <a:spcPct val="0"/>
              </a:spcAft>
            </a:pPr>
            <a:r>
              <a:rPr lang="he-IL" altLang="he-IL">
                <a:latin typeface="Arial Unicode MS"/>
              </a:rPr>
              <a:t>fun</a:t>
            </a:r>
            <a:r>
              <a:rPr lang="he-IL" altLang="he-IL"/>
              <a:t>, </a:t>
            </a:r>
            <a:r>
              <a:rPr lang="he-IL" altLang="he-IL">
                <a:latin typeface="Arial Unicode MS"/>
              </a:rPr>
              <a:t>type</a:t>
            </a:r>
            <a:r>
              <a:rPr lang="he-IL" altLang="he-IL"/>
              <a:t>, </a:t>
            </a:r>
            <a:r>
              <a:rPr lang="he-IL" altLang="he-IL">
                <a:latin typeface="Arial Unicode MS"/>
              </a:rPr>
              <a:t>match</a:t>
            </a:r>
            <a:r>
              <a:rPr lang="he-IL" altLang="he-IL"/>
              <a:t>, </a:t>
            </a:r>
            <a:r>
              <a:rPr lang="he-IL" altLang="he-IL">
                <a:latin typeface="Arial Unicode MS"/>
              </a:rPr>
              <a:t>val</a:t>
            </a:r>
          </a:p>
          <a:p>
            <a:pPr lvl="0" rtl="0" eaLnBrk="0" fontAlgn="base" hangingPunct="0">
              <a:spcBef>
                <a:spcPct val="0"/>
              </a:spcBef>
              <a:spcAft>
                <a:spcPct val="0"/>
              </a:spcAft>
            </a:pPr>
            <a:r>
              <a:rPr lang="he-IL" altLang="he-IL"/>
              <a:t> </a:t>
            </a:r>
          </a:p>
          <a:p>
            <a:r>
              <a:rPr lang="he-IL" b="1">
                <a:solidFill>
                  <a:srgbClr val="000000"/>
                </a:solidFill>
                <a:latin typeface="Calibri" panose="020F0502020204030204" pitchFamily="34" charset="0"/>
              </a:rPr>
              <a:t>כתיבות:</a:t>
            </a:r>
            <a:endParaRPr lang="he-IL"/>
          </a:p>
          <a:p>
            <a:r>
              <a:rPr lang="he-IL">
                <a:solidFill>
                  <a:srgbClr val="000000"/>
                </a:solidFill>
                <a:latin typeface="Calibri" panose="020F0502020204030204" pitchFamily="34" charset="0"/>
              </a:rPr>
              <a:t>הכתיבה ב</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 יכולה להיות מאתגרת למתכנתים המורגלים בשפות אימפרטיביות, בשל הצורך לנהל אפקטים באופן מפורש. זה הופך אותה גם לפחות פשוטה. עם זאת, לאחר ההתרגלות לענין האפקטים, השפה מאפשרת כתיבה ברורה ומבנית של קוד.</a:t>
            </a:r>
          </a:p>
          <a:p>
            <a:endParaRPr lang="he-IL">
              <a:solidFill>
                <a:srgbClr val="000000"/>
              </a:solidFill>
              <a:latin typeface="Calibri" panose="020F0502020204030204" pitchFamily="34" charset="0"/>
            </a:endParaRPr>
          </a:p>
          <a:p>
            <a:r>
              <a:rPr lang="he-IL" b="1">
                <a:solidFill>
                  <a:srgbClr val="000000"/>
                </a:solidFill>
                <a:latin typeface="Calibri" panose="020F0502020204030204" pitchFamily="34" charset="0"/>
              </a:rPr>
              <a:t>אמינות:</a:t>
            </a:r>
          </a:p>
          <a:p>
            <a:r>
              <a:rPr lang="he-IL">
                <a:solidFill>
                  <a:srgbClr val="000000"/>
                </a:solidFill>
                <a:latin typeface="Calibri" panose="020F0502020204030204" pitchFamily="34" charset="0"/>
              </a:rPr>
              <a:t>האמינות ב</a:t>
            </a:r>
            <a:r>
              <a:rPr lang="en-US">
                <a:solidFill>
                  <a:srgbClr val="000000"/>
                </a:solidFill>
                <a:latin typeface="Calibri" panose="020F0502020204030204" pitchFamily="34" charset="0"/>
              </a:rPr>
              <a:t>Koka </a:t>
            </a:r>
            <a:r>
              <a:rPr lang="he-IL">
                <a:solidFill>
                  <a:srgbClr val="000000"/>
                </a:solidFill>
                <a:latin typeface="Calibri" panose="020F0502020204030204" pitchFamily="34" charset="0"/>
              </a:rPr>
              <a:t>גבוהה מאוד בין היתר בזכות ניהול האפקטים המפורש. למשל, פונקציה שאינה מסומנת עם אפקט `</a:t>
            </a:r>
            <a:r>
              <a:rPr lang="en-US">
                <a:solidFill>
                  <a:srgbClr val="000000"/>
                </a:solidFill>
                <a:latin typeface="Calibri" panose="020F0502020204030204" pitchFamily="34" charset="0"/>
              </a:rPr>
              <a:t>exn` </a:t>
            </a:r>
            <a:r>
              <a:rPr lang="he-IL">
                <a:solidFill>
                  <a:srgbClr val="000000"/>
                </a:solidFill>
                <a:latin typeface="Calibri" panose="020F0502020204030204" pitchFamily="34" charset="0"/>
              </a:rPr>
              <a:t>לעולם לא תזרוק חריגה לא מטופלת, מה שמבטיח התנהגות יותר צפויה וקלה לניתוח.</a:t>
            </a:r>
            <a:br>
              <a:rPr lang="he-IL">
                <a:solidFill>
                  <a:srgbClr val="000000"/>
                </a:solidFill>
                <a:latin typeface="Calibri" panose="020F0502020204030204" pitchFamily="34" charset="0"/>
              </a:rPr>
            </a:br>
            <a:r>
              <a:rPr lang="he-IL">
                <a:solidFill>
                  <a:srgbClr val="000000"/>
                </a:solidFill>
                <a:latin typeface="Calibri" panose="020F0502020204030204" pitchFamily="34" charset="0"/>
              </a:rPr>
              <a:t>אם אין אפקטים  הפונקציה בטוחה לעומת זאת אם יש ניתן לדעת בדיוק מה מסוכן בגלל האפקטים וזה מבטיח שאין הפתעות בהרצה, אין קריסות לא צפויות </a:t>
            </a:r>
            <a:endParaRPr lang="he-IL"/>
          </a:p>
          <a:p>
            <a:r>
              <a:rPr lang="he-IL">
                <a:solidFill>
                  <a:srgbClr val="000000"/>
                </a:solidFill>
                <a:latin typeface="Calibri" panose="020F0502020204030204" pitchFamily="34" charset="0"/>
              </a:rPr>
              <a:t>אפשר לבנות מערכת אמינה שאפשר לדעת בדיוק איפה דברים יכולים להשתבש ואיפה הם בטוחים. בנוסף:</a:t>
            </a:r>
          </a:p>
          <a:p>
            <a:pPr lvl="0" eaLnBrk="0" fontAlgn="base" hangingPunct="0">
              <a:spcBef>
                <a:spcPct val="0"/>
              </a:spcBef>
              <a:spcAft>
                <a:spcPct val="0"/>
              </a:spcAft>
              <a:buFontTx/>
              <a:buChar char="•"/>
            </a:pPr>
            <a:r>
              <a:rPr lang="he-IL" altLang="he-IL" b="1">
                <a:latin typeface="Arial" panose="020B0604020202020204" pitchFamily="34" charset="0"/>
              </a:rPr>
              <a:t>בדיקת טיפוסים חזקה:</a:t>
            </a:r>
            <a:r>
              <a:rPr lang="he-IL" altLang="he-IL">
                <a:latin typeface="Arial" panose="020B0604020202020204" pitchFamily="34" charset="0"/>
              </a:rPr>
              <a:t> הקומפיילר תופס שגיאות מראש – אי אפשר לערבב טיפוסים או לעשות I/O בקוד טהור בטעות.</a:t>
            </a:r>
          </a:p>
          <a:p>
            <a:pPr lvl="0" eaLnBrk="0" fontAlgn="base" hangingPunct="0">
              <a:spcBef>
                <a:spcPct val="0"/>
              </a:spcBef>
              <a:spcAft>
                <a:spcPct val="0"/>
              </a:spcAft>
              <a:buFontTx/>
              <a:buChar char="•"/>
            </a:pPr>
            <a:r>
              <a:rPr lang="he-IL" altLang="he-IL" b="1">
                <a:latin typeface="Arial" panose="020B0604020202020204" pitchFamily="34" charset="0"/>
              </a:rPr>
              <a:t>ללא null וחריגות נסתרות:</a:t>
            </a:r>
            <a:r>
              <a:rPr lang="he-IL" altLang="he-IL">
                <a:latin typeface="Arial" panose="020B0604020202020204" pitchFamily="34" charset="0"/>
              </a:rPr>
              <a:t> משתמשים ב־</a:t>
            </a:r>
            <a:r>
              <a:rPr lang="he-IL" altLang="he-IL" sz="1000">
                <a:latin typeface="Arial Unicode MS"/>
              </a:rPr>
              <a:t>Maybe</a:t>
            </a:r>
            <a:r>
              <a:rPr lang="he-IL" altLang="he-IL" sz="800"/>
              <a:t> ו־</a:t>
            </a:r>
            <a:r>
              <a:rPr lang="he-IL" altLang="he-IL" sz="1000">
                <a:latin typeface="Arial Unicode MS"/>
              </a:rPr>
              <a:t>Result</a:t>
            </a:r>
            <a:r>
              <a:rPr lang="he-IL" altLang="he-IL" sz="800"/>
              <a:t> במקום הפתעות – חייבים לטפל בכל מקרה.</a:t>
            </a:r>
            <a:endParaRPr lang="he-IL" altLang="he-IL">
              <a:latin typeface="Arial" panose="020B0604020202020204" pitchFamily="34" charset="0"/>
            </a:endParaRPr>
          </a:p>
          <a:p>
            <a:endParaRPr lang="he-IL"/>
          </a:p>
          <a:p>
            <a:endParaRPr lang="he-IL"/>
          </a:p>
          <a:p>
            <a:pPr algn="l"/>
            <a:br>
              <a:rPr lang="he-IL"/>
            </a:br>
            <a:endParaRPr lang="he-IL" altLang="he-IL"/>
          </a:p>
        </p:txBody>
      </p:sp>
      <p:pic>
        <p:nvPicPr>
          <p:cNvPr id="39" name="Picture 15" descr="Photo &amp; Image Portfolio by VanReeel | Shutterstock Contributor">
            <a:extLst>
              <a:ext uri="{FF2B5EF4-FFF2-40B4-BE49-F238E27FC236}">
                <a16:creationId xmlns:a16="http://schemas.microsoft.com/office/drawing/2014/main" id="{8A851097-DE2A-46FD-9F04-B207C3863FC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57" b="90000" l="5720" r="89941">
                        <a14:foregroundMark x1="19527" y1="21786" x2="24852" y2="40000"/>
                        <a14:foregroundMark x1="24852" y1="40000" x2="31755" y2="52857"/>
                        <a14:foregroundMark x1="31755" y1="52857" x2="38856" y2="37857"/>
                        <a14:foregroundMark x1="38856" y1="37857" x2="29783" y2="23571"/>
                        <a14:foregroundMark x1="29783" y1="23571" x2="19329" y2="25714"/>
                        <a14:foregroundMark x1="19329" y1="25714" x2="11045" y2="41071"/>
                        <a14:foregroundMark x1="11045" y1="41071" x2="14004" y2="59643"/>
                        <a14:foregroundMark x1="14004" y1="59643" x2="24260" y2="64643"/>
                        <a14:foregroundMark x1="24260" y1="64643" x2="33136" y2="56786"/>
                        <a14:foregroundMark x1="33136" y1="56786" x2="35700" y2="45714"/>
                        <a14:foregroundMark x1="37475" y1="42143" x2="12032" y2="35000"/>
                        <a14:foregroundMark x1="12032" y1="35000" x2="5720" y2="38929"/>
                        <a14:foregroundMark x1="18343" y1="23929" x2="24655" y2="7857"/>
                        <a14:foregroundMark x1="28205" y1="32143" x2="30375" y2="56071"/>
                        <a14:foregroundMark x1="30375" y1="56071" x2="38659" y2="51786"/>
                        <a14:foregroundMark x1="39645" y1="40357" x2="38067" y2="58929"/>
                        <a14:foregroundMark x1="38067" y1="58929" x2="29191" y2="74286"/>
                        <a14:foregroundMark x1="29191" y1="74286" x2="19329" y2="68571"/>
                        <a14:foregroundMark x1="19329" y1="68571" x2="21105" y2="49286"/>
                        <a14:foregroundMark x1="21105" y1="49286" x2="27613" y2="37857"/>
                      </a14:backgroundRemoval>
                    </a14:imgEffect>
                    <a14:imgEffect>
                      <a14:sharpenSoften amount="25000"/>
                    </a14:imgEffect>
                  </a14:imgLayer>
                </a14:imgProps>
              </a:ext>
              <a:ext uri="{28A0092B-C50C-407E-A947-70E740481C1C}">
                <a14:useLocalDpi xmlns:a14="http://schemas.microsoft.com/office/drawing/2010/main" val="0"/>
              </a:ext>
            </a:extLst>
          </a:blip>
          <a:srcRect r="48162"/>
          <a:stretch/>
        </p:blipFill>
        <p:spPr bwMode="auto">
          <a:xfrm>
            <a:off x="172080" y="2687856"/>
            <a:ext cx="1499264" cy="1597290"/>
          </a:xfrm>
          <a:prstGeom prst="rect">
            <a:avLst/>
          </a:prstGeom>
          <a:noFill/>
          <a:effectLst>
            <a:glow rad="88900">
              <a:srgbClr val="FF0000">
                <a:alpha val="60000"/>
              </a:srgb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3" name="מלבן 42">
            <a:extLst>
              <a:ext uri="{FF2B5EF4-FFF2-40B4-BE49-F238E27FC236}">
                <a16:creationId xmlns:a16="http://schemas.microsoft.com/office/drawing/2014/main" id="{4BCD7A55-9577-443B-A8EC-88142AA82764}"/>
              </a:ext>
            </a:extLst>
          </p:cNvPr>
          <p:cNvSpPr/>
          <p:nvPr/>
        </p:nvSpPr>
        <p:spPr>
          <a:xfrm>
            <a:off x="2298633" y="536347"/>
            <a:ext cx="7377801" cy="1446550"/>
          </a:xfrm>
          <a:prstGeom prst="rect">
            <a:avLst/>
          </a:prstGeom>
        </p:spPr>
        <p:txBody>
          <a:bodyPr wrap="square">
            <a:spAutoFit/>
          </a:bodyPr>
          <a:lstStyle/>
          <a:p>
            <a:pPr lvl="0" algn="l" rtl="0" eaLnBrk="0" fontAlgn="base" hangingPunct="0">
              <a:spcBef>
                <a:spcPct val="0"/>
              </a:spcBef>
              <a:spcAft>
                <a:spcPct val="0"/>
              </a:spcAft>
            </a:pPr>
            <a:r>
              <a:rPr lang="en-US" altLang="he-IL" sz="2800" b="1">
                <a:solidFill>
                  <a:srgbClr val="234063"/>
                </a:solidFill>
                <a:effectLst>
                  <a:outerShdw blurRad="38100" dist="38100" dir="2700000" algn="tl">
                    <a:srgbClr val="000000">
                      <a:alpha val="43137"/>
                    </a:srgbClr>
                  </a:outerShdw>
                </a:effectLst>
              </a:rPr>
              <a:t>Readability -</a:t>
            </a:r>
            <a:endParaRPr lang="he-IL" altLang="he-IL" sz="2800" b="1">
              <a:solidFill>
                <a:srgbClr val="234063"/>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altLang="he-IL" sz="2000">
                <a:solidFill>
                  <a:srgbClr val="234063"/>
                </a:solidFill>
                <a:effectLst>
                  <a:outerShdw blurRad="38100" dist="38100" dir="2700000" algn="tl">
                    <a:srgbClr val="000000">
                      <a:alpha val="43137"/>
                    </a:srgbClr>
                  </a:outerShdw>
                </a:effectLst>
              </a:rPr>
              <a:t>- </a:t>
            </a:r>
            <a:r>
              <a:rPr lang="he-IL" altLang="he-IL" sz="2000">
                <a:solidFill>
                  <a:srgbClr val="234063"/>
                </a:solidFill>
                <a:effectLst>
                  <a:outerShdw blurRad="38100" dist="38100" dir="2700000" algn="tl">
                    <a:srgbClr val="000000">
                      <a:alpha val="43137"/>
                    </a:srgbClr>
                  </a:outerShdw>
                </a:effectLst>
              </a:rPr>
              <a:t>Simple &amp; clean code</a:t>
            </a:r>
            <a:endParaRPr lang="en-US" altLang="he-IL" sz="2000">
              <a:solidFill>
                <a:srgbClr val="234063"/>
              </a:solidFill>
              <a:effectLst>
                <a:outerShdw blurRad="38100" dist="38100" dir="2700000" algn="tl">
                  <a:srgbClr val="000000">
                    <a:alpha val="43137"/>
                  </a:srgbClr>
                </a:outerShdw>
              </a:effectLst>
            </a:endParaRPr>
          </a:p>
          <a:p>
            <a:pPr algn="l" rtl="0" eaLnBrk="0" fontAlgn="base" hangingPunct="0">
              <a:spcBef>
                <a:spcPct val="0"/>
              </a:spcBef>
              <a:spcAft>
                <a:spcPct val="0"/>
              </a:spcAft>
            </a:pPr>
            <a:r>
              <a:rPr lang="en-US" altLang="he-IL" sz="2000">
                <a:solidFill>
                  <a:srgbClr val="234063"/>
                </a:solidFill>
                <a:effectLst>
                  <a:outerShdw blurRad="38100" dist="38100" dir="2700000" algn="tl">
                    <a:srgbClr val="000000">
                      <a:alpha val="43137"/>
                    </a:srgbClr>
                  </a:outerShdw>
                </a:effectLst>
              </a:rPr>
              <a:t>- </a:t>
            </a:r>
            <a:r>
              <a:rPr lang="en-US" sz="2000">
                <a:solidFill>
                  <a:srgbClr val="234063"/>
                </a:solidFill>
                <a:effectLst>
                  <a:outerShdw blurRad="38100" dist="38100" dir="2700000" algn="tl">
                    <a:srgbClr val="000000">
                      <a:alpha val="43137"/>
                    </a:srgbClr>
                  </a:outerShdw>
                </a:effectLst>
              </a:rPr>
              <a:t>effects </a:t>
            </a:r>
            <a:r>
              <a:rPr lang="en-US" sz="2000">
                <a:solidFill>
                  <a:srgbClr val="234063"/>
                </a:solidFill>
                <a:effectLst>
                  <a:outerShdw blurRad="38100" dist="38100" dir="2700000" algn="tl">
                    <a:srgbClr val="000000">
                      <a:alpha val="43137"/>
                    </a:srgbClr>
                  </a:outerShdw>
                </a:effectLst>
                <a:sym typeface="Wingdings" panose="05000000000000000000" pitchFamily="2" charset="2"/>
              </a:rPr>
              <a:t></a:t>
            </a:r>
            <a:endParaRPr lang="he-IL" altLang="he-IL" sz="2000">
              <a:solidFill>
                <a:srgbClr val="234063"/>
              </a:solidFill>
              <a:latin typeface="Arial" panose="020B0604020202020204" pitchFamily="34" charset="0"/>
            </a:endParaRPr>
          </a:p>
          <a:p>
            <a:pPr lvl="0" algn="l" rtl="0" eaLnBrk="0" fontAlgn="base" hangingPunct="0">
              <a:spcBef>
                <a:spcPct val="0"/>
              </a:spcBef>
              <a:spcAft>
                <a:spcPct val="0"/>
              </a:spcAft>
            </a:pPr>
            <a:r>
              <a:rPr lang="en-US" altLang="he-IL" sz="2000">
                <a:solidFill>
                  <a:srgbClr val="234063"/>
                </a:solidFill>
                <a:effectLst>
                  <a:outerShdw blurRad="38100" dist="38100" dir="2700000" algn="tl">
                    <a:srgbClr val="000000">
                      <a:alpha val="43137"/>
                    </a:srgbClr>
                  </a:outerShdw>
                </a:effectLst>
              </a:rPr>
              <a:t>- </a:t>
            </a:r>
            <a:r>
              <a:rPr lang="he-IL" altLang="he-IL" sz="2000">
                <a:solidFill>
                  <a:srgbClr val="234063"/>
                </a:solidFill>
                <a:effectLst>
                  <a:outerShdw blurRad="38100" dist="38100" dir="2700000" algn="tl">
                    <a:srgbClr val="000000">
                      <a:alpha val="43137"/>
                    </a:srgbClr>
                  </a:outerShdw>
                </a:effectLst>
              </a:rPr>
              <a:t>Deterministic </a:t>
            </a:r>
            <a:r>
              <a:rPr lang="en-US" altLang="he-IL" sz="2000">
                <a:solidFill>
                  <a:srgbClr val="234063"/>
                </a:solidFill>
                <a:effectLst>
                  <a:outerShdw blurRad="38100" dist="38100" dir="2700000" algn="tl">
                    <a:srgbClr val="000000">
                      <a:alpha val="43137"/>
                    </a:srgbClr>
                  </a:outerShdw>
                </a:effectLst>
              </a:rPr>
              <a:t>r</a:t>
            </a:r>
            <a:r>
              <a:rPr lang="he-IL" altLang="he-IL" sz="2000">
                <a:solidFill>
                  <a:srgbClr val="234063"/>
                </a:solidFill>
                <a:effectLst>
                  <a:outerShdw blurRad="38100" dist="38100" dir="2700000" algn="tl">
                    <a:srgbClr val="000000">
                      <a:alpha val="43137"/>
                    </a:srgbClr>
                  </a:outerShdw>
                </a:effectLst>
              </a:rPr>
              <a:t>eserved keywords  - fun, type, match, val </a:t>
            </a:r>
            <a:r>
              <a:rPr lang="he-IL" altLang="he-IL">
                <a:solidFill>
                  <a:srgbClr val="234063"/>
                </a:solidFill>
                <a:effectLst>
                  <a:outerShdw blurRad="38100" dist="38100" dir="2700000" algn="tl">
                    <a:srgbClr val="000000">
                      <a:alpha val="43137"/>
                    </a:srgbClr>
                  </a:outerShdw>
                </a:effectLst>
              </a:rPr>
              <a:t>..</a:t>
            </a:r>
            <a:endParaRPr lang="en-US" altLang="he-IL">
              <a:solidFill>
                <a:srgbClr val="234063"/>
              </a:solidFill>
              <a:effectLst>
                <a:outerShdw blurRad="38100" dist="38100" dir="2700000" algn="tl">
                  <a:srgbClr val="000000">
                    <a:alpha val="43137"/>
                  </a:srgbClr>
                </a:outerShdw>
              </a:effectLst>
            </a:endParaRPr>
          </a:p>
        </p:txBody>
      </p:sp>
      <p:sp>
        <p:nvSpPr>
          <p:cNvPr id="45" name="מלבן 44">
            <a:extLst>
              <a:ext uri="{FF2B5EF4-FFF2-40B4-BE49-F238E27FC236}">
                <a16:creationId xmlns:a16="http://schemas.microsoft.com/office/drawing/2014/main" id="{D8A7D6F9-2913-4DFD-913D-09E36866D9CC}"/>
              </a:ext>
            </a:extLst>
          </p:cNvPr>
          <p:cNvSpPr/>
          <p:nvPr/>
        </p:nvSpPr>
        <p:spPr>
          <a:xfrm>
            <a:off x="2298634" y="2767862"/>
            <a:ext cx="6096000" cy="1138773"/>
          </a:xfrm>
          <a:prstGeom prst="rect">
            <a:avLst/>
          </a:prstGeom>
        </p:spPr>
        <p:txBody>
          <a:bodyPr>
            <a:spAutoFit/>
          </a:bodyPr>
          <a:lstStyle/>
          <a:p>
            <a:pPr lvl="0" algn="l" rtl="0" eaLnBrk="0" fontAlgn="base" hangingPunct="0">
              <a:spcBef>
                <a:spcPct val="0"/>
              </a:spcBef>
              <a:spcAft>
                <a:spcPct val="0"/>
              </a:spcAft>
            </a:pPr>
            <a:r>
              <a:rPr lang="en-US" sz="2800" b="1">
                <a:solidFill>
                  <a:srgbClr val="234063"/>
                </a:solidFill>
                <a:effectLst>
                  <a:outerShdw blurRad="38100" dist="38100" dir="2700000" algn="tl">
                    <a:srgbClr val="000000">
                      <a:alpha val="43137"/>
                    </a:srgbClr>
                  </a:outerShdw>
                </a:effectLst>
              </a:rPr>
              <a:t>Writa</a:t>
            </a:r>
            <a:r>
              <a:rPr lang="en-US" sz="2800" b="1">
                <a:solidFill>
                  <a:srgbClr val="CC0000"/>
                </a:solidFill>
                <a:effectLst>
                  <a:outerShdw blurRad="38100" dist="38100" dir="2700000" algn="tl">
                    <a:srgbClr val="000000">
                      <a:alpha val="43137"/>
                    </a:srgbClr>
                  </a:outerShdw>
                </a:effectLst>
              </a:rPr>
              <a:t>bility - </a:t>
            </a:r>
          </a:p>
          <a:p>
            <a:pPr lvl="0" algn="l" rtl="0" eaLnBrk="0" fontAlgn="base" hangingPunct="0">
              <a:spcBef>
                <a:spcPct val="0"/>
              </a:spcBef>
              <a:spcAft>
                <a:spcPct val="0"/>
              </a:spcAft>
            </a:pPr>
            <a:r>
              <a:rPr lang="en-US" sz="2000">
                <a:solidFill>
                  <a:srgbClr val="234063"/>
                </a:solidFill>
                <a:effectLst>
                  <a:outerShdw blurRad="38100" dist="38100" dir="2700000" algn="tl">
                    <a:srgbClr val="000000">
                      <a:alpha val="43137"/>
                    </a:srgbClr>
                  </a:outerShdw>
                </a:effectLst>
              </a:rPr>
              <a:t>- pretty simple but..</a:t>
            </a:r>
          </a:p>
          <a:p>
            <a:pPr lvl="0" algn="l" rtl="0" eaLnBrk="0" fontAlgn="base" hangingPunct="0">
              <a:spcBef>
                <a:spcPct val="0"/>
              </a:spcBef>
              <a:spcAft>
                <a:spcPct val="0"/>
              </a:spcAft>
            </a:pPr>
            <a:r>
              <a:rPr lang="en-US" sz="2000">
                <a:solidFill>
                  <a:srgbClr val="CC0000"/>
                </a:solidFill>
                <a:effectLst>
                  <a:outerShdw blurRad="38100" dist="38100" dir="2700000" algn="tl">
                    <a:srgbClr val="000000">
                      <a:alpha val="43137"/>
                    </a:srgbClr>
                  </a:outerShdw>
                </a:effectLst>
              </a:rPr>
              <a:t>- effects </a:t>
            </a:r>
            <a:r>
              <a:rPr lang="en-US" sz="2000">
                <a:solidFill>
                  <a:srgbClr val="CC0000"/>
                </a:solidFill>
                <a:effectLst>
                  <a:outerShdw blurRad="38100" dist="38100" dir="2700000" algn="tl">
                    <a:srgbClr val="000000">
                      <a:alpha val="43137"/>
                    </a:srgbClr>
                  </a:outerShdw>
                </a:effectLst>
                <a:sym typeface="Wingdings" panose="05000000000000000000" pitchFamily="2" charset="2"/>
              </a:rPr>
              <a:t></a:t>
            </a:r>
            <a:endParaRPr lang="en-US" sz="2000">
              <a:solidFill>
                <a:srgbClr val="CC0000"/>
              </a:solidFill>
              <a:effectLst>
                <a:outerShdw blurRad="38100" dist="38100" dir="2700000" algn="tl">
                  <a:srgbClr val="000000">
                    <a:alpha val="43137"/>
                  </a:srgbClr>
                </a:outerShdw>
              </a:effectLst>
            </a:endParaRPr>
          </a:p>
        </p:txBody>
      </p:sp>
      <p:pic>
        <p:nvPicPr>
          <p:cNvPr id="11" name="Picture 15" descr="Photo &amp; Image Portfolio by VanReeel | Shutterstock Contributor">
            <a:extLst>
              <a:ext uri="{FF2B5EF4-FFF2-40B4-BE49-F238E27FC236}">
                <a16:creationId xmlns:a16="http://schemas.microsoft.com/office/drawing/2014/main" id="{58B2709B-7789-4618-A853-28F2A14BDDC4}"/>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5">
                    <a14:imgEffect>
                      <a14:backgroundRemoval t="8571" b="90000" l="9862" r="94083">
                        <a14:foregroundMark x1="63116" y1="30714" x2="77318" y2="48571"/>
                        <a14:foregroundMark x1="77318" y1="48571" x2="87771" y2="51429"/>
                        <a14:foregroundMark x1="87771" y1="51429" x2="94083" y2="45000"/>
                        <a14:foregroundMark x1="85799" y1="35714" x2="77909" y2="49643"/>
                        <a14:foregroundMark x1="77909" y1="49643" x2="68836" y2="57143"/>
                        <a14:foregroundMark x1="68836" y1="57143" x2="62327" y2="44286"/>
                        <a14:foregroundMark x1="73176" y1="25714" x2="72584" y2="8571"/>
                      </a14:backgroundRemoval>
                    </a14:imgEffect>
                    <a14:imgEffect>
                      <a14:artisticPaintStrokes/>
                    </a14:imgEffect>
                    <a14:imgEffect>
                      <a14:sharpenSoften amount="25000"/>
                    </a14:imgEffect>
                  </a14:imgLayer>
                </a14:imgProps>
              </a:ext>
              <a:ext uri="{28A0092B-C50C-407E-A947-70E740481C1C}">
                <a14:useLocalDpi xmlns:a14="http://schemas.microsoft.com/office/drawing/2010/main" val="0"/>
              </a:ext>
            </a:extLst>
          </a:blip>
          <a:srcRect l="50000" b="8445"/>
          <a:stretch/>
        </p:blipFill>
        <p:spPr bwMode="auto">
          <a:xfrm>
            <a:off x="440829" y="4486924"/>
            <a:ext cx="1499382" cy="1516265"/>
          </a:xfrm>
          <a:prstGeom prst="rect">
            <a:avLst/>
          </a:prstGeom>
          <a:noFill/>
          <a:effectLst>
            <a:glow rad="63500">
              <a:schemeClr val="accent1">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15" descr="Photo &amp; Image Portfolio by VanReeel | Shutterstock Contributor">
            <a:extLst>
              <a:ext uri="{FF2B5EF4-FFF2-40B4-BE49-F238E27FC236}">
                <a16:creationId xmlns:a16="http://schemas.microsoft.com/office/drawing/2014/main" id="{F2F127EF-FBD0-42E3-A938-2B59654DCCAC}"/>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5">
                    <a14:imgEffect>
                      <a14:backgroundRemoval t="8571" b="90000" l="9862" r="94083">
                        <a14:foregroundMark x1="63116" y1="30714" x2="77318" y2="48571"/>
                        <a14:foregroundMark x1="77318" y1="48571" x2="87771" y2="51429"/>
                        <a14:foregroundMark x1="87771" y1="51429" x2="94083" y2="45000"/>
                        <a14:foregroundMark x1="85799" y1="35714" x2="77909" y2="49643"/>
                        <a14:foregroundMark x1="77909" y1="49643" x2="68836" y2="57143"/>
                        <a14:foregroundMark x1="68836" y1="57143" x2="62327" y2="44286"/>
                        <a14:foregroundMark x1="73176" y1="25714" x2="72584" y2="8571"/>
                      </a14:backgroundRemoval>
                    </a14:imgEffect>
                    <a14:imgEffect>
                      <a14:artisticPaintStrokes/>
                    </a14:imgEffect>
                    <a14:imgEffect>
                      <a14:sharpenSoften amount="25000"/>
                    </a14:imgEffect>
                  </a14:imgLayer>
                </a14:imgProps>
              </a:ext>
              <a:ext uri="{28A0092B-C50C-407E-A947-70E740481C1C}">
                <a14:useLocalDpi xmlns:a14="http://schemas.microsoft.com/office/drawing/2010/main" val="0"/>
              </a:ext>
            </a:extLst>
          </a:blip>
          <a:srcRect l="50000" b="8445"/>
          <a:stretch/>
        </p:blipFill>
        <p:spPr bwMode="auto">
          <a:xfrm>
            <a:off x="717448" y="2670867"/>
            <a:ext cx="1499382" cy="1516265"/>
          </a:xfrm>
          <a:prstGeom prst="rect">
            <a:avLst/>
          </a:prstGeom>
          <a:noFill/>
          <a:effectLst>
            <a:glow rad="63500">
              <a:schemeClr val="accent1">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15" descr="Photo &amp; Image Portfolio by VanReeel | Shutterstock Contributor">
            <a:extLst>
              <a:ext uri="{FF2B5EF4-FFF2-40B4-BE49-F238E27FC236}">
                <a16:creationId xmlns:a16="http://schemas.microsoft.com/office/drawing/2014/main" id="{C596D23A-8A02-427E-985E-06998373A454}"/>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5">
                    <a14:imgEffect>
                      <a14:backgroundRemoval t="8571" b="90000" l="9862" r="94083">
                        <a14:foregroundMark x1="63116" y1="30714" x2="77318" y2="48571"/>
                        <a14:foregroundMark x1="77318" y1="48571" x2="87771" y2="51429"/>
                        <a14:foregroundMark x1="87771" y1="51429" x2="94083" y2="45000"/>
                        <a14:foregroundMark x1="85799" y1="35714" x2="77909" y2="49643"/>
                        <a14:foregroundMark x1="77909" y1="49643" x2="68836" y2="57143"/>
                        <a14:foregroundMark x1="68836" y1="57143" x2="62327" y2="44286"/>
                        <a14:foregroundMark x1="73176" y1="25714" x2="72584" y2="8571"/>
                      </a14:backgroundRemoval>
                    </a14:imgEffect>
                    <a14:imgEffect>
                      <a14:artisticPaintStrokes/>
                    </a14:imgEffect>
                    <a14:imgEffect>
                      <a14:sharpenSoften amount="25000"/>
                    </a14:imgEffect>
                  </a14:imgLayer>
                </a14:imgProps>
              </a:ext>
              <a:ext uri="{28A0092B-C50C-407E-A947-70E740481C1C}">
                <a14:useLocalDpi xmlns:a14="http://schemas.microsoft.com/office/drawing/2010/main" val="0"/>
              </a:ext>
            </a:extLst>
          </a:blip>
          <a:srcRect l="50000" b="8445"/>
          <a:stretch/>
        </p:blipFill>
        <p:spPr bwMode="auto">
          <a:xfrm>
            <a:off x="440829" y="655377"/>
            <a:ext cx="1499382" cy="1516265"/>
          </a:xfrm>
          <a:prstGeom prst="rect">
            <a:avLst/>
          </a:prstGeom>
          <a:noFill/>
          <a:effectLst>
            <a:glow rad="63500">
              <a:schemeClr val="accent1">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702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75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7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750"/>
                                        <p:tgtEl>
                                          <p:spTgt spid="3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750"/>
                                        <p:tgtEl>
                                          <p:spTgt spid="45"/>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750"/>
                                        <p:tgtEl>
                                          <p:spTgt spid="5"/>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3"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C03ABD80-B3E0-40CB-A4CB-88EB1630295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72509"/>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21A7EE09-8D75-404A-BA39-BA02BD0DF484}"/>
              </a:ext>
            </a:extLst>
          </p:cNvPr>
          <p:cNvSpPr/>
          <p:nvPr/>
        </p:nvSpPr>
        <p:spPr>
          <a:xfrm>
            <a:off x="2216830" y="4187132"/>
            <a:ext cx="9062677" cy="1446550"/>
          </a:xfrm>
          <a:prstGeom prst="rect">
            <a:avLst/>
          </a:prstGeom>
        </p:spPr>
        <p:txBody>
          <a:bodyPr wrap="square">
            <a:spAutoFit/>
          </a:bodyPr>
          <a:lstStyle/>
          <a:p>
            <a:pPr algn="l" rtl="0" eaLnBrk="0" fontAlgn="base" hangingPunct="0">
              <a:spcBef>
                <a:spcPct val="0"/>
              </a:spcBef>
              <a:spcAft>
                <a:spcPct val="0"/>
              </a:spcAft>
            </a:pPr>
            <a:r>
              <a:rPr lang="en-US" altLang="he-IL" sz="2000" b="1">
                <a:solidFill>
                  <a:srgbClr val="234063"/>
                </a:solidFill>
              </a:rPr>
              <a:t>	</a:t>
            </a:r>
            <a:endParaRPr lang="en-US" sz="2800" b="1">
              <a:solidFill>
                <a:srgbClr val="234063"/>
              </a:solidFill>
            </a:endParaRPr>
          </a:p>
          <a:p>
            <a:pPr lvl="0" algn="l" rtl="0" eaLnBrk="0" fontAlgn="base" hangingPunct="0">
              <a:spcBef>
                <a:spcPct val="0"/>
              </a:spcBef>
              <a:spcAft>
                <a:spcPct val="0"/>
              </a:spcAft>
            </a:pPr>
            <a:r>
              <a:rPr lang="en-US" sz="2800" b="1">
                <a:solidFill>
                  <a:srgbClr val="234063"/>
                </a:solidFill>
                <a:effectLst>
                  <a:outerShdw blurRad="38100" dist="38100" dir="2700000" algn="tl">
                    <a:srgbClr val="000000">
                      <a:alpha val="43137"/>
                    </a:srgbClr>
                  </a:outerShdw>
                </a:effectLst>
              </a:rPr>
              <a:t>Portability -</a:t>
            </a:r>
            <a:endParaRPr lang="he-IL" altLang="he-IL" sz="2800" b="1">
              <a:solidFill>
                <a:srgbClr val="234063"/>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sz="2000">
                <a:solidFill>
                  <a:srgbClr val="234063"/>
                </a:solidFill>
                <a:effectLst>
                  <a:outerShdw blurRad="38100" dist="38100" dir="2700000" algn="tl">
                    <a:srgbClr val="000000">
                      <a:alpha val="43137"/>
                    </a:srgbClr>
                  </a:outerShdw>
                </a:effectLst>
              </a:rPr>
              <a:t>- compiled to C code, which allows for good cross-platform portability. </a:t>
            </a:r>
          </a:p>
          <a:p>
            <a:pPr lvl="0" algn="l" rtl="0" eaLnBrk="0" fontAlgn="base" hangingPunct="0">
              <a:spcBef>
                <a:spcPct val="0"/>
              </a:spcBef>
              <a:spcAft>
                <a:spcPct val="0"/>
              </a:spcAft>
            </a:pPr>
            <a:r>
              <a:rPr lang="en-US" sz="2000">
                <a:solidFill>
                  <a:srgbClr val="234063"/>
                </a:solidFill>
                <a:effectLst>
                  <a:outerShdw blurRad="38100" dist="38100" dir="2700000" algn="tl">
                    <a:srgbClr val="000000">
                      <a:alpha val="43137"/>
                    </a:srgbClr>
                  </a:outerShdw>
                </a:effectLst>
              </a:rPr>
              <a:t>- The compiler is available for Windows, macOS, and Linux</a:t>
            </a:r>
            <a:r>
              <a:rPr lang="en-US" sz="1000">
                <a:solidFill>
                  <a:srgbClr val="009900"/>
                </a:solidFill>
                <a:effectLst>
                  <a:outerShdw blurRad="38100" dist="38100" dir="2700000" algn="tl">
                    <a:srgbClr val="000000">
                      <a:alpha val="43137"/>
                    </a:srgbClr>
                  </a:outerShdw>
                </a:effectLst>
              </a:rPr>
              <a:t>..</a:t>
            </a:r>
            <a:endParaRPr lang="en-US" sz="1000" b="1">
              <a:solidFill>
                <a:srgbClr val="009900"/>
              </a:solidFill>
              <a:effectLst>
                <a:outerShdw blurRad="38100" dist="38100" dir="2700000" algn="tl">
                  <a:srgbClr val="000000">
                    <a:alpha val="43137"/>
                  </a:srgbClr>
                </a:outerShdw>
              </a:effectLst>
            </a:endParaRPr>
          </a:p>
        </p:txBody>
      </p:sp>
      <p:sp>
        <p:nvSpPr>
          <p:cNvPr id="43" name="מלבן 42">
            <a:extLst>
              <a:ext uri="{FF2B5EF4-FFF2-40B4-BE49-F238E27FC236}">
                <a16:creationId xmlns:a16="http://schemas.microsoft.com/office/drawing/2014/main" id="{4BCD7A55-9577-443B-A8EC-88142AA82764}"/>
              </a:ext>
            </a:extLst>
          </p:cNvPr>
          <p:cNvSpPr/>
          <p:nvPr/>
        </p:nvSpPr>
        <p:spPr>
          <a:xfrm>
            <a:off x="2216712" y="257175"/>
            <a:ext cx="6096000" cy="3662541"/>
          </a:xfrm>
          <a:prstGeom prst="rect">
            <a:avLst/>
          </a:prstGeom>
        </p:spPr>
        <p:txBody>
          <a:bodyPr>
            <a:spAutoFit/>
          </a:bodyPr>
          <a:lstStyle/>
          <a:p>
            <a:pPr lvl="0" algn="l" rtl="0" eaLnBrk="0" fontAlgn="base" hangingPunct="0">
              <a:spcBef>
                <a:spcPct val="0"/>
              </a:spcBef>
              <a:spcAft>
                <a:spcPct val="0"/>
              </a:spcAft>
            </a:pPr>
            <a:r>
              <a:rPr lang="en-US" altLang="he-IL" sz="2800" b="1">
                <a:solidFill>
                  <a:srgbClr val="234063"/>
                </a:solidFill>
                <a:effectLst>
                  <a:outerShdw blurRad="38100" dist="38100" dir="2700000" algn="tl">
                    <a:srgbClr val="000000">
                      <a:alpha val="43137"/>
                    </a:srgbClr>
                  </a:outerShdw>
                </a:effectLst>
              </a:rPr>
              <a:t>Co</a:t>
            </a:r>
            <a:r>
              <a:rPr lang="en-US" altLang="he-IL" sz="2800" b="1">
                <a:solidFill>
                  <a:srgbClr val="CC0000"/>
                </a:solidFill>
                <a:effectLst>
                  <a:outerShdw blurRad="38100" dist="38100" dir="2700000" algn="tl">
                    <a:srgbClr val="000000">
                      <a:alpha val="43137"/>
                    </a:srgbClr>
                  </a:outerShdw>
                </a:effectLst>
              </a:rPr>
              <a:t>st</a:t>
            </a:r>
            <a:r>
              <a:rPr lang="en-US" altLang="he-IL" sz="2800" b="1">
                <a:solidFill>
                  <a:srgbClr val="009A46"/>
                </a:solidFill>
                <a:effectLst>
                  <a:outerShdw blurRad="38100" dist="38100" dir="2700000" algn="tl">
                    <a:srgbClr val="000000">
                      <a:alpha val="43137"/>
                    </a:srgbClr>
                  </a:outerShdw>
                </a:effectLst>
              </a:rPr>
              <a:t> </a:t>
            </a:r>
            <a:r>
              <a:rPr lang="en-US" altLang="he-IL" sz="2800" b="1">
                <a:solidFill>
                  <a:srgbClr val="234063"/>
                </a:solidFill>
                <a:effectLst>
                  <a:outerShdw blurRad="38100" dist="38100" dir="2700000" algn="tl">
                    <a:srgbClr val="000000">
                      <a:alpha val="43137"/>
                    </a:srgbClr>
                  </a:outerShdw>
                </a:effectLst>
              </a:rPr>
              <a:t>–</a:t>
            </a:r>
          </a:p>
          <a:p>
            <a:pPr lvl="0" algn="l" rtl="0" eaLnBrk="0" fontAlgn="base" hangingPunct="0">
              <a:spcBef>
                <a:spcPct val="0"/>
              </a:spcBef>
              <a:spcAft>
                <a:spcPct val="0"/>
              </a:spcAft>
            </a:pPr>
            <a:r>
              <a:rPr lang="he-IL" altLang="he-IL" sz="2000" b="1">
                <a:solidFill>
                  <a:srgbClr val="CC0000"/>
                </a:solidFill>
                <a:effectLst>
                  <a:outerShdw blurRad="38100" dist="38100" dir="2700000" algn="tl">
                    <a:srgbClr val="000000">
                      <a:alpha val="43137"/>
                    </a:srgbClr>
                  </a:outerShdw>
                </a:effectLst>
              </a:rPr>
              <a:t>Learning Cost – </a:t>
            </a:r>
            <a:r>
              <a:rPr lang="en-US" altLang="he-IL" sz="2000" b="1">
                <a:solidFill>
                  <a:srgbClr val="CC0000"/>
                </a:solidFill>
                <a:effectLst>
                  <a:outerShdw blurRad="38100" dist="38100" dir="2700000" algn="tl">
                    <a:srgbClr val="000000">
                      <a:alpha val="43137"/>
                    </a:srgbClr>
                  </a:outerShdw>
                </a:effectLst>
              </a:rPr>
              <a:t> </a:t>
            </a:r>
            <a:r>
              <a:rPr lang="he-IL" altLang="he-IL" sz="2000" b="1">
                <a:solidFill>
                  <a:srgbClr val="CC0000"/>
                </a:solidFill>
                <a:effectLst>
                  <a:outerShdw blurRad="38100" dist="38100" dir="2700000" algn="tl">
                    <a:srgbClr val="000000">
                      <a:alpha val="43137"/>
                    </a:srgbClr>
                  </a:outerShdw>
                </a:effectLst>
              </a:rPr>
              <a:t>High</a:t>
            </a:r>
            <a:endParaRPr lang="he-IL" altLang="he-IL" sz="2000">
              <a:solidFill>
                <a:srgbClr val="CC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altLang="he-IL" sz="2000">
                <a:solidFill>
                  <a:srgbClr val="CC0000"/>
                </a:solidFill>
                <a:effectLst>
                  <a:outerShdw blurRad="38100" dist="38100" dir="2700000" algn="tl">
                    <a:srgbClr val="000000">
                      <a:alpha val="43137"/>
                    </a:srgbClr>
                  </a:outerShdw>
                </a:effectLst>
              </a:rPr>
              <a:t>- </a:t>
            </a:r>
            <a:r>
              <a:rPr lang="he-IL" altLang="he-IL" sz="2000">
                <a:solidFill>
                  <a:srgbClr val="CC0000"/>
                </a:solidFill>
                <a:effectLst>
                  <a:outerShdw blurRad="38100" dist="38100" dir="2700000" algn="tl">
                    <a:srgbClr val="000000">
                      <a:alpha val="43137"/>
                    </a:srgbClr>
                  </a:outerShdw>
                </a:effectLst>
              </a:rPr>
              <a:t>language with advanced concepts - </a:t>
            </a:r>
            <a:r>
              <a:rPr lang="he-IL" altLang="he-IL" sz="2000" b="1">
                <a:solidFill>
                  <a:srgbClr val="CC0000"/>
                </a:solidFill>
                <a:effectLst>
                  <a:outerShdw blurRad="38100" dist="38100" dir="2700000" algn="tl">
                    <a:srgbClr val="000000">
                      <a:alpha val="43137"/>
                    </a:srgbClr>
                  </a:outerShdw>
                </a:effectLst>
              </a:rPr>
              <a:t>effect types</a:t>
            </a:r>
            <a:endParaRPr lang="he-IL" altLang="he-IL" sz="2000">
              <a:solidFill>
                <a:srgbClr val="CC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he-IL" altLang="he-IL" sz="2000">
                <a:solidFill>
                  <a:srgbClr val="CC0000"/>
                </a:solidFill>
                <a:effectLst>
                  <a:outerShdw blurRad="38100" dist="38100" dir="2700000" algn="tl">
                    <a:srgbClr val="000000">
                      <a:alpha val="43137"/>
                    </a:srgbClr>
                  </a:outerShdw>
                </a:effectLst>
              </a:rPr>
              <a:t> -Requires functional programming knowledge</a:t>
            </a:r>
          </a:p>
          <a:p>
            <a:pPr lvl="0" algn="l" rtl="0" eaLnBrk="0" fontAlgn="base" hangingPunct="0">
              <a:spcBef>
                <a:spcPct val="0"/>
              </a:spcBef>
              <a:spcAft>
                <a:spcPct val="0"/>
              </a:spcAft>
            </a:pPr>
            <a:r>
              <a:rPr lang="en-US" altLang="he-IL" sz="2000">
                <a:solidFill>
                  <a:srgbClr val="CC0000"/>
                </a:solidFill>
                <a:effectLst>
                  <a:outerShdw blurRad="38100" dist="38100" dir="2700000" algn="tl">
                    <a:srgbClr val="000000">
                      <a:alpha val="43137"/>
                    </a:srgbClr>
                  </a:outerShdw>
                </a:effectLst>
              </a:rPr>
              <a:t>-</a:t>
            </a:r>
            <a:r>
              <a:rPr lang="he-IL" altLang="he-IL" sz="2000">
                <a:solidFill>
                  <a:srgbClr val="CC0000"/>
                </a:solidFill>
                <a:effectLst>
                  <a:outerShdw blurRad="38100" dist="38100" dir="2700000" algn="tl">
                    <a:srgbClr val="000000">
                      <a:alpha val="43137"/>
                    </a:srgbClr>
                  </a:outerShdw>
                </a:effectLst>
              </a:rPr>
              <a:t> Limited learning resources available</a:t>
            </a:r>
          </a:p>
          <a:p>
            <a:pPr lvl="0" algn="l" rtl="0" eaLnBrk="0" fontAlgn="base" hangingPunct="0">
              <a:spcBef>
                <a:spcPct val="0"/>
              </a:spcBef>
              <a:spcAft>
                <a:spcPct val="0"/>
              </a:spcAft>
            </a:pPr>
            <a:r>
              <a:rPr lang="he-IL" altLang="he-IL" b="1">
                <a:solidFill>
                  <a:srgbClr val="234063"/>
                </a:solidFill>
                <a:effectLst>
                  <a:outerShdw blurRad="38100" dist="38100" dir="2700000" algn="tl">
                    <a:srgbClr val="000000">
                      <a:alpha val="43137"/>
                    </a:srgbClr>
                  </a:outerShdw>
                </a:effectLst>
              </a:rPr>
              <a:t>Compilation Cost – </a:t>
            </a:r>
            <a:r>
              <a:rPr lang="en-US" altLang="he-IL" b="1">
                <a:solidFill>
                  <a:srgbClr val="234063"/>
                </a:solidFill>
                <a:effectLst>
                  <a:outerShdw blurRad="38100" dist="38100" dir="2700000" algn="tl">
                    <a:srgbClr val="000000">
                      <a:alpha val="43137"/>
                    </a:srgbClr>
                  </a:outerShdw>
                </a:effectLst>
              </a:rPr>
              <a:t> </a:t>
            </a:r>
            <a:r>
              <a:rPr lang="he-IL" altLang="he-IL" b="1">
                <a:solidFill>
                  <a:srgbClr val="234063"/>
                </a:solidFill>
                <a:effectLst>
                  <a:outerShdw blurRad="38100" dist="38100" dir="2700000" algn="tl">
                    <a:srgbClr val="000000">
                      <a:alpha val="43137"/>
                    </a:srgbClr>
                  </a:outerShdw>
                </a:effectLst>
              </a:rPr>
              <a:t>Low</a:t>
            </a:r>
            <a:endParaRPr lang="he-IL" altLang="he-IL">
              <a:solidFill>
                <a:srgbClr val="234063"/>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he-IL" altLang="he-IL">
                <a:solidFill>
                  <a:srgbClr val="234063"/>
                </a:solidFill>
                <a:effectLst>
                  <a:outerShdw blurRad="38100" dist="38100" dir="2700000" algn="tl">
                    <a:srgbClr val="000000">
                      <a:alpha val="43137"/>
                    </a:srgbClr>
                  </a:outerShdw>
                </a:effectLst>
              </a:rPr>
              <a:t> -</a:t>
            </a:r>
            <a:r>
              <a:rPr lang="he-IL" altLang="he-IL" sz="2000">
                <a:solidFill>
                  <a:srgbClr val="234063"/>
                </a:solidFill>
                <a:effectLst>
                  <a:outerShdw blurRad="38100" dist="38100" dir="2700000" algn="tl">
                    <a:srgbClr val="000000">
                      <a:alpha val="43137"/>
                    </a:srgbClr>
                  </a:outerShdw>
                </a:effectLst>
              </a:rPr>
              <a:t>Fast and efficient compiler </a:t>
            </a:r>
            <a:r>
              <a:rPr lang="en-US" altLang="he-IL" sz="2000">
                <a:solidFill>
                  <a:srgbClr val="234063"/>
                </a:solidFill>
                <a:effectLst>
                  <a:outerShdw blurRad="38100" dist="38100" dir="2700000" algn="tl">
                    <a:srgbClr val="000000">
                      <a:alpha val="43137"/>
                    </a:srgbClr>
                  </a:outerShdw>
                </a:effectLst>
              </a:rPr>
              <a:t>g</a:t>
            </a:r>
            <a:r>
              <a:rPr lang="he-IL" altLang="he-IL" sz="2000">
                <a:solidFill>
                  <a:srgbClr val="234063"/>
                </a:solidFill>
                <a:effectLst>
                  <a:outerShdw blurRad="38100" dist="38100" dir="2700000" algn="tl">
                    <a:srgbClr val="000000">
                      <a:alpha val="43137"/>
                    </a:srgbClr>
                  </a:outerShdw>
                </a:effectLst>
              </a:rPr>
              <a:t>enerates good code  </a:t>
            </a:r>
          </a:p>
          <a:p>
            <a:pPr lvl="0" algn="l" rtl="0" eaLnBrk="0" fontAlgn="base" hangingPunct="0">
              <a:spcBef>
                <a:spcPct val="0"/>
              </a:spcBef>
              <a:spcAft>
                <a:spcPct val="0"/>
              </a:spcAft>
            </a:pPr>
            <a:r>
              <a:rPr lang="he-IL" altLang="he-IL" b="1">
                <a:solidFill>
                  <a:srgbClr val="234063"/>
                </a:solidFill>
                <a:effectLst>
                  <a:outerShdw blurRad="38100" dist="38100" dir="2700000" algn="tl">
                    <a:srgbClr val="000000">
                      <a:alpha val="43137"/>
                    </a:srgbClr>
                  </a:outerShdw>
                </a:effectLst>
              </a:rPr>
              <a:t>Development </a:t>
            </a:r>
            <a:r>
              <a:rPr lang="he-IL" altLang="he-IL" b="1">
                <a:solidFill>
                  <a:srgbClr val="CC0000"/>
                </a:solidFill>
                <a:effectLst>
                  <a:outerShdw blurRad="38100" dist="38100" dir="2700000" algn="tl">
                    <a:srgbClr val="000000">
                      <a:alpha val="43137"/>
                    </a:srgbClr>
                  </a:outerShdw>
                </a:effectLst>
              </a:rPr>
              <a:t>Cost – </a:t>
            </a:r>
            <a:r>
              <a:rPr lang="en-US" altLang="he-IL" b="1">
                <a:solidFill>
                  <a:srgbClr val="CC0000"/>
                </a:solidFill>
                <a:effectLst>
                  <a:outerShdw blurRad="38100" dist="38100" dir="2700000" algn="tl">
                    <a:srgbClr val="000000">
                      <a:alpha val="43137"/>
                    </a:srgbClr>
                  </a:outerShdw>
                </a:effectLst>
              </a:rPr>
              <a:t> </a:t>
            </a:r>
          </a:p>
          <a:p>
            <a:pPr lvl="0" algn="l" rtl="0" eaLnBrk="0" fontAlgn="base" hangingPunct="0">
              <a:spcBef>
                <a:spcPct val="0"/>
              </a:spcBef>
              <a:spcAft>
                <a:spcPct val="0"/>
              </a:spcAft>
            </a:pPr>
            <a:r>
              <a:rPr lang="en-US" altLang="he-IL" sz="2000" b="1">
                <a:solidFill>
                  <a:srgbClr val="CC0000"/>
                </a:solidFill>
                <a:effectLst>
                  <a:outerShdw blurRad="38100" dist="38100" dir="2700000" algn="tl">
                    <a:srgbClr val="000000">
                      <a:alpha val="43137"/>
                    </a:srgbClr>
                  </a:outerShdw>
                </a:effectLst>
              </a:rPr>
              <a:t>- </a:t>
            </a:r>
            <a:r>
              <a:rPr lang="en-US" sz="2000">
                <a:solidFill>
                  <a:srgbClr val="CC0000"/>
                </a:solidFill>
                <a:effectLst>
                  <a:outerShdw blurRad="38100" dist="38100" dir="2700000" algn="tl">
                    <a:srgbClr val="000000">
                      <a:alpha val="43137"/>
                    </a:srgbClr>
                  </a:outerShdw>
                </a:effectLst>
              </a:rPr>
              <a:t>Debugging is not possible</a:t>
            </a:r>
            <a:endParaRPr lang="en-US" altLang="he-IL" sz="2000" b="1">
              <a:solidFill>
                <a:srgbClr val="CC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he-IL" altLang="he-IL" sz="2000">
                <a:solidFill>
                  <a:srgbClr val="234063"/>
                </a:solidFill>
                <a:effectLst>
                  <a:outerShdw blurRad="38100" dist="38100" dir="2700000" algn="tl">
                    <a:srgbClr val="000000">
                      <a:alpha val="43137"/>
                    </a:srgbClr>
                  </a:outerShdw>
                </a:effectLst>
              </a:rPr>
              <a:t> -type system prevents bugs, requires fewer tests</a:t>
            </a:r>
          </a:p>
          <a:p>
            <a:pPr lvl="0" algn="l" rtl="0" eaLnBrk="0" fontAlgn="base" hangingPunct="0">
              <a:spcBef>
                <a:spcPct val="0"/>
              </a:spcBef>
              <a:spcAft>
                <a:spcPct val="0"/>
              </a:spcAft>
            </a:pPr>
            <a:endParaRPr lang="he-IL" altLang="he-IL" sz="2800" b="1">
              <a:solidFill>
                <a:srgbClr val="009A46"/>
              </a:solidFill>
              <a:effectLst>
                <a:outerShdw blurRad="38100" dist="38100" dir="2700000" algn="tl">
                  <a:srgbClr val="000000">
                    <a:alpha val="43137"/>
                  </a:srgbClr>
                </a:outerShdw>
              </a:effectLst>
            </a:endParaRPr>
          </a:p>
        </p:txBody>
      </p:sp>
      <p:sp>
        <p:nvSpPr>
          <p:cNvPr id="11" name="מלבן 10">
            <a:extLst>
              <a:ext uri="{FF2B5EF4-FFF2-40B4-BE49-F238E27FC236}">
                <a16:creationId xmlns:a16="http://schemas.microsoft.com/office/drawing/2014/main" id="{4D6D98E1-3B33-47C5-B150-2211B8777EEE}"/>
              </a:ext>
            </a:extLst>
          </p:cNvPr>
          <p:cNvSpPr/>
          <p:nvPr/>
        </p:nvSpPr>
        <p:spPr>
          <a:xfrm>
            <a:off x="13014458" y="0"/>
            <a:ext cx="6096000" cy="4616648"/>
          </a:xfrm>
          <a:prstGeom prst="rect">
            <a:avLst/>
          </a:prstGeom>
        </p:spPr>
        <p:txBody>
          <a:bodyPr>
            <a:spAutoFit/>
          </a:bodyPr>
          <a:lstStyle/>
          <a:p>
            <a:r>
              <a:rPr lang="he-IL" sz="1400">
                <a:solidFill>
                  <a:srgbClr val="000000"/>
                </a:solidFill>
                <a:latin typeface="Calibri" panose="020F0502020204030204" pitchFamily="34" charset="0"/>
              </a:rPr>
              <a:t>ב"ה</a:t>
            </a:r>
            <a:endParaRPr lang="he-IL" sz="1400" b="0">
              <a:effectLst/>
            </a:endParaRPr>
          </a:p>
          <a:p>
            <a:br>
              <a:rPr lang="en-US" sz="1400">
                <a:solidFill>
                  <a:srgbClr val="000000"/>
                </a:solidFill>
                <a:latin typeface="Calibri" panose="020F0502020204030204" pitchFamily="34" charset="0"/>
              </a:rPr>
            </a:br>
            <a:r>
              <a:rPr lang="he-IL" sz="1400" b="1">
                <a:solidFill>
                  <a:srgbClr val="000000"/>
                </a:solidFill>
                <a:latin typeface="Calibri" panose="020F0502020204030204" pitchFamily="34" charset="0"/>
              </a:rPr>
              <a:t>עלות-</a:t>
            </a:r>
            <a:endParaRPr lang="he-IL" sz="1400" b="0">
              <a:effectLst/>
            </a:endParaRPr>
          </a:p>
          <a:p>
            <a:r>
              <a:rPr lang="he-IL" sz="1400" b="1"/>
              <a:t> עלות למידה – גבוהה</a:t>
            </a:r>
          </a:p>
          <a:p>
            <a:pPr>
              <a:buFont typeface="Arial" panose="020B0604020202020204" pitchFamily="34" charset="0"/>
              <a:buChar char="•"/>
            </a:pPr>
            <a:r>
              <a:rPr lang="he-IL" sz="1400"/>
              <a:t>מדובר בשפה חדשה עם מושגים מתקדמים כמו </a:t>
            </a:r>
            <a:r>
              <a:rPr lang="en-US" sz="1400" b="1"/>
              <a:t>effect types</a:t>
            </a:r>
            <a:endParaRPr lang="en-US" sz="1400"/>
          </a:p>
          <a:p>
            <a:pPr>
              <a:buFont typeface="Arial" panose="020B0604020202020204" pitchFamily="34" charset="0"/>
              <a:buChar char="•"/>
            </a:pPr>
            <a:r>
              <a:rPr lang="he-IL" sz="1400"/>
              <a:t>דורשת היכרות עם תכנות פונקציונלי</a:t>
            </a:r>
          </a:p>
          <a:p>
            <a:pPr>
              <a:buFont typeface="Arial" panose="020B0604020202020204" pitchFamily="34" charset="0"/>
              <a:buChar char="•"/>
            </a:pPr>
            <a:r>
              <a:rPr lang="he-IL" sz="1400"/>
              <a:t>משאבי הלמידה מוגבלים –האתר הרשמי של השפה לא מספיק מפורט וחסר שם מידע על קבצים.</a:t>
            </a:r>
          </a:p>
          <a:p>
            <a:r>
              <a:rPr lang="he-IL" sz="1400" b="1"/>
              <a:t>עלות קומפילציה – נמוכה</a:t>
            </a:r>
          </a:p>
          <a:p>
            <a:pPr>
              <a:buFont typeface="Arial" panose="020B0604020202020204" pitchFamily="34" charset="0"/>
              <a:buChar char="•"/>
            </a:pPr>
            <a:r>
              <a:rPr lang="he-IL" sz="1400"/>
              <a:t>הקומפיילר מהיר ויעיל- מייצר קוד טוב בשפות כמו </a:t>
            </a:r>
            <a:r>
              <a:rPr lang="en-US" sz="1400"/>
              <a:t>C </a:t>
            </a:r>
            <a:r>
              <a:rPr lang="he-IL" sz="1400"/>
              <a:t>ו-</a:t>
            </a:r>
            <a:r>
              <a:rPr lang="en-US" sz="1400"/>
              <a:t>JavaScript</a:t>
            </a:r>
          </a:p>
          <a:p>
            <a:r>
              <a:rPr lang="he-IL" sz="1400" b="1"/>
              <a:t>עלות פיתוח – תלויה בזמן</a:t>
            </a:r>
          </a:p>
          <a:p>
            <a:pPr>
              <a:buFont typeface="Arial" panose="020B0604020202020204" pitchFamily="34" charset="0"/>
              <a:buChar char="•"/>
            </a:pPr>
            <a:r>
              <a:rPr lang="he-IL" sz="1400"/>
              <a:t>ההתחלה איטית, בעיקר בגלל עקומת הלמידה של האפקטים אבל לאורך זמן הפיתוח משתלם: מערכת הטיפוסים ומערכת האפקטים מונעות שגיאות, ויש צורך בפחות בדיקות...</a:t>
            </a:r>
            <a:br>
              <a:rPr lang="he-IL" sz="1400">
                <a:solidFill>
                  <a:srgbClr val="000000"/>
                </a:solidFill>
                <a:latin typeface="Calibri" panose="020F0502020204030204" pitchFamily="34" charset="0"/>
              </a:rPr>
            </a:br>
            <a:br>
              <a:rPr lang="he-IL" sz="1400">
                <a:solidFill>
                  <a:srgbClr val="000000"/>
                </a:solidFill>
                <a:latin typeface="Calibri" panose="020F0502020204030204" pitchFamily="34" charset="0"/>
              </a:rPr>
            </a:br>
            <a:r>
              <a:rPr lang="en-US" sz="1400" b="1">
                <a:solidFill>
                  <a:srgbClr val="000000"/>
                </a:solidFill>
                <a:latin typeface="Calibri" panose="020F0502020204030204" pitchFamily="34" charset="0"/>
              </a:rPr>
              <a:t>Portability -</a:t>
            </a:r>
            <a:r>
              <a:rPr lang="he-IL" sz="1400" b="1">
                <a:solidFill>
                  <a:srgbClr val="000000"/>
                </a:solidFill>
                <a:latin typeface="Calibri" panose="020F0502020204030204" pitchFamily="34" charset="0"/>
              </a:rPr>
              <a:t> ניידות-</a:t>
            </a:r>
            <a:endParaRPr lang="he-IL" sz="1400" b="0">
              <a:effectLst/>
            </a:endParaRPr>
          </a:p>
          <a:p>
            <a:r>
              <a:rPr lang="en-US" sz="1400">
                <a:solidFill>
                  <a:srgbClr val="000000"/>
                </a:solidFill>
                <a:latin typeface="Calibri" panose="020F0502020204030204" pitchFamily="34" charset="0"/>
              </a:rPr>
              <a:t>Koka </a:t>
            </a:r>
            <a:r>
              <a:rPr lang="he-IL" sz="1400">
                <a:solidFill>
                  <a:srgbClr val="000000"/>
                </a:solidFill>
                <a:latin typeface="Calibri" panose="020F0502020204030204" pitchFamily="34" charset="0"/>
              </a:rPr>
              <a:t> מקומפלת לקוד </a:t>
            </a:r>
            <a:r>
              <a:rPr lang="en-US" sz="1400">
                <a:solidFill>
                  <a:srgbClr val="000000"/>
                </a:solidFill>
                <a:latin typeface="Calibri" panose="020F0502020204030204" pitchFamily="34" charset="0"/>
              </a:rPr>
              <a:t>C </a:t>
            </a:r>
            <a:r>
              <a:rPr lang="he-IL" sz="1400">
                <a:solidFill>
                  <a:srgbClr val="000000"/>
                </a:solidFill>
                <a:latin typeface="Calibri" panose="020F0502020204030204" pitchFamily="34" charset="0"/>
              </a:rPr>
              <a:t> מה שמאפשר ניידות טובה בין פלטפורמות כי </a:t>
            </a:r>
            <a:r>
              <a:rPr lang="he-IL" sz="1400"/>
              <a:t>יש גרסאות של קומפיילרים ל־</a:t>
            </a:r>
            <a:r>
              <a:rPr lang="en-US" sz="1400"/>
              <a:t>C </a:t>
            </a:r>
            <a:r>
              <a:rPr lang="he-IL" sz="1400"/>
              <a:t>כמעט לכל מערכת הפעלה וחומרה.</a:t>
            </a:r>
            <a:r>
              <a:rPr lang="he-IL" sz="1400">
                <a:solidFill>
                  <a:srgbClr val="000000"/>
                </a:solidFill>
                <a:latin typeface="Calibri" panose="020F0502020204030204" pitchFamily="34" charset="0"/>
              </a:rPr>
              <a:t> הקומפיילר של קוקה זמין עבור מערכות ההפעלה הנפוצות ביותר: </a:t>
            </a:r>
            <a:r>
              <a:rPr lang="en-US" sz="1400">
                <a:solidFill>
                  <a:srgbClr val="000000"/>
                </a:solidFill>
                <a:latin typeface="Calibri" panose="020F0502020204030204" pitchFamily="34" charset="0"/>
              </a:rPr>
              <a:t>Windows, macOS </a:t>
            </a:r>
            <a:r>
              <a:rPr lang="he-IL" sz="1400">
                <a:solidFill>
                  <a:srgbClr val="000000"/>
                </a:solidFill>
                <a:latin typeface="Calibri" panose="020F0502020204030204" pitchFamily="34" charset="0"/>
              </a:rPr>
              <a:t>ו-</a:t>
            </a:r>
            <a:r>
              <a:rPr lang="en-US" sz="1400">
                <a:solidFill>
                  <a:srgbClr val="000000"/>
                </a:solidFill>
                <a:latin typeface="Calibri" panose="020F0502020204030204" pitchFamily="34" charset="0"/>
              </a:rPr>
              <a:t>Linux.</a:t>
            </a:r>
            <a:r>
              <a:rPr lang="he-IL" sz="1400">
                <a:solidFill>
                  <a:srgbClr val="000000"/>
                </a:solidFill>
                <a:latin typeface="Calibri" panose="020F0502020204030204" pitchFamily="34" charset="0"/>
              </a:rPr>
              <a:t> ועבור מערכות הפעלה אחרות אפשר לתרגם ל</a:t>
            </a:r>
            <a:r>
              <a:rPr lang="en-US" sz="1400">
                <a:solidFill>
                  <a:srgbClr val="000000"/>
                </a:solidFill>
                <a:latin typeface="Calibri" panose="020F0502020204030204" pitchFamily="34" charset="0"/>
              </a:rPr>
              <a:t>c</a:t>
            </a:r>
            <a:r>
              <a:rPr lang="he-IL" sz="1400">
                <a:solidFill>
                  <a:srgbClr val="000000"/>
                </a:solidFill>
                <a:latin typeface="Calibri" panose="020F0502020204030204" pitchFamily="34" charset="0"/>
              </a:rPr>
              <a:t> ומשם לקוקה...</a:t>
            </a:r>
            <a:br>
              <a:rPr lang="en-US" sz="1400">
                <a:solidFill>
                  <a:srgbClr val="000000"/>
                </a:solidFill>
                <a:latin typeface="Calibri" panose="020F0502020204030204" pitchFamily="34" charset="0"/>
              </a:rPr>
            </a:br>
            <a:endParaRPr lang="he-IL" sz="1400"/>
          </a:p>
        </p:txBody>
      </p:sp>
      <p:pic>
        <p:nvPicPr>
          <p:cNvPr id="22" name="Picture 15" descr="Photo &amp; Image Portfolio by VanReeel | Shutterstock Contributor">
            <a:extLst>
              <a:ext uri="{FF2B5EF4-FFF2-40B4-BE49-F238E27FC236}">
                <a16:creationId xmlns:a16="http://schemas.microsoft.com/office/drawing/2014/main" id="{ABEA1397-570E-41F2-BF6A-5232E2AF44E6}"/>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57" b="90000" l="5720" r="89941">
                        <a14:foregroundMark x1="19527" y1="21786" x2="24852" y2="40000"/>
                        <a14:foregroundMark x1="24852" y1="40000" x2="31755" y2="52857"/>
                        <a14:foregroundMark x1="31755" y1="52857" x2="38856" y2="37857"/>
                        <a14:foregroundMark x1="38856" y1="37857" x2="29783" y2="23571"/>
                        <a14:foregroundMark x1="29783" y1="23571" x2="19329" y2="25714"/>
                        <a14:foregroundMark x1="19329" y1="25714" x2="11045" y2="41071"/>
                        <a14:foregroundMark x1="11045" y1="41071" x2="14004" y2="59643"/>
                        <a14:foregroundMark x1="14004" y1="59643" x2="24260" y2="64643"/>
                        <a14:foregroundMark x1="24260" y1="64643" x2="33136" y2="56786"/>
                        <a14:foregroundMark x1="33136" y1="56786" x2="35700" y2="45714"/>
                        <a14:foregroundMark x1="37475" y1="42143" x2="12032" y2="35000"/>
                        <a14:foregroundMark x1="12032" y1="35000" x2="5720" y2="38929"/>
                        <a14:foregroundMark x1="18343" y1="23929" x2="24655" y2="7857"/>
                        <a14:foregroundMark x1="28205" y1="32143" x2="30375" y2="56071"/>
                        <a14:foregroundMark x1="30375" y1="56071" x2="38659" y2="51786"/>
                        <a14:foregroundMark x1="39645" y1="40357" x2="38067" y2="58929"/>
                        <a14:foregroundMark x1="38067" y1="58929" x2="29191" y2="74286"/>
                        <a14:foregroundMark x1="29191" y1="74286" x2="19329" y2="68571"/>
                        <a14:foregroundMark x1="19329" y1="68571" x2="21105" y2="49286"/>
                        <a14:foregroundMark x1="21105" y1="49286" x2="27613" y2="37857"/>
                      </a14:backgroundRemoval>
                    </a14:imgEffect>
                    <a14:imgEffect>
                      <a14:sharpenSoften amount="25000"/>
                    </a14:imgEffect>
                  </a14:imgLayer>
                </a14:imgProps>
              </a:ext>
              <a:ext uri="{28A0092B-C50C-407E-A947-70E740481C1C}">
                <a14:useLocalDpi xmlns:a14="http://schemas.microsoft.com/office/drawing/2010/main" val="0"/>
              </a:ext>
            </a:extLst>
          </a:blip>
          <a:srcRect r="48162"/>
          <a:stretch/>
        </p:blipFill>
        <p:spPr bwMode="auto">
          <a:xfrm>
            <a:off x="171962" y="1451812"/>
            <a:ext cx="1499264" cy="1597290"/>
          </a:xfrm>
          <a:prstGeom prst="rect">
            <a:avLst/>
          </a:prstGeom>
          <a:noFill/>
          <a:effectLst>
            <a:glow rad="88900">
              <a:srgbClr val="FF0000">
                <a:alpha val="60000"/>
              </a:srgb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3" name="Picture 15" descr="Photo &amp; Image Portfolio by VanReeel | Shutterstock Contributor">
            <a:extLst>
              <a:ext uri="{FF2B5EF4-FFF2-40B4-BE49-F238E27FC236}">
                <a16:creationId xmlns:a16="http://schemas.microsoft.com/office/drawing/2014/main" id="{C41F6155-D510-4C5F-9830-8E58A47D614F}"/>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5">
                    <a14:imgEffect>
                      <a14:backgroundRemoval t="8571" b="90000" l="9862" r="94083">
                        <a14:foregroundMark x1="63116" y1="30714" x2="77318" y2="48571"/>
                        <a14:foregroundMark x1="77318" y1="48571" x2="87771" y2="51429"/>
                        <a14:foregroundMark x1="87771" y1="51429" x2="94083" y2="45000"/>
                        <a14:foregroundMark x1="85799" y1="35714" x2="77909" y2="49643"/>
                        <a14:foregroundMark x1="77909" y1="49643" x2="68836" y2="57143"/>
                        <a14:foregroundMark x1="68836" y1="57143" x2="62327" y2="44286"/>
                        <a14:foregroundMark x1="73176" y1="25714" x2="72584" y2="8571"/>
                      </a14:backgroundRemoval>
                    </a14:imgEffect>
                    <a14:imgEffect>
                      <a14:artisticPaintStrokes/>
                    </a14:imgEffect>
                    <a14:imgEffect>
                      <a14:sharpenSoften amount="25000"/>
                    </a14:imgEffect>
                  </a14:imgLayer>
                </a14:imgProps>
              </a:ext>
              <a:ext uri="{28A0092B-C50C-407E-A947-70E740481C1C}">
                <a14:useLocalDpi xmlns:a14="http://schemas.microsoft.com/office/drawing/2010/main" val="0"/>
              </a:ext>
            </a:extLst>
          </a:blip>
          <a:srcRect l="50000" b="8445"/>
          <a:stretch/>
        </p:blipFill>
        <p:spPr bwMode="auto">
          <a:xfrm>
            <a:off x="717448" y="1434823"/>
            <a:ext cx="1499382" cy="1516265"/>
          </a:xfrm>
          <a:prstGeom prst="rect">
            <a:avLst/>
          </a:prstGeom>
          <a:noFill/>
          <a:effectLst>
            <a:glow rad="63500">
              <a:schemeClr val="accent1">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15" descr="Photo &amp; Image Portfolio by VanReeel | Shutterstock Contributor">
            <a:extLst>
              <a:ext uri="{FF2B5EF4-FFF2-40B4-BE49-F238E27FC236}">
                <a16:creationId xmlns:a16="http://schemas.microsoft.com/office/drawing/2014/main" id="{7D1EA8DC-F031-40FA-AA68-565D0F2C1022}"/>
              </a:ext>
            </a:extLst>
          </p:cNvPr>
          <p:cNvPicPr>
            <a:picLocks noChangeAspect="1" noChangeArrowheads="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5">
                    <a14:imgEffect>
                      <a14:backgroundRemoval t="8571" b="90000" l="9862" r="94083">
                        <a14:foregroundMark x1="63116" y1="30714" x2="77318" y2="48571"/>
                        <a14:foregroundMark x1="77318" y1="48571" x2="87771" y2="51429"/>
                        <a14:foregroundMark x1="87771" y1="51429" x2="94083" y2="45000"/>
                        <a14:foregroundMark x1="85799" y1="35714" x2="77909" y2="49643"/>
                        <a14:foregroundMark x1="77909" y1="49643" x2="68836" y2="57143"/>
                        <a14:foregroundMark x1="68836" y1="57143" x2="62327" y2="44286"/>
                        <a14:foregroundMark x1="73176" y1="25714" x2="72584" y2="8571"/>
                      </a14:backgroundRemoval>
                    </a14:imgEffect>
                    <a14:imgEffect>
                      <a14:artisticPaintStrokes/>
                    </a14:imgEffect>
                    <a14:imgEffect>
                      <a14:sharpenSoften amount="25000"/>
                    </a14:imgEffect>
                  </a14:imgLayer>
                </a14:imgProps>
              </a:ext>
              <a:ext uri="{28A0092B-C50C-407E-A947-70E740481C1C}">
                <a14:useLocalDpi xmlns:a14="http://schemas.microsoft.com/office/drawing/2010/main" val="0"/>
              </a:ext>
            </a:extLst>
          </a:blip>
          <a:srcRect l="50000" b="8445"/>
          <a:stretch/>
        </p:blipFill>
        <p:spPr bwMode="auto">
          <a:xfrm>
            <a:off x="481879" y="4345663"/>
            <a:ext cx="1499382" cy="1516265"/>
          </a:xfrm>
          <a:prstGeom prst="rect">
            <a:avLst/>
          </a:prstGeom>
          <a:noFill/>
          <a:effectLst>
            <a:glow rad="63500">
              <a:schemeClr val="accent1">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93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75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7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75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B948C193-B453-4549-BBFB-558FE54614A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7" name="מלבן 6">
            <a:extLst>
              <a:ext uri="{FF2B5EF4-FFF2-40B4-BE49-F238E27FC236}">
                <a16:creationId xmlns:a16="http://schemas.microsoft.com/office/drawing/2014/main" id="{BD192D65-DA84-408A-9F5F-8FA47F938C55}"/>
              </a:ext>
            </a:extLst>
          </p:cNvPr>
          <p:cNvSpPr/>
          <p:nvPr/>
        </p:nvSpPr>
        <p:spPr>
          <a:xfrm>
            <a:off x="11517225" y="2434578"/>
            <a:ext cx="6096000" cy="4001095"/>
          </a:xfrm>
          <a:prstGeom prst="rect">
            <a:avLst/>
          </a:prstGeom>
        </p:spPr>
        <p:txBody>
          <a:bodyPr>
            <a:spAutoFit/>
          </a:bodyPr>
          <a:lstStyle/>
          <a:p>
            <a:pPr>
              <a:spcBef>
                <a:spcPts val="1000"/>
              </a:spcBef>
            </a:pPr>
            <a:br>
              <a:rPr lang="en-US" b="0">
                <a:effectLst/>
              </a:rPr>
            </a:br>
            <a:r>
              <a:rPr lang="he-IL" sz="4000">
                <a:solidFill>
                  <a:srgbClr val="000000"/>
                </a:solidFill>
                <a:latin typeface="Calibri" panose="020F0502020204030204" pitchFamily="34" charset="0"/>
              </a:rPr>
              <a:t>כלליות- </a:t>
            </a:r>
            <a:r>
              <a:rPr lang="he-IL" sz="4000" b="0" i="0" u="none" strike="noStrike">
                <a:solidFill>
                  <a:srgbClr val="000000"/>
                </a:solidFill>
                <a:effectLst/>
                <a:latin typeface="Calibri" panose="020F0502020204030204" pitchFamily="34" charset="0"/>
              </a:rPr>
              <a:t>השפה אינה כללית היא תוכננה במיוחד עבור מחקר ועבור פיתוח של רעיונות תאורטיים בתכנות הפונקציונלי.</a:t>
            </a:r>
            <a:endParaRPr lang="he-IL" b="0">
              <a:effectLst/>
            </a:endParaRPr>
          </a:p>
          <a:p>
            <a:br>
              <a:rPr lang="he-IL"/>
            </a:br>
            <a:endParaRPr lang="he-IL"/>
          </a:p>
        </p:txBody>
      </p:sp>
      <p:sp>
        <p:nvSpPr>
          <p:cNvPr id="8" name="מלבן 7">
            <a:extLst>
              <a:ext uri="{FF2B5EF4-FFF2-40B4-BE49-F238E27FC236}">
                <a16:creationId xmlns:a16="http://schemas.microsoft.com/office/drawing/2014/main" id="{7811DA6F-B62F-4B3F-8AB7-0D443863A4C3}"/>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9" name="מלבן 8">
            <a:extLst>
              <a:ext uri="{FF2B5EF4-FFF2-40B4-BE49-F238E27FC236}">
                <a16:creationId xmlns:a16="http://schemas.microsoft.com/office/drawing/2014/main" id="{33071FE6-A52C-4533-8696-EF8E60DC048C}"/>
              </a:ext>
            </a:extLst>
          </p:cNvPr>
          <p:cNvSpPr/>
          <p:nvPr/>
        </p:nvSpPr>
        <p:spPr>
          <a:xfrm>
            <a:off x="2216830" y="3492961"/>
            <a:ext cx="9062677" cy="1569660"/>
          </a:xfrm>
          <a:prstGeom prst="rect">
            <a:avLst/>
          </a:prstGeom>
        </p:spPr>
        <p:txBody>
          <a:bodyPr wrap="square">
            <a:spAutoFit/>
          </a:bodyPr>
          <a:lstStyle/>
          <a:p>
            <a:pPr algn="l" rtl="0" eaLnBrk="0" fontAlgn="base" hangingPunct="0">
              <a:spcBef>
                <a:spcPct val="0"/>
              </a:spcBef>
              <a:spcAft>
                <a:spcPct val="0"/>
              </a:spcAft>
            </a:pPr>
            <a:r>
              <a:rPr lang="en-US" altLang="he-IL" sz="2000" b="1">
                <a:solidFill>
                  <a:srgbClr val="CC0000"/>
                </a:solidFill>
              </a:rPr>
              <a:t>	</a:t>
            </a:r>
            <a:endParaRPr lang="en-US" sz="2800" b="1">
              <a:solidFill>
                <a:srgbClr val="CC0000"/>
              </a:solidFill>
            </a:endParaRPr>
          </a:p>
          <a:p>
            <a:pPr lvl="0" algn="l" rtl="0" eaLnBrk="0" fontAlgn="base" hangingPunct="0">
              <a:spcBef>
                <a:spcPct val="0"/>
              </a:spcBef>
              <a:spcAft>
                <a:spcPct val="0"/>
              </a:spcAft>
            </a:pPr>
            <a:r>
              <a:rPr lang="en-US" sz="2800" b="1">
                <a:solidFill>
                  <a:srgbClr val="CC0000"/>
                </a:solidFill>
                <a:effectLst>
                  <a:outerShdw blurRad="38100" dist="38100" dir="2700000" algn="tl">
                    <a:srgbClr val="000000">
                      <a:alpha val="43137"/>
                    </a:srgbClr>
                  </a:outerShdw>
                </a:effectLst>
              </a:rPr>
              <a:t>Generality-</a:t>
            </a:r>
            <a:endParaRPr lang="he-IL" altLang="he-IL" sz="2800" b="1">
              <a:solidFill>
                <a:srgbClr val="CC0000"/>
              </a:solidFil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sz="2400">
                <a:solidFill>
                  <a:srgbClr val="CC0000"/>
                </a:solidFill>
                <a:effectLst>
                  <a:outerShdw blurRad="38100" dist="38100" dir="2700000" algn="tl">
                    <a:srgbClr val="000000">
                      <a:alpha val="43137"/>
                    </a:srgbClr>
                  </a:outerShdw>
                </a:effectLst>
              </a:rPr>
              <a:t>- designed specifically for research &amp; development of theoretical ideas in functional programming.</a:t>
            </a:r>
            <a:endParaRPr lang="en-US" sz="1050" b="1">
              <a:solidFill>
                <a:srgbClr val="CC0000"/>
              </a:solidFill>
              <a:effectLst>
                <a:outerShdw blurRad="38100" dist="38100" dir="2700000" algn="tl">
                  <a:srgbClr val="000000">
                    <a:alpha val="43137"/>
                  </a:srgbClr>
                </a:outerShdw>
              </a:effectLst>
            </a:endParaRPr>
          </a:p>
        </p:txBody>
      </p:sp>
      <p:sp>
        <p:nvSpPr>
          <p:cNvPr id="11" name="מלבן 10">
            <a:extLst>
              <a:ext uri="{FF2B5EF4-FFF2-40B4-BE49-F238E27FC236}">
                <a16:creationId xmlns:a16="http://schemas.microsoft.com/office/drawing/2014/main" id="{052C2CCC-79F1-4364-95E1-522428C687EA}"/>
              </a:ext>
            </a:extLst>
          </p:cNvPr>
          <p:cNvSpPr/>
          <p:nvPr/>
        </p:nvSpPr>
        <p:spPr>
          <a:xfrm>
            <a:off x="2181432" y="1029847"/>
            <a:ext cx="6096000" cy="1692771"/>
          </a:xfrm>
          <a:prstGeom prst="rect">
            <a:avLst/>
          </a:prstGeom>
        </p:spPr>
        <p:txBody>
          <a:bodyPr>
            <a:spAutoFit/>
          </a:bodyPr>
          <a:lstStyle/>
          <a:p>
            <a:pPr lvl="0" algn="l" rtl="0" eaLnBrk="0" fontAlgn="base" hangingPunct="0">
              <a:spcBef>
                <a:spcPct val="0"/>
              </a:spcBef>
              <a:spcAft>
                <a:spcPct val="0"/>
              </a:spcAft>
            </a:pPr>
            <a:r>
              <a:rPr lang="en-US" sz="2800" b="1">
                <a:solidFill>
                  <a:srgbClr val="CC0000"/>
                </a:solidFill>
                <a:effectLst>
                  <a:outerShdw blurRad="38100" dist="38100" dir="2700000" algn="tl">
                    <a:srgbClr val="000000">
                      <a:alpha val="43137"/>
                    </a:srgbClr>
                  </a:outerShdw>
                </a:effectLst>
                <a:latin typeface="Calibri" panose="020F0502020204030204" pitchFamily="34" charset="0"/>
              </a:rPr>
              <a:t>Well-definedness</a:t>
            </a:r>
            <a:r>
              <a:rPr lang="en-US" altLang="he-IL" sz="2800" b="1">
                <a:solidFill>
                  <a:srgbClr val="CC0000"/>
                </a:solidFill>
                <a:effectLst>
                  <a:outerShdw blurRad="38100" dist="38100" dir="2700000" algn="tl">
                    <a:srgbClr val="000000">
                      <a:alpha val="43137"/>
                    </a:srgbClr>
                  </a:outerShdw>
                </a:effectLst>
              </a:rPr>
              <a:t> –</a:t>
            </a:r>
          </a:p>
          <a:p>
            <a:pPr lvl="0" algn="l" rtl="0" eaLnBrk="0" fontAlgn="base" hangingPunct="0">
              <a:spcBef>
                <a:spcPct val="0"/>
              </a:spcBef>
              <a:spcAft>
                <a:spcPct val="0"/>
              </a:spcAft>
            </a:pPr>
            <a:r>
              <a:rPr lang="en-US" altLang="he-IL" sz="2400">
                <a:solidFill>
                  <a:srgbClr val="CC0000"/>
                </a:solidFill>
                <a:effectLst>
                  <a:outerShdw blurRad="38100" dist="38100" dir="2700000" algn="tl">
                    <a:srgbClr val="000000">
                      <a:alpha val="43137"/>
                    </a:srgbClr>
                  </a:outerShdw>
                </a:effectLst>
              </a:rPr>
              <a:t>- no information about many things like reading and writing to files. </a:t>
            </a:r>
          </a:p>
          <a:p>
            <a:pPr lvl="0" algn="l" rtl="0" eaLnBrk="0" fontAlgn="base" hangingPunct="0">
              <a:spcBef>
                <a:spcPct val="0"/>
              </a:spcBef>
              <a:spcAft>
                <a:spcPct val="0"/>
              </a:spcAft>
            </a:pPr>
            <a:endParaRPr lang="he-IL" altLang="he-IL" sz="2800" b="1">
              <a:solidFill>
                <a:srgbClr val="CC0000"/>
              </a:solidFill>
            </a:endParaRPr>
          </a:p>
        </p:txBody>
      </p:sp>
      <p:pic>
        <p:nvPicPr>
          <p:cNvPr id="14" name="Picture 15" descr="Photo &amp; Image Portfolio by VanReeel | Shutterstock Contributor">
            <a:extLst>
              <a:ext uri="{FF2B5EF4-FFF2-40B4-BE49-F238E27FC236}">
                <a16:creationId xmlns:a16="http://schemas.microsoft.com/office/drawing/2014/main" id="{E8E0C301-FCDB-4E56-9837-4B7FF5051B4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57" b="90000" l="5720" r="89941">
                        <a14:foregroundMark x1="19527" y1="21786" x2="24852" y2="40000"/>
                        <a14:foregroundMark x1="24852" y1="40000" x2="31755" y2="52857"/>
                        <a14:foregroundMark x1="31755" y1="52857" x2="38856" y2="37857"/>
                        <a14:foregroundMark x1="38856" y1="37857" x2="29783" y2="23571"/>
                        <a14:foregroundMark x1="29783" y1="23571" x2="19329" y2="25714"/>
                        <a14:foregroundMark x1="19329" y1="25714" x2="11045" y2="41071"/>
                        <a14:foregroundMark x1="11045" y1="41071" x2="14004" y2="59643"/>
                        <a14:foregroundMark x1="14004" y1="59643" x2="24260" y2="64643"/>
                        <a14:foregroundMark x1="24260" y1="64643" x2="33136" y2="56786"/>
                        <a14:foregroundMark x1="33136" y1="56786" x2="35700" y2="45714"/>
                        <a14:foregroundMark x1="37475" y1="42143" x2="12032" y2="35000"/>
                        <a14:foregroundMark x1="12032" y1="35000" x2="5720" y2="38929"/>
                        <a14:foregroundMark x1="18343" y1="23929" x2="24655" y2="7857"/>
                        <a14:foregroundMark x1="28205" y1="32143" x2="30375" y2="56071"/>
                        <a14:foregroundMark x1="30375" y1="56071" x2="38659" y2="51786"/>
                        <a14:foregroundMark x1="39645" y1="40357" x2="38067" y2="58929"/>
                        <a14:foregroundMark x1="38067" y1="58929" x2="29191" y2="74286"/>
                        <a14:foregroundMark x1="29191" y1="74286" x2="19329" y2="68571"/>
                        <a14:foregroundMark x1="19329" y1="68571" x2="21105" y2="49286"/>
                        <a14:foregroundMark x1="21105" y1="49286" x2="27613" y2="37857"/>
                      </a14:backgroundRemoval>
                    </a14:imgEffect>
                    <a14:imgEffect>
                      <a14:sharpenSoften amount="25000"/>
                    </a14:imgEffect>
                  </a14:imgLayer>
                </a14:imgProps>
              </a:ext>
              <a:ext uri="{28A0092B-C50C-407E-A947-70E740481C1C}">
                <a14:useLocalDpi xmlns:a14="http://schemas.microsoft.com/office/drawing/2010/main" val="0"/>
              </a:ext>
            </a:extLst>
          </a:blip>
          <a:srcRect r="48162"/>
          <a:stretch/>
        </p:blipFill>
        <p:spPr bwMode="auto">
          <a:xfrm>
            <a:off x="444450" y="3588628"/>
            <a:ext cx="1499264" cy="1597290"/>
          </a:xfrm>
          <a:prstGeom prst="rect">
            <a:avLst/>
          </a:prstGeom>
          <a:noFill/>
          <a:effectLst>
            <a:glow rad="88900">
              <a:srgbClr val="FF0000">
                <a:alpha val="60000"/>
              </a:srgb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מלבן 14">
            <a:extLst>
              <a:ext uri="{FF2B5EF4-FFF2-40B4-BE49-F238E27FC236}">
                <a16:creationId xmlns:a16="http://schemas.microsoft.com/office/drawing/2014/main" id="{85F5C8E1-4303-426B-8F57-55C1887F5EED}"/>
              </a:ext>
            </a:extLst>
          </p:cNvPr>
          <p:cNvSpPr/>
          <p:nvPr/>
        </p:nvSpPr>
        <p:spPr>
          <a:xfrm>
            <a:off x="13324344" y="257175"/>
            <a:ext cx="4213185" cy="1477328"/>
          </a:xfrm>
          <a:prstGeom prst="rect">
            <a:avLst/>
          </a:prstGeom>
        </p:spPr>
        <p:txBody>
          <a:bodyPr wrap="square">
            <a:spAutoFit/>
          </a:bodyPr>
          <a:lstStyle/>
          <a:p>
            <a:r>
              <a:rPr lang="he-IL"/>
              <a:t>השפה אינה מוגדרת כמו שצריך. יש מידע עליה רק באתר הרשמי וחסר שם מידע על הרבה דברים כמו קריאה וכתיבה לקבצים. הרכז שלח מייל לממציא השפה הואו שלח לו דוגמת קוד ולפיה עבדנו.</a:t>
            </a:r>
          </a:p>
        </p:txBody>
      </p:sp>
      <p:pic>
        <p:nvPicPr>
          <p:cNvPr id="16" name="Picture 15" descr="Photo &amp; Image Portfolio by VanReeel | Shutterstock Contributor">
            <a:extLst>
              <a:ext uri="{FF2B5EF4-FFF2-40B4-BE49-F238E27FC236}">
                <a16:creationId xmlns:a16="http://schemas.microsoft.com/office/drawing/2014/main" id="{1284CFEF-63B3-421B-8E77-8F5DB39F1DB3}"/>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7857" b="90000" l="5720" r="89941">
                        <a14:foregroundMark x1="19527" y1="21786" x2="24852" y2="40000"/>
                        <a14:foregroundMark x1="24852" y1="40000" x2="31755" y2="52857"/>
                        <a14:foregroundMark x1="31755" y1="52857" x2="38856" y2="37857"/>
                        <a14:foregroundMark x1="38856" y1="37857" x2="29783" y2="23571"/>
                        <a14:foregroundMark x1="29783" y1="23571" x2="19329" y2="25714"/>
                        <a14:foregroundMark x1="19329" y1="25714" x2="11045" y2="41071"/>
                        <a14:foregroundMark x1="11045" y1="41071" x2="14004" y2="59643"/>
                        <a14:foregroundMark x1="14004" y1="59643" x2="24260" y2="64643"/>
                        <a14:foregroundMark x1="24260" y1="64643" x2="33136" y2="56786"/>
                        <a14:foregroundMark x1="33136" y1="56786" x2="35700" y2="45714"/>
                        <a14:foregroundMark x1="37475" y1="42143" x2="12032" y2="35000"/>
                        <a14:foregroundMark x1="12032" y1="35000" x2="5720" y2="38929"/>
                        <a14:foregroundMark x1="18343" y1="23929" x2="24655" y2="7857"/>
                        <a14:foregroundMark x1="28205" y1="32143" x2="30375" y2="56071"/>
                        <a14:foregroundMark x1="30375" y1="56071" x2="38659" y2="51786"/>
                        <a14:foregroundMark x1="39645" y1="40357" x2="38067" y2="58929"/>
                        <a14:foregroundMark x1="38067" y1="58929" x2="29191" y2="74286"/>
                        <a14:foregroundMark x1="29191" y1="74286" x2="19329" y2="68571"/>
                        <a14:foregroundMark x1="19329" y1="68571" x2="21105" y2="49286"/>
                        <a14:foregroundMark x1="21105" y1="49286" x2="27613" y2="37857"/>
                      </a14:backgroundRemoval>
                    </a14:imgEffect>
                    <a14:imgEffect>
                      <a14:sharpenSoften amount="25000"/>
                    </a14:imgEffect>
                  </a14:imgLayer>
                </a14:imgProps>
              </a:ext>
              <a:ext uri="{28A0092B-C50C-407E-A947-70E740481C1C}">
                <a14:useLocalDpi xmlns:a14="http://schemas.microsoft.com/office/drawing/2010/main" val="0"/>
              </a:ext>
            </a:extLst>
          </a:blip>
          <a:srcRect r="48162"/>
          <a:stretch/>
        </p:blipFill>
        <p:spPr bwMode="auto">
          <a:xfrm>
            <a:off x="444450" y="1029847"/>
            <a:ext cx="1499264" cy="1597290"/>
          </a:xfrm>
          <a:prstGeom prst="rect">
            <a:avLst/>
          </a:prstGeom>
          <a:noFill/>
          <a:effectLst>
            <a:glow rad="88900">
              <a:srgbClr val="FF0000">
                <a:alpha val="60000"/>
              </a:srgbClr>
            </a:glow>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89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75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5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6DFB0912-7735-40E3-8B77-42788BB074F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16" name="מלבן 15">
            <a:extLst>
              <a:ext uri="{FF2B5EF4-FFF2-40B4-BE49-F238E27FC236}">
                <a16:creationId xmlns:a16="http://schemas.microsoft.com/office/drawing/2014/main" id="{73EA2DFB-206E-4C06-A44E-95D043C5C0D4}"/>
              </a:ext>
            </a:extLst>
          </p:cNvPr>
          <p:cNvSpPr/>
          <p:nvPr/>
        </p:nvSpPr>
        <p:spPr>
          <a:xfrm>
            <a:off x="12590585" y="-1356926"/>
            <a:ext cx="6096000" cy="7848302"/>
          </a:xfrm>
          <a:prstGeom prst="rect">
            <a:avLst/>
          </a:prstGeom>
        </p:spPr>
        <p:txBody>
          <a:bodyPr>
            <a:spAutoFit/>
          </a:bodyPr>
          <a:lstStyle/>
          <a:p>
            <a:pPr lvl="0" eaLnBrk="0" fontAlgn="base" hangingPunct="0">
              <a:spcBef>
                <a:spcPct val="0"/>
              </a:spcBef>
              <a:spcAft>
                <a:spcPct val="0"/>
              </a:spcAft>
            </a:pPr>
            <a:r>
              <a:rPr lang="he-IL" altLang="he-IL" sz="1400">
                <a:latin typeface="Arial" panose="020B0604020202020204" pitchFamily="34" charset="0"/>
              </a:rPr>
              <a:t>הבדל בין </a:t>
            </a:r>
            <a:r>
              <a:rPr lang="he-IL" altLang="he-IL" sz="1400">
                <a:latin typeface="Arial Unicode MS"/>
              </a:rPr>
              <a:t>var</a:t>
            </a:r>
            <a:r>
              <a:rPr lang="he-IL" altLang="he-IL" sz="1400"/>
              <a:t> ל-</a:t>
            </a:r>
            <a:r>
              <a:rPr lang="he-IL" altLang="he-IL" sz="1400">
                <a:latin typeface="Arial Unicode MS"/>
              </a:rPr>
              <a:t>val:</a:t>
            </a:r>
          </a:p>
          <a:p>
            <a:pPr lvl="0" eaLnBrk="0" fontAlgn="base" hangingPunct="0">
              <a:spcBef>
                <a:spcPct val="0"/>
              </a:spcBef>
              <a:spcAft>
                <a:spcPct val="0"/>
              </a:spcAft>
            </a:pPr>
            <a:r>
              <a:rPr lang="he-IL" altLang="he-IL" sz="1400">
                <a:latin typeface="Arial Unicode MS"/>
              </a:rPr>
              <a:t>קוקה היא פונקציונלית- הנתונים לא משתנים. איך זה הגיוני ש</a:t>
            </a:r>
            <a:r>
              <a:rPr lang="en-US" altLang="he-IL" sz="1400">
                <a:latin typeface="Arial Unicode MS"/>
              </a:rPr>
              <a:t>var</a:t>
            </a:r>
            <a:r>
              <a:rPr lang="he-IL" altLang="he-IL" sz="1400">
                <a:latin typeface="Arial Unicode MS"/>
              </a:rPr>
              <a:t> ניתן לשינוי?</a:t>
            </a:r>
          </a:p>
          <a:p>
            <a:pPr lvl="0" eaLnBrk="0" fontAlgn="base" hangingPunct="0">
              <a:spcBef>
                <a:spcPct val="0"/>
              </a:spcBef>
              <a:spcAft>
                <a:spcPct val="0"/>
              </a:spcAft>
            </a:pPr>
            <a:r>
              <a:rPr lang="he-IL" altLang="he-IL" sz="1400">
                <a:latin typeface="Arial" panose="020B0604020202020204" pitchFamily="34" charset="0"/>
              </a:rPr>
              <a:t>אלא שכאשר משנים </a:t>
            </a:r>
            <a:r>
              <a:rPr lang="he-IL" altLang="he-IL" sz="1400">
                <a:latin typeface="Arial Unicode MS"/>
              </a:rPr>
              <a:t>var</a:t>
            </a:r>
            <a:r>
              <a:rPr lang="he-IL" altLang="he-IL" sz="1400"/>
              <a:t>, לא משנים את הנתון עצמו אלא </a:t>
            </a:r>
            <a:r>
              <a:rPr lang="he-IL" altLang="he-IL" sz="1400">
                <a:latin typeface="Arial" panose="020B0604020202020204" pitchFamily="34" charset="0"/>
              </a:rPr>
              <a:t>יוצרים ערך חדש ומצביעים עליו:</a:t>
            </a:r>
            <a:endParaRPr lang="he-IL" altLang="he-IL" sz="1400" b="1"/>
          </a:p>
          <a:p>
            <a:pPr lvl="0" eaLnBrk="0" fontAlgn="base" hangingPunct="0">
              <a:spcBef>
                <a:spcPct val="0"/>
              </a:spcBef>
              <a:spcAft>
                <a:spcPct val="0"/>
              </a:spcAft>
            </a:pPr>
            <a:r>
              <a:rPr lang="he-IL" altLang="he-IL" sz="1400" b="1">
                <a:latin typeface="Arial Unicode MS"/>
              </a:rPr>
              <a:t>val</a:t>
            </a:r>
            <a:r>
              <a:rPr lang="he-IL" altLang="he-IL" sz="1400"/>
              <a:t> - ערכים קבועים שלא ניתנים לשינוי. מוגדרים עם </a:t>
            </a:r>
            <a:r>
              <a:rPr lang="he-IL" altLang="he-IL" sz="1400">
                <a:latin typeface="Arial Unicode MS"/>
              </a:rPr>
              <a:t>=</a:t>
            </a:r>
            <a:r>
              <a:rPr lang="he-IL" altLang="he-IL" sz="1400"/>
              <a:t> ולא ניתן לשנות אותם אחרי האתחול.</a:t>
            </a:r>
            <a:endParaRPr lang="he-IL" altLang="he-IL" sz="1400">
              <a:latin typeface="Arial" panose="020B0604020202020204" pitchFamily="34" charset="0"/>
            </a:endParaRPr>
          </a:p>
          <a:p>
            <a:pPr lvl="0" eaLnBrk="0" fontAlgn="base" hangingPunct="0">
              <a:spcBef>
                <a:spcPct val="0"/>
              </a:spcBef>
              <a:spcAft>
                <a:spcPct val="0"/>
              </a:spcAft>
            </a:pPr>
            <a:r>
              <a:rPr lang="he-IL" altLang="he-IL" sz="1400" b="1">
                <a:latin typeface="Arial Unicode MS"/>
              </a:rPr>
              <a:t>var</a:t>
            </a:r>
            <a:r>
              <a:rPr lang="he-IL" altLang="he-IL" sz="1400"/>
              <a:t> - ערכים שניתנים לשינוי. מוגדרים עם </a:t>
            </a:r>
            <a:r>
              <a:rPr lang="he-IL" altLang="he-IL" sz="1400">
                <a:latin typeface="Arial Unicode MS"/>
              </a:rPr>
              <a:t>:=</a:t>
            </a:r>
            <a:r>
              <a:rPr lang="he-IL" altLang="he-IL" sz="1400"/>
              <a:t> וניתן לשנות אותם (כביכול). </a:t>
            </a:r>
          </a:p>
          <a:p>
            <a:endParaRPr lang="he-IL" sz="1400"/>
          </a:p>
          <a:p>
            <a:r>
              <a:rPr lang="he-IL" sz="1400"/>
              <a:t>השפה היא שפה עם עם טיפוסים סטטיים (כמו </a:t>
            </a:r>
            <a:r>
              <a:rPr lang="en-US" sz="1400"/>
              <a:t> Kotlin </a:t>
            </a:r>
            <a:r>
              <a:rPr lang="he-IL" sz="1400"/>
              <a:t>ועוד) יודעת:</a:t>
            </a:r>
          </a:p>
          <a:p>
            <a:r>
              <a:rPr lang="he-IL" sz="1400"/>
              <a:t>להסיק את הטיפוס כלומר, להבין את סוג המשתנה לפי ההקשר.</a:t>
            </a:r>
          </a:p>
          <a:p>
            <a:r>
              <a:rPr lang="he-IL" sz="1400"/>
              <a:t>לבדוק סוגים בזמן קומפילציה.</a:t>
            </a:r>
          </a:p>
          <a:p>
            <a:r>
              <a:rPr lang="he-IL" sz="1400"/>
              <a:t>לאפשר או למנוע פעולות לפי הטיפוס.</a:t>
            </a:r>
          </a:p>
          <a:p>
            <a:pPr lvl="0" eaLnBrk="0" fontAlgn="base" hangingPunct="0">
              <a:spcBef>
                <a:spcPct val="0"/>
              </a:spcBef>
              <a:spcAft>
                <a:spcPct val="0"/>
              </a:spcAft>
            </a:pPr>
            <a:endParaRPr lang="he-IL" altLang="he-IL" sz="1400"/>
          </a:p>
          <a:p>
            <a:pPr lvl="0" eaLnBrk="0" fontAlgn="base" hangingPunct="0">
              <a:spcBef>
                <a:spcPct val="0"/>
              </a:spcBef>
              <a:spcAft>
                <a:spcPct val="0"/>
              </a:spcAft>
            </a:pPr>
            <a:r>
              <a:rPr lang="he-IL" altLang="he-IL" sz="1400" b="1">
                <a:latin typeface="Arial" panose="020B0604020202020204" pitchFamily="34" charset="0"/>
              </a:rPr>
              <a:t>טיפוסי נתונים בסיסיים</a:t>
            </a:r>
          </a:p>
          <a:p>
            <a:pPr lvl="0" eaLnBrk="0" fontAlgn="base" hangingPunct="0">
              <a:spcBef>
                <a:spcPct val="0"/>
              </a:spcBef>
              <a:spcAft>
                <a:spcPct val="0"/>
              </a:spcAft>
              <a:buFontTx/>
              <a:buChar char="•"/>
            </a:pPr>
            <a:r>
              <a:rPr lang="he-IL" altLang="he-IL" sz="1400" b="1">
                <a:latin typeface="Arial" panose="020B0604020202020204" pitchFamily="34" charset="0"/>
              </a:rPr>
              <a:t>מספרים</a:t>
            </a:r>
            <a:r>
              <a:rPr lang="he-IL" altLang="he-IL" sz="1400">
                <a:latin typeface="Arial" panose="020B0604020202020204" pitchFamily="34" charset="0"/>
              </a:rPr>
              <a:t>: </a:t>
            </a:r>
            <a:r>
              <a:rPr lang="he-IL" altLang="he-IL" sz="1400">
                <a:latin typeface="Arial Unicode MS"/>
              </a:rPr>
              <a:t>int</a:t>
            </a:r>
            <a:r>
              <a:rPr lang="he-IL" altLang="he-IL" sz="1400"/>
              <a:t>, </a:t>
            </a:r>
            <a:r>
              <a:rPr lang="he-IL" altLang="he-IL" sz="1400">
                <a:latin typeface="Arial Unicode MS"/>
              </a:rPr>
              <a:t>float64</a:t>
            </a:r>
            <a:r>
              <a:rPr lang="he-IL" altLang="he-IL" sz="1400"/>
              <a:t>, </a:t>
            </a:r>
            <a:r>
              <a:rPr lang="he-IL" altLang="he-IL" sz="1400">
                <a:latin typeface="Arial Unicode MS"/>
              </a:rPr>
              <a:t>int32</a:t>
            </a:r>
            <a:r>
              <a:rPr lang="he-IL" altLang="he-IL" sz="1400"/>
              <a:t> - למספרים שלמים וממשיים</a:t>
            </a:r>
            <a:r>
              <a:rPr lang="he-IL" altLang="he-IL" sz="1400">
                <a:latin typeface="Arial" panose="020B0604020202020204" pitchFamily="34" charset="0"/>
              </a:rPr>
              <a:t> </a:t>
            </a:r>
          </a:p>
          <a:p>
            <a:pPr lvl="0" eaLnBrk="0" fontAlgn="base" hangingPunct="0">
              <a:spcBef>
                <a:spcPct val="0"/>
              </a:spcBef>
              <a:spcAft>
                <a:spcPct val="0"/>
              </a:spcAft>
              <a:buFontTx/>
              <a:buChar char="•"/>
            </a:pPr>
            <a:r>
              <a:rPr lang="he-IL" altLang="he-IL" sz="1400" b="1">
                <a:latin typeface="Arial" panose="020B0604020202020204" pitchFamily="34" charset="0"/>
              </a:rPr>
              <a:t>טקסט</a:t>
            </a:r>
            <a:r>
              <a:rPr lang="he-IL" altLang="he-IL" sz="1400">
                <a:latin typeface="Arial" panose="020B0604020202020204" pitchFamily="34" charset="0"/>
              </a:rPr>
              <a:t>: </a:t>
            </a:r>
            <a:r>
              <a:rPr lang="he-IL" altLang="he-IL" sz="1400">
                <a:latin typeface="Arial Unicode MS"/>
              </a:rPr>
              <a:t>string</a:t>
            </a:r>
            <a:r>
              <a:rPr lang="he-IL" altLang="he-IL" sz="1400"/>
              <a:t> למחרוזות, </a:t>
            </a:r>
            <a:r>
              <a:rPr lang="he-IL" altLang="he-IL" sz="1400">
                <a:latin typeface="Arial Unicode MS"/>
              </a:rPr>
              <a:t>char</a:t>
            </a:r>
            <a:r>
              <a:rPr lang="he-IL" altLang="he-IL" sz="1400"/>
              <a:t> לתווים יחידים</a:t>
            </a:r>
            <a:r>
              <a:rPr lang="he-IL" altLang="he-IL" sz="1400">
                <a:latin typeface="Arial" panose="020B0604020202020204" pitchFamily="34" charset="0"/>
              </a:rPr>
              <a:t> </a:t>
            </a:r>
          </a:p>
          <a:p>
            <a:pPr lvl="0" eaLnBrk="0" fontAlgn="base" hangingPunct="0">
              <a:spcBef>
                <a:spcPct val="0"/>
              </a:spcBef>
              <a:spcAft>
                <a:spcPct val="0"/>
              </a:spcAft>
              <a:buFontTx/>
              <a:buChar char="•"/>
            </a:pPr>
            <a:r>
              <a:rPr lang="he-IL" altLang="he-IL" sz="1400" b="1">
                <a:latin typeface="Arial" panose="020B0604020202020204" pitchFamily="34" charset="0"/>
              </a:rPr>
              <a:t>בוליאני</a:t>
            </a:r>
            <a:r>
              <a:rPr lang="he-IL" altLang="he-IL" sz="1400">
                <a:latin typeface="Arial" panose="020B0604020202020204" pitchFamily="34" charset="0"/>
              </a:rPr>
              <a:t>: </a:t>
            </a:r>
            <a:r>
              <a:rPr lang="he-IL" altLang="he-IL" sz="1400">
                <a:latin typeface="Arial Unicode MS"/>
              </a:rPr>
              <a:t>bool</a:t>
            </a:r>
            <a:r>
              <a:rPr lang="he-IL" altLang="he-IL" sz="1400"/>
              <a:t> - </a:t>
            </a:r>
            <a:r>
              <a:rPr lang="he-IL" altLang="he-IL" sz="1400">
                <a:latin typeface="Arial Unicode MS"/>
              </a:rPr>
              <a:t>True</a:t>
            </a:r>
            <a:r>
              <a:rPr lang="he-IL" altLang="he-IL" sz="1400"/>
              <a:t> או </a:t>
            </a:r>
            <a:r>
              <a:rPr lang="he-IL" altLang="he-IL" sz="1400">
                <a:latin typeface="Arial Unicode MS"/>
              </a:rPr>
              <a:t>False</a:t>
            </a:r>
            <a:r>
              <a:rPr lang="he-IL" altLang="he-IL" sz="1400"/>
              <a:t> </a:t>
            </a:r>
          </a:p>
          <a:p>
            <a:pPr lvl="0" eaLnBrk="0" fontAlgn="base" hangingPunct="0">
              <a:spcBef>
                <a:spcPct val="0"/>
              </a:spcBef>
              <a:spcAft>
                <a:spcPct val="0"/>
              </a:spcAft>
              <a:buFontTx/>
              <a:buChar char="•"/>
            </a:pPr>
            <a:endParaRPr lang="he-IL" altLang="he-IL" sz="1400" b="1">
              <a:latin typeface="Arial" panose="020B0604020202020204" pitchFamily="34" charset="0"/>
            </a:endParaRPr>
          </a:p>
          <a:p>
            <a:pPr lvl="0" eaLnBrk="0" fontAlgn="base" hangingPunct="0">
              <a:spcBef>
                <a:spcPct val="0"/>
              </a:spcBef>
              <a:spcAft>
                <a:spcPct val="0"/>
              </a:spcAft>
            </a:pPr>
            <a:r>
              <a:rPr lang="he-IL" altLang="he-IL" sz="1400" b="1">
                <a:latin typeface="Arial" panose="020B0604020202020204" pitchFamily="34" charset="0"/>
              </a:rPr>
              <a:t>מבני נתונים מורכבים</a:t>
            </a:r>
          </a:p>
          <a:p>
            <a:pPr lvl="0" eaLnBrk="0" fontAlgn="base" hangingPunct="0">
              <a:spcBef>
                <a:spcPct val="0"/>
              </a:spcBef>
              <a:spcAft>
                <a:spcPct val="0"/>
              </a:spcAft>
              <a:buFontTx/>
              <a:buChar char="•"/>
            </a:pPr>
            <a:r>
              <a:rPr lang="he-IL" altLang="he-IL" sz="1400" b="1">
                <a:latin typeface="Arial" panose="020B0604020202020204" pitchFamily="34" charset="0"/>
              </a:rPr>
              <a:t>רשימות</a:t>
            </a:r>
          </a:p>
          <a:p>
            <a:pPr lvl="0" eaLnBrk="0" fontAlgn="base" hangingPunct="0">
              <a:spcBef>
                <a:spcPct val="0"/>
              </a:spcBef>
              <a:spcAft>
                <a:spcPct val="0"/>
              </a:spcAft>
              <a:buFontTx/>
              <a:buChar char="•"/>
            </a:pPr>
            <a:r>
              <a:rPr lang="he-IL" altLang="he-IL" sz="1400" b="1">
                <a:latin typeface="Arial" panose="020B0604020202020204" pitchFamily="34" charset="0"/>
              </a:rPr>
              <a:t>Maybe</a:t>
            </a:r>
            <a:r>
              <a:rPr lang="he-IL" altLang="he-IL" sz="1400">
                <a:latin typeface="Arial" panose="020B0604020202020204" pitchFamily="34" charset="0"/>
              </a:rPr>
              <a:t>: מייצג ערך שיכול להיות קיים או לא (כמו Optional)</a:t>
            </a:r>
          </a:p>
          <a:p>
            <a:pPr lvl="0" eaLnBrk="0" fontAlgn="base" hangingPunct="0">
              <a:spcBef>
                <a:spcPct val="0"/>
              </a:spcBef>
              <a:spcAft>
                <a:spcPct val="0"/>
              </a:spcAft>
            </a:pPr>
            <a:r>
              <a:rPr lang="he-IL" altLang="he-IL" sz="1400">
                <a:latin typeface="Arial" panose="020B0604020202020204" pitchFamily="34" charset="0"/>
              </a:rPr>
              <a:t>בדוגמא:</a:t>
            </a:r>
          </a:p>
          <a:p>
            <a:pPr lvl="0" eaLnBrk="0" fontAlgn="base" hangingPunct="0">
              <a:spcBef>
                <a:spcPct val="0"/>
              </a:spcBef>
              <a:spcAft>
                <a:spcPct val="0"/>
              </a:spcAft>
            </a:pPr>
            <a:r>
              <a:rPr lang="he-IL" altLang="he-IL" sz="1400">
                <a:latin typeface="Arial" panose="020B0604020202020204" pitchFamily="34" charset="0"/>
              </a:rPr>
              <a:t>קוראים לפונקציה </a:t>
            </a:r>
            <a:r>
              <a:rPr lang="he-IL" altLang="he-IL" sz="1400">
                <a:latin typeface="Arial Unicode MS"/>
              </a:rPr>
              <a:t>ends-with(".jack")</a:t>
            </a:r>
            <a:r>
              <a:rPr lang="he-IL" altLang="he-IL" sz="1400"/>
              <a:t> על המחרוזת.</a:t>
            </a:r>
            <a:endParaRPr lang="he-IL" altLang="he-IL" sz="1400">
              <a:latin typeface="Arial" panose="020B0604020202020204" pitchFamily="34" charset="0"/>
            </a:endParaRPr>
          </a:p>
          <a:p>
            <a:pPr lvl="0" eaLnBrk="0" fontAlgn="base" hangingPunct="0">
              <a:spcBef>
                <a:spcPct val="0"/>
              </a:spcBef>
              <a:spcAft>
                <a:spcPct val="0"/>
              </a:spcAft>
            </a:pPr>
            <a:r>
              <a:rPr lang="he-IL" altLang="he-IL" sz="1400">
                <a:latin typeface="Arial" panose="020B0604020202020204" pitchFamily="34" charset="0"/>
              </a:rPr>
              <a:t>בניגוד למה שנדמה – היא לא מחזירה </a:t>
            </a:r>
            <a:r>
              <a:rPr lang="he-IL" altLang="he-IL" sz="1400">
                <a:latin typeface="Arial Unicode MS"/>
              </a:rPr>
              <a:t>Bool</a:t>
            </a:r>
            <a:r>
              <a:rPr lang="he-IL" altLang="he-IL" sz="1400"/>
              <a:t> רגיל</a:t>
            </a:r>
            <a:r>
              <a:rPr lang="he-IL" altLang="he-IL" sz="1400">
                <a:latin typeface="Arial" panose="020B0604020202020204" pitchFamily="34" charset="0"/>
              </a:rPr>
              <a:t>, אלא במקום שתחזיר </a:t>
            </a:r>
            <a:r>
              <a:rPr lang="he-IL" altLang="he-IL" sz="1400">
                <a:latin typeface="Arial Unicode MS"/>
              </a:rPr>
              <a:t>true</a:t>
            </a:r>
            <a:r>
              <a:rPr lang="he-IL" altLang="he-IL" sz="1400"/>
              <a:t> או </a:t>
            </a:r>
            <a:r>
              <a:rPr lang="he-IL" altLang="he-IL" sz="1400">
                <a:latin typeface="Arial Unicode MS"/>
              </a:rPr>
              <a:t>false</a:t>
            </a:r>
            <a:r>
              <a:rPr lang="he-IL" altLang="he-IL" sz="1400"/>
              <a:t>, היא מחזירה </a:t>
            </a:r>
            <a:r>
              <a:rPr lang="he-IL" altLang="he-IL" sz="1400">
                <a:latin typeface="Arial" panose="020B0604020202020204" pitchFamily="34" charset="0"/>
              </a:rPr>
              <a:t>טיפוס </a:t>
            </a:r>
            <a:r>
              <a:rPr lang="he-IL" altLang="he-IL" sz="1400">
                <a:latin typeface="Arial Unicode MS"/>
              </a:rPr>
              <a:t>Maybe</a:t>
            </a:r>
            <a:r>
              <a:rPr lang="he-IL" altLang="he-IL" sz="1400"/>
              <a:t> עם שתי אפשרויות:</a:t>
            </a:r>
            <a:endParaRPr lang="he-IL" altLang="he-IL" sz="1400">
              <a:latin typeface="Arial" panose="020B0604020202020204" pitchFamily="34" charset="0"/>
            </a:endParaRPr>
          </a:p>
          <a:p>
            <a:pPr lvl="0" eaLnBrk="0" fontAlgn="base" hangingPunct="0">
              <a:spcBef>
                <a:spcPct val="0"/>
              </a:spcBef>
              <a:spcAft>
                <a:spcPct val="0"/>
              </a:spcAft>
            </a:pPr>
            <a:r>
              <a:rPr lang="he-IL" altLang="he-IL" sz="1400">
                <a:latin typeface="Arial Unicode MS"/>
              </a:rPr>
              <a:t>Just(_)</a:t>
            </a:r>
            <a:r>
              <a:rPr lang="he-IL" altLang="he-IL" sz="1400"/>
              <a:t> – כן מסתיים ב־</a:t>
            </a:r>
            <a:r>
              <a:rPr lang="he-IL" altLang="he-IL" sz="1400">
                <a:latin typeface="Arial Unicode MS"/>
              </a:rPr>
              <a:t>.jack</a:t>
            </a:r>
            <a:endParaRPr lang="he-IL" altLang="he-IL" sz="1400"/>
          </a:p>
          <a:p>
            <a:pPr lvl="0" eaLnBrk="0" fontAlgn="base" hangingPunct="0">
              <a:spcBef>
                <a:spcPct val="0"/>
              </a:spcBef>
              <a:spcAft>
                <a:spcPct val="0"/>
              </a:spcAft>
            </a:pPr>
            <a:r>
              <a:rPr lang="he-IL" altLang="he-IL" sz="1400">
                <a:latin typeface="Arial Unicode MS"/>
              </a:rPr>
              <a:t>Nothing</a:t>
            </a:r>
            <a:r>
              <a:rPr lang="he-IL" altLang="he-IL" sz="1400"/>
              <a:t> – לא מסתיים, או אולי יש שגיאה</a:t>
            </a:r>
            <a:endParaRPr lang="he-IL" altLang="he-IL" sz="1400">
              <a:latin typeface="Arial" panose="020B0604020202020204" pitchFamily="34" charset="0"/>
            </a:endParaRPr>
          </a:p>
          <a:p>
            <a:pPr lvl="0" eaLnBrk="0" fontAlgn="base" hangingPunct="0">
              <a:spcBef>
                <a:spcPct val="0"/>
              </a:spcBef>
              <a:spcAft>
                <a:spcPct val="0"/>
              </a:spcAft>
            </a:pPr>
            <a:endParaRPr lang="he-IL" altLang="he-IL" sz="1400">
              <a:latin typeface="Arial" panose="020B0604020202020204" pitchFamily="34" charset="0"/>
            </a:endParaRPr>
          </a:p>
          <a:p>
            <a:pPr lvl="0" eaLnBrk="0" fontAlgn="base" hangingPunct="0">
              <a:spcBef>
                <a:spcPct val="0"/>
              </a:spcBef>
              <a:spcAft>
                <a:spcPct val="0"/>
              </a:spcAft>
            </a:pPr>
            <a:r>
              <a:rPr lang="he-IL" altLang="he-IL" sz="1400">
                <a:latin typeface="Arial" panose="020B0604020202020204" pitchFamily="34" charset="0"/>
              </a:rPr>
              <a:t>למה להשתמש ב־</a:t>
            </a:r>
            <a:r>
              <a:rPr lang="he-IL" altLang="he-IL" sz="1400">
                <a:latin typeface="Arial Unicode MS"/>
              </a:rPr>
              <a:t>Maybe</a:t>
            </a:r>
            <a:r>
              <a:rPr lang="he-IL" altLang="he-IL" sz="1400"/>
              <a:t> במקום </a:t>
            </a:r>
            <a:r>
              <a:rPr lang="he-IL" altLang="he-IL" sz="1400">
                <a:latin typeface="Arial Unicode MS"/>
              </a:rPr>
              <a:t>Bool</a:t>
            </a:r>
            <a:r>
              <a:rPr lang="he-IL" altLang="he-IL" sz="1400"/>
              <a:t> רגיל?</a:t>
            </a:r>
            <a:endParaRPr lang="he-IL" altLang="he-IL" sz="1400">
              <a:latin typeface="Arial" panose="020B0604020202020204" pitchFamily="34" charset="0"/>
            </a:endParaRPr>
          </a:p>
          <a:p>
            <a:pPr lvl="0" eaLnBrk="0" fontAlgn="base" hangingPunct="0">
              <a:spcBef>
                <a:spcPct val="0"/>
              </a:spcBef>
              <a:spcAft>
                <a:spcPct val="0"/>
              </a:spcAft>
            </a:pPr>
            <a:r>
              <a:rPr lang="he-IL" altLang="he-IL" sz="1400">
                <a:latin typeface="Arial" panose="020B0604020202020204" pitchFamily="34" charset="0"/>
              </a:rPr>
              <a:t>כדי להכריח את המתכנת להתמודד עם המקרה שבו הבדיקה לא הצליחה או לא מוגדרת – למשל:</a:t>
            </a:r>
          </a:p>
          <a:p>
            <a:pPr lvl="0" eaLnBrk="0" fontAlgn="base" hangingPunct="0">
              <a:spcBef>
                <a:spcPct val="0"/>
              </a:spcBef>
              <a:spcAft>
                <a:spcPct val="0"/>
              </a:spcAft>
            </a:pPr>
            <a:r>
              <a:rPr lang="he-IL" altLang="he-IL" sz="1400">
                <a:latin typeface="Arial" panose="020B0604020202020204" pitchFamily="34" charset="0"/>
              </a:rPr>
              <a:t>שם קובץ ריק</a:t>
            </a:r>
          </a:p>
          <a:p>
            <a:pPr lvl="0" eaLnBrk="0" fontAlgn="base" hangingPunct="0">
              <a:spcBef>
                <a:spcPct val="0"/>
              </a:spcBef>
              <a:spcAft>
                <a:spcPct val="0"/>
              </a:spcAft>
            </a:pPr>
            <a:r>
              <a:rPr lang="he-IL" altLang="he-IL" sz="1400">
                <a:latin typeface="Arial" panose="020B0604020202020204" pitchFamily="34" charset="0"/>
              </a:rPr>
              <a:t>תווים לא חוקיים</a:t>
            </a:r>
          </a:p>
          <a:p>
            <a:pPr lvl="0" eaLnBrk="0" fontAlgn="base" hangingPunct="0">
              <a:spcBef>
                <a:spcPct val="0"/>
              </a:spcBef>
              <a:spcAft>
                <a:spcPct val="0"/>
              </a:spcAft>
            </a:pPr>
            <a:endParaRPr lang="he-IL" altLang="he-IL" sz="1400">
              <a:latin typeface="Arial" panose="020B0604020202020204" pitchFamily="34" charset="0"/>
            </a:endParaRPr>
          </a:p>
          <a:p>
            <a:pPr lvl="0" eaLnBrk="0" fontAlgn="base" hangingPunct="0">
              <a:spcBef>
                <a:spcPct val="0"/>
              </a:spcBef>
              <a:spcAft>
                <a:spcPct val="0"/>
              </a:spcAft>
            </a:pPr>
            <a:endParaRPr lang="he-IL" altLang="he-IL" sz="1400" b="1">
              <a:latin typeface="Arial" panose="020B0604020202020204" pitchFamily="34" charset="0"/>
            </a:endParaRPr>
          </a:p>
          <a:p>
            <a:pPr lvl="0" eaLnBrk="0" fontAlgn="base" hangingPunct="0">
              <a:spcBef>
                <a:spcPct val="0"/>
              </a:spcBef>
              <a:spcAft>
                <a:spcPct val="0"/>
              </a:spcAft>
            </a:pPr>
            <a:endParaRPr lang="he-IL" altLang="he-IL" sz="1400" b="1">
              <a:latin typeface="Arial" panose="020B0604020202020204" pitchFamily="34" charset="0"/>
            </a:endParaRPr>
          </a:p>
        </p:txBody>
      </p:sp>
      <p:sp>
        <p:nvSpPr>
          <p:cNvPr id="18" name="מלבן 17">
            <a:extLst>
              <a:ext uri="{FF2B5EF4-FFF2-40B4-BE49-F238E27FC236}">
                <a16:creationId xmlns:a16="http://schemas.microsoft.com/office/drawing/2014/main" id="{597B5C3D-DD39-466A-BC2B-F4616FB11339}"/>
              </a:ext>
            </a:extLst>
          </p:cNvPr>
          <p:cNvSpPr/>
          <p:nvPr/>
        </p:nvSpPr>
        <p:spPr>
          <a:xfrm>
            <a:off x="633856" y="756821"/>
            <a:ext cx="8206645" cy="5078313"/>
          </a:xfrm>
          <a:prstGeom prst="rect">
            <a:avLst/>
          </a:prstGeom>
        </p:spPr>
        <p:txBody>
          <a:bodyPr wrap="square">
            <a:spAutoFit/>
          </a:bodyPr>
          <a:lstStyle/>
          <a:p>
            <a:pPr lvl="0" algn="l" rtl="0" eaLnBrk="0" fontAlgn="base" hangingPunct="0">
              <a:spcBef>
                <a:spcPct val="0"/>
              </a:spcBef>
              <a:spcAft>
                <a:spcPct val="0"/>
              </a:spcAft>
            </a:pPr>
            <a:r>
              <a:rPr lang="en-US" sz="2400" b="1">
                <a:solidFill>
                  <a:schemeClr val="tx1">
                    <a:lumMod val="95000"/>
                    <a:lumOff val="5000"/>
                  </a:schemeClr>
                </a:solidFill>
                <a:effectLst>
                  <a:outerShdw blurRad="38100" dist="38100" dir="2700000" algn="tl">
                    <a:srgbClr val="000000">
                      <a:alpha val="43137"/>
                    </a:srgbClr>
                  </a:outerShdw>
                </a:effectLst>
              </a:rPr>
              <a:t>Val/var:</a:t>
            </a:r>
          </a:p>
          <a:p>
            <a:pPr algn="l" rtl="0" eaLnBrk="0" fontAlgn="base" hangingPunct="0">
              <a:spcBef>
                <a:spcPct val="0"/>
              </a:spcBef>
              <a:spcAft>
                <a:spcPct val="0"/>
              </a:spcAft>
            </a:pPr>
            <a:r>
              <a:rPr lang="en-US">
                <a:effectLst>
                  <a:outerShdw blurRad="38100" dist="38100" dir="2700000" algn="tl">
                    <a:srgbClr val="000000">
                      <a:alpha val="43137"/>
                    </a:srgbClr>
                  </a:outerShdw>
                </a:effectLst>
              </a:rPr>
              <a:t>val x = 42    </a:t>
            </a:r>
            <a:r>
              <a:rPr lang="en-US">
                <a:solidFill>
                  <a:srgbClr val="009A46"/>
                </a:solidFill>
                <a:effectLst>
                  <a:outerShdw blurRad="38100" dist="38100" dir="2700000" algn="tl">
                    <a:srgbClr val="000000">
                      <a:alpha val="43137"/>
                    </a:srgbClr>
                  </a:outerShdw>
                </a:effectLst>
              </a:rPr>
              <a:t>// Immutable values </a:t>
            </a:r>
            <a:endParaRPr lang="en-US">
              <a:effectLst>
                <a:outerShdw blurRad="38100" dist="38100" dir="2700000" algn="tl">
                  <a:srgbClr val="000000">
                    <a:alpha val="43137"/>
                  </a:srgbClr>
                </a:outerShdw>
              </a:effectLst>
            </a:endParaRPr>
          </a:p>
          <a:p>
            <a:pPr algn="l" rtl="0" eaLnBrk="0" fontAlgn="base" hangingPunct="0">
              <a:spcBef>
                <a:spcPct val="0"/>
              </a:spcBef>
              <a:spcAft>
                <a:spcPct val="0"/>
              </a:spcAft>
            </a:pPr>
            <a:r>
              <a:rPr lang="en-US">
                <a:effectLst>
                  <a:outerShdw blurRad="38100" dist="38100" dir="2700000" algn="tl">
                    <a:srgbClr val="000000">
                      <a:alpha val="43137"/>
                    </a:srgbClr>
                  </a:outerShdw>
                </a:effectLst>
              </a:rPr>
              <a:t>var x := 42    </a:t>
            </a:r>
            <a:r>
              <a:rPr lang="en-US">
                <a:solidFill>
                  <a:srgbClr val="009A46"/>
                </a:solidFill>
                <a:effectLst>
                  <a:outerShdw blurRad="38100" dist="38100" dir="2700000" algn="tl">
                    <a:srgbClr val="000000">
                      <a:alpha val="43137"/>
                    </a:srgbClr>
                  </a:outerShdw>
                </a:effectLst>
              </a:rPr>
              <a:t>//Mutable values </a:t>
            </a:r>
            <a:endParaRPr lang="en-US">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a:effectLst>
                  <a:outerShdw blurRad="38100" dist="38100" dir="2700000" algn="tl">
                    <a:srgbClr val="000000">
                      <a:alpha val="43137"/>
                    </a:srgbClr>
                  </a:outerShdw>
                </a:effectLst>
              </a:rPr>
              <a:t>x := 50 </a:t>
            </a:r>
          </a:p>
          <a:p>
            <a:pPr lvl="0" algn="l" rtl="0" eaLnBrk="0" fontAlgn="base" hangingPunct="0">
              <a:spcBef>
                <a:spcPct val="0"/>
              </a:spcBef>
              <a:spcAft>
                <a:spcPct val="0"/>
              </a:spcAft>
            </a:pPr>
            <a:endParaRPr lang="en-US">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sz="2400" b="1">
                <a:effectLst>
                  <a:outerShdw blurRad="38100" dist="38100" dir="2700000" algn="tl">
                    <a:srgbClr val="000000">
                      <a:alpha val="43137"/>
                    </a:srgbClr>
                  </a:outerShdw>
                </a:effectLst>
              </a:rPr>
              <a:t>Basics:</a:t>
            </a:r>
          </a:p>
          <a:p>
            <a:pPr lvl="0" algn="l" rtl="0" eaLnBrk="0" fontAlgn="base" hangingPunct="0">
              <a:spcBef>
                <a:spcPct val="0"/>
              </a:spcBef>
              <a:spcAft>
                <a:spcPct val="0"/>
              </a:spcAft>
            </a:pPr>
            <a:r>
              <a:rPr lang="he-IL" altLang="he-IL">
                <a:effectLst>
                  <a:outerShdw blurRad="38100" dist="38100" dir="2700000" algn="tl">
                    <a:srgbClr val="000000">
                      <a:alpha val="43137"/>
                    </a:srgbClr>
                  </a:outerShdw>
                </a:effectLst>
                <a:latin typeface="Arial Unicode MS"/>
              </a:rPr>
              <a:t>int</a:t>
            </a:r>
            <a:r>
              <a:rPr lang="he-IL" altLang="he-IL">
                <a:effectLst>
                  <a:outerShdw blurRad="38100" dist="38100" dir="2700000" algn="tl">
                    <a:srgbClr val="000000">
                      <a:alpha val="43137"/>
                    </a:srgbClr>
                  </a:outerShdw>
                </a:effectLst>
              </a:rPr>
              <a:t>, </a:t>
            </a:r>
            <a:r>
              <a:rPr lang="he-IL" altLang="he-IL">
                <a:effectLst>
                  <a:outerShdw blurRad="38100" dist="38100" dir="2700000" algn="tl">
                    <a:srgbClr val="000000">
                      <a:alpha val="43137"/>
                    </a:srgbClr>
                  </a:outerShdw>
                </a:effectLst>
                <a:latin typeface="Arial Unicode MS"/>
              </a:rPr>
              <a:t>float</a:t>
            </a:r>
            <a:r>
              <a:rPr lang="en-US" altLang="he-IL">
                <a:effectLst>
                  <a:outerShdw blurRad="38100" dist="38100" dir="2700000" algn="tl">
                    <a:srgbClr val="000000">
                      <a:alpha val="43137"/>
                    </a:srgbClr>
                  </a:outerShdw>
                </a:effectLst>
                <a:latin typeface="Arial Unicode MS"/>
              </a:rPr>
              <a:t>64, </a:t>
            </a:r>
            <a:r>
              <a:rPr lang="he-IL" altLang="he-IL">
                <a:effectLst>
                  <a:outerShdw blurRad="38100" dist="38100" dir="2700000" algn="tl">
                    <a:srgbClr val="000000">
                      <a:alpha val="43137"/>
                    </a:srgbClr>
                  </a:outerShdw>
                </a:effectLst>
                <a:latin typeface="Arial Unicode MS"/>
              </a:rPr>
              <a:t>string</a:t>
            </a:r>
            <a:r>
              <a:rPr lang="en-US" altLang="he-IL">
                <a:effectLst>
                  <a:outerShdw blurRad="38100" dist="38100" dir="2700000" algn="tl">
                    <a:srgbClr val="000000">
                      <a:alpha val="43137"/>
                    </a:srgbClr>
                  </a:outerShdw>
                </a:effectLst>
                <a:latin typeface="Arial Unicode MS"/>
              </a:rPr>
              <a:t>, </a:t>
            </a:r>
            <a:r>
              <a:rPr lang="he-IL" altLang="he-IL">
                <a:effectLst>
                  <a:outerShdw blurRad="38100" dist="38100" dir="2700000" algn="tl">
                    <a:srgbClr val="000000">
                      <a:alpha val="43137"/>
                    </a:srgbClr>
                  </a:outerShdw>
                </a:effectLst>
                <a:latin typeface="Arial Unicode MS"/>
              </a:rPr>
              <a:t>char</a:t>
            </a:r>
            <a:r>
              <a:rPr lang="en-US" altLang="he-IL">
                <a:effectLst>
                  <a:outerShdw blurRad="38100" dist="38100" dir="2700000" algn="tl">
                    <a:srgbClr val="000000">
                      <a:alpha val="43137"/>
                    </a:srgbClr>
                  </a:outerShdw>
                </a:effectLst>
                <a:latin typeface="Arial Unicode MS"/>
              </a:rPr>
              <a:t>, bool</a:t>
            </a:r>
            <a:endParaRPr lang="en-US">
              <a:effectLst>
                <a:outerShdw blurRad="38100" dist="38100" dir="2700000" algn="tl">
                  <a:srgbClr val="000000">
                    <a:alpha val="43137"/>
                  </a:srgbClr>
                </a:outerShdw>
              </a:effectLst>
            </a:endParaRPr>
          </a:p>
          <a:p>
            <a:pPr lvl="0" algn="l" rtl="0" eaLnBrk="0" fontAlgn="base" hangingPunct="0">
              <a:spcBef>
                <a:spcPct val="0"/>
              </a:spcBef>
              <a:spcAft>
                <a:spcPct val="0"/>
              </a:spcAft>
            </a:pPr>
            <a:endParaRPr lang="he-IL">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en-US" sz="2400" b="1">
                <a:effectLst>
                  <a:outerShdw blurRad="38100" dist="38100" dir="2700000" algn="tl">
                    <a:srgbClr val="000000">
                      <a:alpha val="43137"/>
                    </a:srgbClr>
                  </a:outerShdw>
                </a:effectLst>
              </a:rPr>
              <a:t>C</a:t>
            </a:r>
            <a:r>
              <a:rPr lang="he-IL" sz="2400" b="1">
                <a:effectLst>
                  <a:outerShdw blurRad="38100" dist="38100" dir="2700000" algn="tl">
                    <a:srgbClr val="000000">
                      <a:alpha val="43137"/>
                    </a:srgbClr>
                  </a:outerShdw>
                </a:effectLst>
              </a:rPr>
              <a:t>omplex:</a:t>
            </a:r>
            <a:endParaRPr lang="he-IL" sz="2400">
              <a:effectLst>
                <a:outerShdw blurRad="38100" dist="38100" dir="2700000" algn="tl">
                  <a:srgbClr val="000000">
                    <a:alpha val="43137"/>
                  </a:srgbClr>
                </a:outerShdw>
              </a:effectLst>
            </a:endParaRPr>
          </a:p>
          <a:p>
            <a:pPr lvl="0" algn="l" rtl="0" eaLnBrk="0" fontAlgn="base" hangingPunct="0">
              <a:spcBef>
                <a:spcPct val="0"/>
              </a:spcBef>
              <a:spcAft>
                <a:spcPct val="0"/>
              </a:spcAft>
            </a:pPr>
            <a:r>
              <a:rPr lang="he-IL" altLang="he-IL" b="1">
                <a:effectLst>
                  <a:outerShdw blurRad="38100" dist="38100" dir="2700000" algn="tl">
                    <a:srgbClr val="000000">
                      <a:alpha val="43137"/>
                    </a:srgbClr>
                  </a:outerShdw>
                </a:effectLst>
              </a:rPr>
              <a:t> -List</a:t>
            </a:r>
            <a:endParaRPr lang="he-IL" altLang="he-IL" b="1">
              <a:effectLst>
                <a:outerShdw blurRad="38100" dist="38100" dir="2700000" algn="tl">
                  <a:srgbClr val="000000">
                    <a:alpha val="43137"/>
                  </a:srgbClr>
                </a:outerShdw>
              </a:effectLst>
              <a:latin typeface="Arial" panose="020B0604020202020204" pitchFamily="34" charset="0"/>
            </a:endParaRPr>
          </a:p>
          <a:p>
            <a:pPr lvl="0" algn="l" rtl="0" eaLnBrk="0" fontAlgn="base" hangingPunct="0">
              <a:spcBef>
                <a:spcPct val="0"/>
              </a:spcBef>
              <a:spcAft>
                <a:spcPct val="0"/>
              </a:spcAft>
            </a:pPr>
            <a:r>
              <a:rPr lang="en-US" altLang="he-IL" b="1">
                <a:effectLst>
                  <a:outerShdw blurRad="38100" dist="38100" dir="2700000" algn="tl">
                    <a:srgbClr val="000000">
                      <a:alpha val="43137"/>
                    </a:srgbClr>
                  </a:outerShdw>
                </a:effectLst>
              </a:rPr>
              <a:t>- </a:t>
            </a:r>
            <a:r>
              <a:rPr lang="he-IL" altLang="he-IL" b="1">
                <a:effectLst>
                  <a:outerShdw blurRad="38100" dist="38100" dir="2700000" algn="tl">
                    <a:srgbClr val="000000">
                      <a:alpha val="43137"/>
                    </a:srgbClr>
                  </a:outerShdw>
                </a:effectLst>
              </a:rPr>
              <a:t>Maybe Type:</a:t>
            </a:r>
            <a:endParaRPr lang="en-US" altLang="he-IL" b="1">
              <a:effectLst>
                <a:outerShdw blurRad="38100" dist="38100" dir="2700000" algn="tl">
                  <a:srgbClr val="000000">
                    <a:alpha val="43137"/>
                  </a:srgbClr>
                </a:outerShdw>
              </a:effectLst>
            </a:endParaRPr>
          </a:p>
          <a:p>
            <a:pPr algn="l" rtl="0"/>
            <a:r>
              <a:rPr lang="en-US">
                <a:effectLst>
                  <a:outerShdw blurRad="38100" dist="38100" dir="2700000" algn="tl">
                    <a:srgbClr val="000000">
                      <a:alpha val="43137"/>
                    </a:srgbClr>
                  </a:outerShdw>
                </a:effectLst>
              </a:rPr>
              <a:t>match fstring.ends-with(".jack") {</a:t>
            </a:r>
          </a:p>
          <a:p>
            <a:pPr algn="l" rtl="0"/>
            <a:r>
              <a:rPr lang="en-US">
                <a:effectLst>
                  <a:outerShdw blurRad="38100" dist="38100" dir="2700000" algn="tl">
                    <a:srgbClr val="000000">
                      <a:alpha val="43137"/>
                    </a:srgbClr>
                  </a:outerShdw>
                </a:effectLst>
              </a:rPr>
              <a:t>  Just(True) -&gt; True </a:t>
            </a:r>
          </a:p>
          <a:p>
            <a:pPr algn="l" rtl="0"/>
            <a:r>
              <a:rPr lang="en-US">
                <a:effectLst>
                  <a:outerShdw blurRad="38100" dist="38100" dir="2700000" algn="tl">
                    <a:srgbClr val="000000">
                      <a:alpha val="43137"/>
                    </a:srgbClr>
                  </a:outerShdw>
                </a:effectLst>
              </a:rPr>
              <a:t>  Just(False) -&gt; False </a:t>
            </a:r>
          </a:p>
          <a:p>
            <a:pPr algn="l" rtl="0"/>
            <a:r>
              <a:rPr lang="en-US">
                <a:effectLst>
                  <a:outerShdw blurRad="38100" dist="38100" dir="2700000" algn="tl">
                    <a:srgbClr val="000000">
                      <a:alpha val="43137"/>
                    </a:srgbClr>
                  </a:outerShdw>
                </a:effectLst>
              </a:rPr>
              <a:t>  Nothing -&gt; False  </a:t>
            </a:r>
          </a:p>
          <a:p>
            <a:pPr algn="l" rtl="0"/>
            <a:r>
              <a:rPr lang="en-US">
                <a:effectLst>
                  <a:outerShdw blurRad="38100" dist="38100" dir="2700000" algn="tl">
                    <a:srgbClr val="000000">
                      <a:alpha val="43137"/>
                    </a:srgbClr>
                  </a:outerShdw>
                </a:effectLst>
              </a:rPr>
              <a:t>})</a:t>
            </a:r>
          </a:p>
          <a:p>
            <a:pPr algn="l" rtl="0"/>
            <a:endParaRPr lang="en-US">
              <a:effectLst>
                <a:outerShdw blurRad="38100" dist="38100" dir="2700000" algn="tl">
                  <a:srgbClr val="000000">
                    <a:alpha val="43137"/>
                  </a:srgbClr>
                </a:outerShdw>
              </a:effectLst>
            </a:endParaRPr>
          </a:p>
        </p:txBody>
      </p:sp>
      <p:sp>
        <p:nvSpPr>
          <p:cNvPr id="19" name="מלבן 18">
            <a:extLst>
              <a:ext uri="{FF2B5EF4-FFF2-40B4-BE49-F238E27FC236}">
                <a16:creationId xmlns:a16="http://schemas.microsoft.com/office/drawing/2014/main" id="{DE86BFE1-BF9C-4942-B3FD-E18E6AD0ED26}"/>
              </a:ext>
            </a:extLst>
          </p:cNvPr>
          <p:cNvSpPr/>
          <p:nvPr/>
        </p:nvSpPr>
        <p:spPr>
          <a:xfrm>
            <a:off x="3351498" y="257175"/>
            <a:ext cx="5489003" cy="584775"/>
          </a:xfrm>
          <a:prstGeom prst="rect">
            <a:avLst/>
          </a:prstGeom>
        </p:spPr>
        <p:txBody>
          <a:bodyPr wrap="none">
            <a:spAutoFit/>
          </a:bodyPr>
          <a:lstStyle/>
          <a:p>
            <a:r>
              <a:rPr lang="he-IL" sz="3200" b="1">
                <a:effectLst>
                  <a:outerShdw blurRad="38100" dist="38100" dir="2700000" algn="tl">
                    <a:srgbClr val="000000">
                      <a:alpha val="43137"/>
                    </a:srgbClr>
                  </a:outerShdw>
                </a:effectLst>
              </a:rPr>
              <a:t>Simple and complex data types</a:t>
            </a:r>
          </a:p>
        </p:txBody>
      </p:sp>
      <p:sp>
        <p:nvSpPr>
          <p:cNvPr id="20" name="Rectangle 14">
            <a:extLst>
              <a:ext uri="{FF2B5EF4-FFF2-40B4-BE49-F238E27FC236}">
                <a16:creationId xmlns:a16="http://schemas.microsoft.com/office/drawing/2014/main" id="{72B5A364-9B71-41CC-86B2-B93E26E6992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431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CECE55E7-6CBA-4403-8996-62DD606B4E3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DCB938BB-E7CD-43E9-9DCA-D859E5024925}"/>
              </a:ext>
            </a:extLst>
          </p:cNvPr>
          <p:cNvSpPr/>
          <p:nvPr/>
        </p:nvSpPr>
        <p:spPr>
          <a:xfrm>
            <a:off x="467360" y="518170"/>
            <a:ext cx="10769600" cy="5324535"/>
          </a:xfrm>
          <a:prstGeom prst="rect">
            <a:avLst/>
          </a:prstGeom>
        </p:spPr>
        <p:txBody>
          <a:bodyPr wrap="square">
            <a:spAutoFit/>
          </a:bodyPr>
          <a:lstStyle/>
          <a:p>
            <a:pPr algn="l" rtl="0"/>
            <a:r>
              <a:rPr lang="en-US" sz="2000" b="1">
                <a:effectLst>
                  <a:outerShdw blurRad="38100" dist="38100" dir="2700000" algn="tl">
                    <a:srgbClr val="000000">
                      <a:alpha val="43137"/>
                    </a:srgbClr>
                  </a:outerShdw>
                </a:effectLst>
              </a:rPr>
              <a:t>Tuples:</a:t>
            </a:r>
          </a:p>
          <a:p>
            <a:pPr algn="l" rtl="0"/>
            <a:r>
              <a:rPr lang="en-US" sz="2000">
                <a:effectLst>
                  <a:outerShdw blurRad="38100" dist="38100" dir="2700000" algn="tl">
                    <a:srgbClr val="000000">
                      <a:alpha val="43137"/>
                    </a:srgbClr>
                  </a:outerShdw>
                </a:effectLst>
              </a:rPr>
              <a:t>val point: (int, int) = (10, 20)</a:t>
            </a:r>
          </a:p>
          <a:p>
            <a:pPr algn="l" rtl="0"/>
            <a:r>
              <a:rPr lang="en-US" sz="2000">
                <a:effectLst>
                  <a:outerShdw blurRad="38100" dist="38100" dir="2700000" algn="tl">
                    <a:srgbClr val="000000">
                      <a:alpha val="43137"/>
                    </a:srgbClr>
                  </a:outerShdw>
                </a:effectLst>
              </a:rPr>
              <a:t>val x = point.fst  // 10</a:t>
            </a:r>
          </a:p>
          <a:p>
            <a:pPr algn="l" rtl="0"/>
            <a:r>
              <a:rPr lang="en-US" sz="2000">
                <a:effectLst>
                  <a:outerShdw blurRad="38100" dist="38100" dir="2700000" algn="tl">
                    <a:srgbClr val="000000">
                      <a:alpha val="43137"/>
                    </a:srgbClr>
                  </a:outerShdw>
                </a:effectLst>
              </a:rPr>
              <a:t>val y = point.snd  // 20</a:t>
            </a:r>
          </a:p>
          <a:p>
            <a:pPr algn="l" rtl="0"/>
            <a:endParaRPr lang="en-US" sz="2000">
              <a:effectLst>
                <a:outerShdw blurRad="38100" dist="38100" dir="2700000" algn="tl">
                  <a:srgbClr val="000000">
                    <a:alpha val="43137"/>
                  </a:srgbClr>
                </a:outerShdw>
              </a:effectLst>
            </a:endParaRPr>
          </a:p>
          <a:p>
            <a:pPr algn="l" rtl="0"/>
            <a:r>
              <a:rPr lang="en-US" sz="2000" b="1">
                <a:effectLst>
                  <a:outerShdw blurRad="38100" dist="38100" dir="2700000" algn="tl">
                    <a:srgbClr val="000000">
                      <a:alpha val="43137"/>
                    </a:srgbClr>
                  </a:outerShdw>
                </a:effectLst>
              </a:rPr>
              <a:t>Record:</a:t>
            </a:r>
          </a:p>
          <a:p>
            <a:pPr algn="l" rtl="0"/>
            <a:r>
              <a:rPr lang="en-US" sz="2000">
                <a:effectLst>
                  <a:outerShdw blurRad="38100" dist="38100" dir="2700000" algn="tl">
                    <a:srgbClr val="000000">
                      <a:alpha val="43137"/>
                    </a:srgbClr>
                  </a:outerShdw>
                </a:effectLst>
              </a:rPr>
              <a:t>struct person</a:t>
            </a:r>
          </a:p>
          <a:p>
            <a:pPr algn="l" rtl="0"/>
            <a:r>
              <a:rPr lang="en-US" sz="2000">
                <a:effectLst>
                  <a:outerShdw blurRad="38100" dist="38100" dir="2700000" algn="tl">
                    <a:srgbClr val="000000">
                      <a:alpha val="43137"/>
                    </a:srgbClr>
                  </a:outerShdw>
                </a:effectLst>
              </a:rPr>
              <a:t>  name: string</a:t>
            </a:r>
          </a:p>
          <a:p>
            <a:pPr algn="l" rtl="0"/>
            <a:r>
              <a:rPr lang="en-US" sz="2000">
                <a:effectLst>
                  <a:outerShdw blurRad="38100" dist="38100" dir="2700000" algn="tl">
                    <a:srgbClr val="000000">
                      <a:alpha val="43137"/>
                    </a:srgbClr>
                  </a:outerShdw>
                </a:effectLst>
              </a:rPr>
              <a:t>  age: int</a:t>
            </a:r>
          </a:p>
          <a:p>
            <a:pPr algn="l" rtl="0"/>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pub fun main(): io() {   </a:t>
            </a:r>
          </a:p>
          <a:p>
            <a:pPr algn="l" rtl="0"/>
            <a:r>
              <a:rPr lang="en-US" sz="2000">
                <a:effectLst>
                  <a:outerShdw blurRad="38100" dist="38100" dir="2700000" algn="tl">
                    <a:srgbClr val="000000">
                      <a:alpha val="43137"/>
                    </a:srgbClr>
                  </a:outerShdw>
                </a:effectLst>
              </a:rPr>
              <a:t>  val p= Person("Alice", 25) </a:t>
            </a:r>
          </a:p>
          <a:p>
            <a:pPr algn="l" rtl="0"/>
            <a:r>
              <a:rPr lang="en-US" sz="2000">
                <a:effectLst>
                  <a:outerShdw blurRad="38100" dist="38100" dir="2700000" algn="tl">
                    <a:srgbClr val="000000">
                      <a:alpha val="43137"/>
                    </a:srgbClr>
                  </a:outerShdw>
                </a:effectLst>
              </a:rPr>
              <a:t>  println("name of person: "++p.name)   </a:t>
            </a:r>
            <a:r>
              <a:rPr lang="en-US" sz="2000">
                <a:solidFill>
                  <a:srgbClr val="009A46"/>
                </a:solidFill>
                <a:effectLst>
                  <a:outerShdw blurRad="38100" dist="38100" dir="2700000" algn="tl">
                    <a:srgbClr val="000000">
                      <a:alpha val="43137"/>
                    </a:srgbClr>
                  </a:outerShdw>
                </a:effectLst>
              </a:rPr>
              <a:t>//output- name of person: Alice</a:t>
            </a:r>
          </a:p>
          <a:p>
            <a:pPr algn="l" rtl="0"/>
            <a:r>
              <a:rPr lang="en-US" sz="2000">
                <a:effectLst>
                  <a:outerShdw blurRad="38100" dist="38100" dir="2700000" algn="tl">
                    <a:srgbClr val="000000">
                      <a:alpha val="43137"/>
                    </a:srgbClr>
                  </a:outerShdw>
                </a:effectLst>
              </a:rPr>
              <a:t>}</a:t>
            </a:r>
          </a:p>
          <a:p>
            <a:pPr algn="l"/>
            <a:endParaRPr lang="en-US" sz="2000">
              <a:effectLst>
                <a:outerShdw blurRad="38100" dist="38100" dir="2700000" algn="tl">
                  <a:srgbClr val="000000">
                    <a:alpha val="43137"/>
                  </a:srgbClr>
                </a:outerShdw>
              </a:effectLst>
            </a:endParaRPr>
          </a:p>
          <a:p>
            <a:pPr algn="l" rtl="0"/>
            <a:br>
              <a:rPr lang="en-US" sz="2000">
                <a:effectLst>
                  <a:outerShdw blurRad="38100" dist="38100" dir="2700000" algn="tl">
                    <a:srgbClr val="000000">
                      <a:alpha val="43137"/>
                    </a:srgbClr>
                  </a:outerShdw>
                </a:effectLst>
              </a:rPr>
            </a:br>
            <a:endParaRPr lang="en-US" sz="2000">
              <a:effectLst>
                <a:outerShdw blurRad="38100" dist="38100" dir="2700000" algn="tl">
                  <a:srgbClr val="000000">
                    <a:alpha val="43137"/>
                  </a:srgbClr>
                </a:outerShdw>
              </a:effectLst>
            </a:endParaRPr>
          </a:p>
        </p:txBody>
      </p:sp>
      <p:sp>
        <p:nvSpPr>
          <p:cNvPr id="5" name="מלבן 4">
            <a:extLst>
              <a:ext uri="{FF2B5EF4-FFF2-40B4-BE49-F238E27FC236}">
                <a16:creationId xmlns:a16="http://schemas.microsoft.com/office/drawing/2014/main" id="{D351524F-875B-4AD5-B438-77C4C01C66AE}"/>
              </a:ext>
            </a:extLst>
          </p:cNvPr>
          <p:cNvSpPr/>
          <p:nvPr/>
        </p:nvSpPr>
        <p:spPr>
          <a:xfrm>
            <a:off x="11793102" y="1396276"/>
            <a:ext cx="6096000" cy="923330"/>
          </a:xfrm>
          <a:prstGeom prst="rect">
            <a:avLst/>
          </a:prstGeom>
        </p:spPr>
        <p:txBody>
          <a:bodyPr>
            <a:spAutoFit/>
          </a:bodyPr>
          <a:lstStyle/>
          <a:p>
            <a:pPr lvl="0" eaLnBrk="0" fontAlgn="base" hangingPunct="0">
              <a:spcBef>
                <a:spcPct val="0"/>
              </a:spcBef>
              <a:spcAft>
                <a:spcPct val="0"/>
              </a:spcAft>
              <a:buFontTx/>
              <a:buChar char="•"/>
            </a:pPr>
            <a:r>
              <a:rPr lang="he-IL" altLang="he-IL" b="1">
                <a:latin typeface="Arial" panose="020B0604020202020204" pitchFamily="34" charset="0"/>
              </a:rPr>
              <a:t>Tuples</a:t>
            </a:r>
            <a:r>
              <a:rPr lang="he-IL" altLang="he-IL">
                <a:latin typeface="Arial" panose="020B0604020202020204" pitchFamily="34" charset="0"/>
              </a:rPr>
              <a:t>: זוגות או קבוצות של ערכים </a:t>
            </a:r>
          </a:p>
          <a:p>
            <a:pPr lvl="0" eaLnBrk="0" fontAlgn="base" hangingPunct="0">
              <a:spcBef>
                <a:spcPct val="0"/>
              </a:spcBef>
              <a:spcAft>
                <a:spcPct val="0"/>
              </a:spcAft>
              <a:buFontTx/>
              <a:buChar char="•"/>
            </a:pPr>
            <a:r>
              <a:rPr lang="he-IL" altLang="he-IL" b="1">
                <a:latin typeface="Arial" panose="020B0604020202020204" pitchFamily="34" charset="0"/>
              </a:rPr>
              <a:t>Records</a:t>
            </a:r>
            <a:r>
              <a:rPr lang="he-IL" altLang="he-IL">
                <a:latin typeface="Arial" panose="020B0604020202020204" pitchFamily="34" charset="0"/>
              </a:rPr>
              <a:t>: מבנים עם שדות בעלי שם </a:t>
            </a:r>
          </a:p>
          <a:p>
            <a:pPr lvl="0" eaLnBrk="0" fontAlgn="base" hangingPunct="0">
              <a:spcBef>
                <a:spcPct val="0"/>
              </a:spcBef>
              <a:spcAft>
                <a:spcPct val="0"/>
              </a:spcAft>
            </a:pPr>
            <a:endParaRPr lang="he-IL" altLang="he-IL" b="1">
              <a:latin typeface="Arial" panose="020B0604020202020204" pitchFamily="34" charset="0"/>
            </a:endParaRPr>
          </a:p>
        </p:txBody>
      </p:sp>
    </p:spTree>
    <p:extLst>
      <p:ext uri="{BB962C8B-B14F-4D97-AF65-F5344CB8AC3E}">
        <p14:creationId xmlns:p14="http://schemas.microsoft.com/office/powerpoint/2010/main" val="203709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תמונה 14">
            <a:extLst>
              <a:ext uri="{FF2B5EF4-FFF2-40B4-BE49-F238E27FC236}">
                <a16:creationId xmlns:a16="http://schemas.microsoft.com/office/drawing/2014/main" id="{7B72E3FC-A857-4B0E-ADB7-56FBB956815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D06F6940-7235-411C-A940-2F8D9CC57F7A}"/>
              </a:ext>
            </a:extLst>
          </p:cNvPr>
          <p:cNvSpPr/>
          <p:nvPr/>
        </p:nvSpPr>
        <p:spPr>
          <a:xfrm>
            <a:off x="221727" y="647065"/>
            <a:ext cx="5163073" cy="2000548"/>
          </a:xfrm>
          <a:prstGeom prst="rect">
            <a:avLst/>
          </a:prstGeom>
        </p:spPr>
        <p:txBody>
          <a:bodyPr wrap="square">
            <a:spAutoFit/>
          </a:bodyPr>
          <a:lstStyle/>
          <a:p>
            <a:pPr algn="ctr"/>
            <a:r>
              <a:rPr lang="en-US" sz="3200" b="1">
                <a:effectLst>
                  <a:outerShdw blurRad="38100" dist="38100" dir="2700000" algn="tl">
                    <a:srgbClr val="000000">
                      <a:alpha val="43137"/>
                    </a:srgbClr>
                  </a:outerShdw>
                </a:effectLst>
              </a:rPr>
              <a:t>Static Type System</a:t>
            </a:r>
          </a:p>
          <a:p>
            <a:pPr algn="ctr"/>
            <a:r>
              <a:rPr lang="en-US" sz="2000" b="1">
                <a:effectLst>
                  <a:outerShdw blurRad="38100" dist="38100" dir="2700000" algn="tl">
                    <a:srgbClr val="000000">
                      <a:alpha val="43137"/>
                    </a:srgbClr>
                  </a:outerShdw>
                </a:effectLst>
              </a:rPr>
              <a:t>Types are determined at compile time</a:t>
            </a:r>
            <a:endParaRPr lang="he-IL" sz="2000" b="1">
              <a:effectLst>
                <a:outerShdw blurRad="38100" dist="38100" dir="2700000" algn="tl">
                  <a:srgbClr val="000000">
                    <a:alpha val="43137"/>
                  </a:srgbClr>
                </a:outerShdw>
              </a:effectLst>
            </a:endParaRPr>
          </a:p>
          <a:p>
            <a:pPr algn="ctr"/>
            <a:endParaRPr lang="he-IL" b="1">
              <a:effectLst>
                <a:outerShdw blurRad="38100" dist="38100" dir="2700000" algn="tl">
                  <a:srgbClr val="000000">
                    <a:alpha val="43137"/>
                  </a:srgbClr>
                </a:outerShdw>
              </a:effectLst>
            </a:endParaRPr>
          </a:p>
          <a:p>
            <a:pPr algn="l">
              <a:spcBef>
                <a:spcPts val="0"/>
              </a:spcBef>
              <a:spcAft>
                <a:spcPts val="0"/>
              </a:spcAft>
            </a:pPr>
            <a:br>
              <a:rPr lang="en-US"/>
            </a:br>
            <a:br>
              <a:rPr lang="he-IL"/>
            </a:br>
            <a:endParaRPr lang="he-IL"/>
          </a:p>
        </p:txBody>
      </p:sp>
      <p:sp>
        <p:nvSpPr>
          <p:cNvPr id="7" name="מלבן 6">
            <a:extLst>
              <a:ext uri="{FF2B5EF4-FFF2-40B4-BE49-F238E27FC236}">
                <a16:creationId xmlns:a16="http://schemas.microsoft.com/office/drawing/2014/main" id="{442A4221-815B-4F13-81F1-4B2ABD070016}"/>
              </a:ext>
            </a:extLst>
          </p:cNvPr>
          <p:cNvSpPr/>
          <p:nvPr/>
        </p:nvSpPr>
        <p:spPr>
          <a:xfrm>
            <a:off x="12496800" y="1043731"/>
            <a:ext cx="4602480" cy="4770537"/>
          </a:xfrm>
          <a:prstGeom prst="rect">
            <a:avLst/>
          </a:prstGeom>
        </p:spPr>
        <p:txBody>
          <a:bodyPr wrap="square">
            <a:spAutoFit/>
          </a:bodyPr>
          <a:lstStyle/>
          <a:p>
            <a:pPr lvl="0" eaLnBrk="0" fontAlgn="base" hangingPunct="0">
              <a:spcBef>
                <a:spcPct val="0"/>
              </a:spcBef>
              <a:spcAft>
                <a:spcPct val="0"/>
              </a:spcAft>
            </a:pPr>
            <a:r>
              <a:rPr lang="he-IL" altLang="he-IL" sz="1600" b="1"/>
              <a:t>Static Type System:</a:t>
            </a:r>
            <a:r>
              <a:rPr lang="he-IL" altLang="he-IL" sz="1600"/>
              <a:t> הקומפיילר יודע את הטיפוסים של כל משתנה עוד לפני שהקוד רץ. אם ננסה לחבר int ו-string, תקבל שגיאה בזמן קומפילציה - לא צריך לחכות עד שהקוד רץ כדי לגלות את הבעיה.</a:t>
            </a:r>
          </a:p>
          <a:p>
            <a:pPr lvl="0" eaLnBrk="0" fontAlgn="base" hangingPunct="0">
              <a:spcBef>
                <a:spcPct val="0"/>
              </a:spcBef>
              <a:spcAft>
                <a:spcPct val="0"/>
              </a:spcAft>
            </a:pPr>
            <a:r>
              <a:rPr lang="he-IL" altLang="he-IL" sz="1600" b="1"/>
              <a:t>Strong Type System:</a:t>
            </a:r>
            <a:r>
              <a:rPr lang="he-IL" altLang="he-IL" sz="1600"/>
              <a:t> השפה לא עושה המרות אוטומטיות בין טיפוסים שונים. </a:t>
            </a:r>
          </a:p>
          <a:p>
            <a:pPr lvl="0" eaLnBrk="0" fontAlgn="base" hangingPunct="0">
              <a:spcBef>
                <a:spcPct val="0"/>
              </a:spcBef>
              <a:spcAft>
                <a:spcPct val="0"/>
              </a:spcAft>
            </a:pPr>
            <a:r>
              <a:rPr lang="he-IL" altLang="he-IL" sz="1600"/>
              <a:t>בדוגמא:</a:t>
            </a:r>
          </a:p>
          <a:p>
            <a:pPr lvl="0" eaLnBrk="0" fontAlgn="base" hangingPunct="0">
              <a:spcBef>
                <a:spcPct val="0"/>
              </a:spcBef>
              <a:spcAft>
                <a:spcPct val="0"/>
              </a:spcAft>
            </a:pPr>
            <a:r>
              <a:rPr lang="he-IL" altLang="he-IL" sz="1600"/>
              <a:t>number ו־text הם מסוגים שונים (int ו־string), ולכן ניסיון לחבר ביניהם (number + text) גורם לשגיאה – השפה </a:t>
            </a:r>
            <a:r>
              <a:rPr lang="he-IL" altLang="he-IL" sz="1600" b="1"/>
              <a:t>לא מבצעת המרת טיפוס אוטומטית</a:t>
            </a:r>
            <a:r>
              <a:rPr lang="he-IL" altLang="he-IL" sz="1600"/>
              <a:t>.</a:t>
            </a:r>
          </a:p>
          <a:p>
            <a:pPr lvl="0" eaLnBrk="0" fontAlgn="base" hangingPunct="0">
              <a:spcBef>
                <a:spcPct val="0"/>
              </a:spcBef>
              <a:spcAft>
                <a:spcPct val="0"/>
              </a:spcAft>
            </a:pPr>
            <a:r>
              <a:rPr lang="he-IL" altLang="he-IL" sz="1600"/>
              <a:t>כדי להפוך מחרוזת למספר (בדוגמה: text2int), צריך לבצע </a:t>
            </a:r>
            <a:r>
              <a:rPr lang="he-IL" altLang="he-IL" sz="1600" b="1"/>
              <a:t>המרה מפורשת</a:t>
            </a:r>
            <a:r>
              <a:rPr lang="he-IL" altLang="he-IL" sz="1600"/>
              <a:t> בעזרת parse-int, וגם אז לעטוף ב־unjust כדי לשלוף את הערך.</a:t>
            </a:r>
            <a:br>
              <a:rPr lang="he-IL" altLang="he-IL" sz="1600"/>
            </a:br>
            <a:r>
              <a:rPr lang="he-IL" altLang="he-IL" sz="1600"/>
              <a:t>השפה מחייבת </a:t>
            </a:r>
            <a:r>
              <a:rPr lang="he-IL" altLang="he-IL" sz="1600" b="1"/>
              <a:t>שימוש מודע וזהיר בטיפוסים</a:t>
            </a:r>
            <a:r>
              <a:rPr lang="he-IL" altLang="he-IL" sz="1600"/>
              <a:t>.</a:t>
            </a:r>
          </a:p>
          <a:p>
            <a:pPr lvl="0" eaLnBrk="0" fontAlgn="base" hangingPunct="0">
              <a:spcBef>
                <a:spcPct val="0"/>
              </a:spcBef>
              <a:spcAft>
                <a:spcPct val="0"/>
              </a:spcAft>
            </a:pPr>
            <a:r>
              <a:rPr lang="he-IL" altLang="he-IL" sz="1600"/>
              <a:t>יש מקרה יוצא דופן:</a:t>
            </a:r>
            <a:br>
              <a:rPr lang="he-IL" altLang="he-IL" sz="1600"/>
            </a:br>
            <a:r>
              <a:rPr lang="he-IL" altLang="he-IL" sz="1600"/>
              <a:t>println(number) עובד כי </a:t>
            </a:r>
            <a:r>
              <a:rPr lang="he-IL" altLang="he-IL" sz="1600" b="1"/>
              <a:t>המרה של int למחרוזת לצורך הדפסה מותרת ונחשבת בטוחה</a:t>
            </a:r>
          </a:p>
          <a:p>
            <a:pPr lvl="0" eaLnBrk="0" fontAlgn="base" hangingPunct="0">
              <a:spcBef>
                <a:spcPct val="0"/>
              </a:spcBef>
              <a:spcAft>
                <a:spcPct val="0"/>
              </a:spcAft>
            </a:pPr>
            <a:r>
              <a:rPr lang="he-IL" altLang="he-IL" sz="1600"/>
              <a:t>ההבדל: </a:t>
            </a:r>
            <a:r>
              <a:rPr lang="he-IL" altLang="he-IL" sz="1600" b="1"/>
              <a:t>Static</a:t>
            </a:r>
            <a:r>
              <a:rPr lang="he-IL" altLang="he-IL" sz="1600"/>
              <a:t> = מתי בודקים, </a:t>
            </a:r>
            <a:r>
              <a:rPr lang="he-IL" altLang="he-IL" sz="1600" b="1"/>
              <a:t>Strong</a:t>
            </a:r>
            <a:r>
              <a:rPr lang="he-IL" altLang="he-IL" sz="1600"/>
              <a:t> = כמה קפדניים בהמרות.</a:t>
            </a:r>
          </a:p>
        </p:txBody>
      </p:sp>
      <p:sp>
        <p:nvSpPr>
          <p:cNvPr id="8" name="מלבן 7">
            <a:extLst>
              <a:ext uri="{FF2B5EF4-FFF2-40B4-BE49-F238E27FC236}">
                <a16:creationId xmlns:a16="http://schemas.microsoft.com/office/drawing/2014/main" id="{E115920A-14FE-446F-9C6F-C9A24CA0E3AA}"/>
              </a:ext>
            </a:extLst>
          </p:cNvPr>
          <p:cNvSpPr/>
          <p:nvPr/>
        </p:nvSpPr>
        <p:spPr>
          <a:xfrm>
            <a:off x="419100" y="2474893"/>
            <a:ext cx="6096000" cy="1754326"/>
          </a:xfrm>
          <a:prstGeom prst="rect">
            <a:avLst/>
          </a:prstGeom>
        </p:spPr>
        <p:txBody>
          <a:bodyPr>
            <a:spAutoFit/>
          </a:bodyPr>
          <a:lstStyle/>
          <a:p>
            <a:pPr algn="l"/>
            <a:r>
              <a:rPr lang="en-US">
                <a:effectLst>
                  <a:outerShdw blurRad="38100" dist="38100" dir="2700000" algn="tl">
                    <a:srgbClr val="000000">
                      <a:alpha val="43137"/>
                    </a:srgbClr>
                  </a:outerShdw>
                </a:effectLst>
              </a:rPr>
              <a:t>pub fun main(): </a:t>
            </a:r>
            <a:r>
              <a:rPr lang="en-US">
                <a:solidFill>
                  <a:srgbClr val="383A42"/>
                </a:solidFill>
                <a:effectLst>
                  <a:outerShdw blurRad="38100" dist="38100" dir="2700000" algn="tl">
                    <a:srgbClr val="000000">
                      <a:alpha val="43137"/>
                    </a:srgbClr>
                  </a:outerShdw>
                </a:effectLst>
                <a:latin typeface="__jetbrains_e4195f"/>
              </a:rPr>
              <a:t>io() {</a:t>
            </a:r>
          </a:p>
          <a:p>
            <a:pPr algn="l"/>
            <a:r>
              <a:rPr lang="en-US">
                <a:solidFill>
                  <a:srgbClr val="383A42"/>
                </a:solidFill>
                <a:effectLst>
                  <a:outerShdw blurRad="38100" dist="38100" dir="2700000" algn="tl">
                    <a:srgbClr val="000000">
                      <a:alpha val="43137"/>
                    </a:srgbClr>
                  </a:outerShdw>
                </a:effectLst>
                <a:latin typeface="__jetbrains_e4195f"/>
              </a:rPr>
              <a:t>  val x = 5   </a:t>
            </a:r>
            <a:r>
              <a:rPr lang="en-US">
                <a:solidFill>
                  <a:srgbClr val="009A46"/>
                </a:solidFill>
                <a:effectLst>
                  <a:outerShdw blurRad="38100" dist="38100" dir="2700000" algn="tl">
                    <a:srgbClr val="000000">
                      <a:alpha val="43137"/>
                    </a:srgbClr>
                  </a:outerShdw>
                </a:effectLst>
                <a:latin typeface="__jetbrains_e4195f"/>
              </a:rPr>
              <a:t>// Compiler knows this is int </a:t>
            </a:r>
          </a:p>
          <a:p>
            <a:pPr algn="l"/>
            <a:r>
              <a:rPr lang="en-US">
                <a:solidFill>
                  <a:srgbClr val="383A42"/>
                </a:solidFill>
                <a:effectLst>
                  <a:outerShdw blurRad="38100" dist="38100" dir="2700000" algn="tl">
                    <a:srgbClr val="000000">
                      <a:alpha val="43137"/>
                    </a:srgbClr>
                  </a:outerShdw>
                </a:effectLst>
                <a:latin typeface="__jetbrains_e4195f"/>
              </a:rPr>
              <a:t>  val y = "hello"  </a:t>
            </a:r>
            <a:r>
              <a:rPr lang="en-US">
                <a:solidFill>
                  <a:srgbClr val="009A46"/>
                </a:solidFill>
                <a:effectLst>
                  <a:outerShdw blurRad="38100" dist="38100" dir="2700000" algn="tl">
                    <a:srgbClr val="000000">
                      <a:alpha val="43137"/>
                    </a:srgbClr>
                  </a:outerShdw>
                </a:effectLst>
                <a:latin typeface="__jetbrains_e4195f"/>
              </a:rPr>
              <a:t>// Compiler knows this is string</a:t>
            </a:r>
            <a:endParaRPr lang="en-US">
              <a:solidFill>
                <a:srgbClr val="383A42"/>
              </a:solidFill>
              <a:effectLst>
                <a:outerShdw blurRad="38100" dist="38100" dir="2700000" algn="tl">
                  <a:srgbClr val="000000">
                    <a:alpha val="43137"/>
                  </a:srgbClr>
                </a:outerShdw>
              </a:effectLst>
              <a:latin typeface="__jetbrains_e4195f"/>
            </a:endParaRPr>
          </a:p>
          <a:p>
            <a:pPr algn="l"/>
            <a:r>
              <a:rPr lang="en-US">
                <a:solidFill>
                  <a:srgbClr val="383A42"/>
                </a:solidFill>
                <a:effectLst>
                  <a:outerShdw blurRad="38100" dist="38100" dir="2700000" algn="tl">
                    <a:srgbClr val="000000">
                      <a:alpha val="43137"/>
                    </a:srgbClr>
                  </a:outerShdw>
                </a:effectLst>
                <a:latin typeface="__jetbrains_e4195f"/>
              </a:rPr>
              <a:t>  val z = x + y   </a:t>
            </a:r>
            <a:r>
              <a:rPr lang="en-US">
                <a:solidFill>
                  <a:srgbClr val="009A46"/>
                </a:solidFill>
                <a:effectLst>
                  <a:outerShdw blurRad="38100" dist="38100" dir="2700000" algn="tl">
                    <a:srgbClr val="000000">
                      <a:alpha val="43137"/>
                    </a:srgbClr>
                  </a:outerShdw>
                </a:effectLst>
                <a:latin typeface="__jetbrains_e4195f"/>
              </a:rPr>
              <a:t>// Compile-time error!</a:t>
            </a:r>
          </a:p>
          <a:p>
            <a:pPr algn="l"/>
            <a:r>
              <a:rPr lang="en-US">
                <a:effectLst>
                  <a:outerShdw blurRad="38100" dist="38100" dir="2700000" algn="tl">
                    <a:srgbClr val="000000">
                      <a:alpha val="43137"/>
                    </a:srgbClr>
                  </a:outerShdw>
                </a:effectLst>
              </a:rPr>
              <a:t>  println(z)</a:t>
            </a:r>
            <a:endParaRPr lang="en-US">
              <a:solidFill>
                <a:srgbClr val="009A46"/>
              </a:solidFill>
              <a:effectLst>
                <a:outerShdw blurRad="38100" dist="38100" dir="2700000" algn="tl">
                  <a:srgbClr val="000000">
                    <a:alpha val="43137"/>
                  </a:srgbClr>
                </a:outerShdw>
              </a:effectLst>
              <a:latin typeface="__jetbrains_e4195f"/>
            </a:endParaRPr>
          </a:p>
          <a:p>
            <a:pPr algn="l"/>
            <a:r>
              <a:rPr lang="en-US">
                <a:solidFill>
                  <a:srgbClr val="383A42"/>
                </a:solidFill>
                <a:effectLst>
                  <a:outerShdw blurRad="38100" dist="38100" dir="2700000" algn="tl">
                    <a:srgbClr val="000000">
                      <a:alpha val="43137"/>
                    </a:srgbClr>
                  </a:outerShdw>
                </a:effectLst>
                <a:latin typeface="__jetbrains_e4195f"/>
              </a:rPr>
              <a:t>}</a:t>
            </a:r>
            <a:endParaRPr lang="he-IL">
              <a:effectLst>
                <a:outerShdw blurRad="38100" dist="38100" dir="2700000" algn="tl">
                  <a:srgbClr val="000000">
                    <a:alpha val="43137"/>
                  </a:srgbClr>
                </a:outerShdw>
              </a:effectLst>
            </a:endParaRPr>
          </a:p>
        </p:txBody>
      </p:sp>
      <p:sp>
        <p:nvSpPr>
          <p:cNvPr id="9" name="מלבן 8">
            <a:extLst>
              <a:ext uri="{FF2B5EF4-FFF2-40B4-BE49-F238E27FC236}">
                <a16:creationId xmlns:a16="http://schemas.microsoft.com/office/drawing/2014/main" id="{C53BB49F-810C-4E90-B186-F631C94C30DD}"/>
              </a:ext>
            </a:extLst>
          </p:cNvPr>
          <p:cNvSpPr/>
          <p:nvPr/>
        </p:nvSpPr>
        <p:spPr>
          <a:xfrm>
            <a:off x="6096000" y="647065"/>
            <a:ext cx="5163073" cy="1692771"/>
          </a:xfrm>
          <a:prstGeom prst="rect">
            <a:avLst/>
          </a:prstGeom>
        </p:spPr>
        <p:txBody>
          <a:bodyPr wrap="square">
            <a:spAutoFit/>
          </a:bodyPr>
          <a:lstStyle/>
          <a:p>
            <a:pPr algn="ctr"/>
            <a:r>
              <a:rPr lang="en-US" sz="3200" b="1">
                <a:effectLst>
                  <a:outerShdw blurRad="38100" dist="38100" dir="2700000" algn="tl">
                    <a:srgbClr val="000000">
                      <a:alpha val="43137"/>
                    </a:srgbClr>
                  </a:outerShdw>
                </a:effectLst>
              </a:rPr>
              <a:t>Strong Type System</a:t>
            </a:r>
          </a:p>
          <a:p>
            <a:pPr algn="ctr"/>
            <a:r>
              <a:rPr lang="en-US" b="1">
                <a:effectLst>
                  <a:outerShdw blurRad="38100" dist="38100" dir="2700000" algn="tl">
                    <a:srgbClr val="000000">
                      <a:alpha val="43137"/>
                    </a:srgbClr>
                  </a:outerShdw>
                </a:effectLst>
              </a:rPr>
              <a:t>No automatic conversions between types</a:t>
            </a:r>
            <a:endParaRPr lang="he-IL" b="1">
              <a:effectLst>
                <a:outerShdw blurRad="38100" dist="38100" dir="2700000" algn="tl">
                  <a:srgbClr val="000000">
                    <a:alpha val="43137"/>
                  </a:srgbClr>
                </a:outerShdw>
              </a:effectLst>
            </a:endParaRPr>
          </a:p>
          <a:p>
            <a:pPr algn="l">
              <a:spcBef>
                <a:spcPts val="0"/>
              </a:spcBef>
              <a:spcAft>
                <a:spcPts val="0"/>
              </a:spcAft>
            </a:pPr>
            <a:br>
              <a:rPr lang="en-US"/>
            </a:br>
            <a:br>
              <a:rPr lang="he-IL"/>
            </a:br>
            <a:endParaRPr lang="he-IL"/>
          </a:p>
        </p:txBody>
      </p:sp>
      <p:sp>
        <p:nvSpPr>
          <p:cNvPr id="11" name="מלבן 10">
            <a:extLst>
              <a:ext uri="{FF2B5EF4-FFF2-40B4-BE49-F238E27FC236}">
                <a16:creationId xmlns:a16="http://schemas.microsoft.com/office/drawing/2014/main" id="{0DD8EA98-9B5E-4ACE-97D9-B0CD2D203BB4}"/>
              </a:ext>
            </a:extLst>
          </p:cNvPr>
          <p:cNvSpPr/>
          <p:nvPr/>
        </p:nvSpPr>
        <p:spPr>
          <a:xfrm>
            <a:off x="5582173" y="1647339"/>
            <a:ext cx="6606540" cy="5355312"/>
          </a:xfrm>
          <a:prstGeom prst="rect">
            <a:avLst/>
          </a:prstGeom>
        </p:spPr>
        <p:txBody>
          <a:bodyPr wrap="square">
            <a:spAutoFit/>
          </a:bodyPr>
          <a:lstStyle/>
          <a:p>
            <a:pPr algn="l"/>
            <a:r>
              <a:rPr lang="en-US">
                <a:effectLst>
                  <a:outerShdw blurRad="38100" dist="38100" dir="2700000" algn="tl">
                    <a:srgbClr val="000000">
                      <a:alpha val="43137"/>
                    </a:srgbClr>
                  </a:outerShdw>
                </a:effectLst>
              </a:rPr>
              <a:t>pub fun main(): </a:t>
            </a:r>
            <a:r>
              <a:rPr lang="en-US">
                <a:solidFill>
                  <a:schemeClr val="tx1">
                    <a:lumMod val="95000"/>
                    <a:lumOff val="5000"/>
                  </a:schemeClr>
                </a:solidFill>
                <a:effectLst>
                  <a:outerShdw blurRad="38100" dist="38100" dir="2700000" algn="tl">
                    <a:srgbClr val="000000">
                      <a:alpha val="43137"/>
                    </a:srgbClr>
                  </a:outerShdw>
                </a:effectLst>
              </a:rPr>
              <a:t>io() {</a:t>
            </a:r>
          </a:p>
          <a:p>
            <a:pPr algn="l"/>
            <a:r>
              <a:rPr lang="en-US">
                <a:solidFill>
                  <a:schemeClr val="tx1">
                    <a:lumMod val="95000"/>
                    <a:lumOff val="5000"/>
                  </a:schemeClr>
                </a:solidFill>
                <a:effectLst>
                  <a:outerShdw blurRad="38100" dist="38100" dir="2700000" algn="tl">
                    <a:srgbClr val="000000">
                      <a:alpha val="43137"/>
                    </a:srgbClr>
                  </a:outerShdw>
                </a:effectLst>
              </a:rPr>
              <a:t>  val number = 42</a:t>
            </a:r>
          </a:p>
          <a:p>
            <a:pPr algn="l"/>
            <a:r>
              <a:rPr lang="en-US">
                <a:solidFill>
                  <a:schemeClr val="tx1">
                    <a:lumMod val="95000"/>
                    <a:lumOff val="5000"/>
                  </a:schemeClr>
                </a:solidFill>
                <a:effectLst>
                  <a:outerShdw blurRad="38100" dist="38100" dir="2700000" algn="tl">
                    <a:srgbClr val="000000">
                      <a:alpha val="43137"/>
                    </a:srgbClr>
                  </a:outerShdw>
                </a:effectLst>
              </a:rPr>
              <a:t>  val text = "55"</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chemeClr val="tx1">
                    <a:lumMod val="95000"/>
                    <a:lumOff val="5000"/>
                  </a:schemeClr>
                </a:solidFill>
                <a:effectLst>
                  <a:outerShdw blurRad="38100" dist="38100" dir="2700000" algn="tl">
                    <a:srgbClr val="000000">
                      <a:alpha val="43137"/>
                    </a:srgbClr>
                  </a:outerShdw>
                </a:effectLst>
              </a:rPr>
              <a:t>  var text2int:=unjust(parse-int(text)) </a:t>
            </a:r>
            <a:r>
              <a:rPr lang="en-US">
                <a:solidFill>
                  <a:srgbClr val="009A46"/>
                </a:solidFill>
                <a:effectLst>
                  <a:outerShdw blurRad="38100" dist="38100" dir="2700000" algn="tl">
                    <a:srgbClr val="000000">
                      <a:alpha val="43137"/>
                    </a:srgbClr>
                  </a:outerShdw>
                </a:effectLst>
              </a:rPr>
              <a:t>//Explicit conversion</a:t>
            </a:r>
            <a:endParaRPr lang="en-US">
              <a:solidFill>
                <a:schemeClr val="tx1">
                  <a:lumMod val="95000"/>
                  <a:lumOff val="5000"/>
                </a:schemeClr>
              </a:solidFill>
              <a:effectLst>
                <a:outerShdw blurRad="38100" dist="38100" dir="2700000" algn="tl">
                  <a:srgbClr val="000000">
                    <a:alpha val="43137"/>
                  </a:srgbClr>
                </a:outerShdw>
              </a:effectLst>
            </a:endParaRPr>
          </a:p>
          <a:p>
            <a:pPr algn="l"/>
            <a:r>
              <a:rPr lang="en-US">
                <a:solidFill>
                  <a:schemeClr val="tx1">
                    <a:lumMod val="95000"/>
                    <a:lumOff val="5000"/>
                  </a:schemeClr>
                </a:solidFill>
                <a:effectLst>
                  <a:outerShdw blurRad="38100" dist="38100" dir="2700000" algn="tl">
                    <a:srgbClr val="000000">
                      <a:alpha val="43137"/>
                    </a:srgbClr>
                  </a:outerShdw>
                </a:effectLst>
              </a:rPr>
              <a:t>  println(text2int) </a:t>
            </a:r>
            <a:r>
              <a:rPr lang="en-US">
                <a:solidFill>
                  <a:srgbClr val="009A46"/>
                </a:solidFill>
                <a:effectLst>
                  <a:outerShdw blurRad="38100" dist="38100" dir="2700000" algn="tl">
                    <a:srgbClr val="000000">
                      <a:alpha val="43137"/>
                    </a:srgbClr>
                  </a:outerShdw>
                </a:effectLst>
              </a:rPr>
              <a:t>//55</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chemeClr val="tx1">
                    <a:lumMod val="95000"/>
                    <a:lumOff val="5000"/>
                  </a:schemeClr>
                </a:solidFill>
                <a:effectLst>
                  <a:outerShdw blurRad="38100" dist="38100" dir="2700000" algn="tl">
                    <a:srgbClr val="000000">
                      <a:alpha val="43137"/>
                    </a:srgbClr>
                  </a:outerShdw>
                </a:effectLst>
              </a:rPr>
              <a:t>  </a:t>
            </a:r>
            <a:r>
              <a:rPr lang="en-US">
                <a:solidFill>
                  <a:srgbClr val="009A46"/>
                </a:solidFill>
                <a:effectLst>
                  <a:outerShdw blurRad="38100" dist="38100" dir="2700000" algn="tl">
                    <a:srgbClr val="000000">
                      <a:alpha val="43137"/>
                    </a:srgbClr>
                  </a:outerShdw>
                </a:effectLst>
              </a:rPr>
              <a:t>// These don’t work:</a:t>
            </a:r>
          </a:p>
          <a:p>
            <a:pPr algn="l"/>
            <a:r>
              <a:rPr lang="en-US">
                <a:solidFill>
                  <a:schemeClr val="tx1">
                    <a:lumMod val="95000"/>
                    <a:lumOff val="5000"/>
                  </a:schemeClr>
                </a:solidFill>
                <a:effectLst>
                  <a:outerShdw blurRad="38100" dist="38100" dir="2700000" algn="tl">
                    <a:srgbClr val="000000">
                      <a:alpha val="43137"/>
                    </a:srgbClr>
                  </a:outerShdw>
                </a:effectLst>
              </a:rPr>
              <a:t>  val mixed = number + text   </a:t>
            </a:r>
            <a:r>
              <a:rPr lang="en-US">
                <a:solidFill>
                  <a:srgbClr val="009A46"/>
                </a:solidFill>
                <a:effectLst>
                  <a:outerShdw blurRad="38100" dist="38100" dir="2700000" algn="tl">
                    <a:srgbClr val="000000">
                      <a:alpha val="43137"/>
                    </a:srgbClr>
                  </a:outerShdw>
                </a:effectLst>
              </a:rPr>
              <a:t> // Error! int + string</a:t>
            </a:r>
          </a:p>
          <a:p>
            <a:pPr algn="l"/>
            <a:r>
              <a:rPr lang="en-US">
                <a:solidFill>
                  <a:schemeClr val="tx1">
                    <a:lumMod val="95000"/>
                    <a:lumOff val="5000"/>
                  </a:schemeClr>
                </a:solidFill>
                <a:effectLst>
                  <a:outerShdw blurRad="38100" dist="38100" dir="2700000" algn="tl">
                    <a:srgbClr val="000000">
                      <a:alpha val="43137"/>
                    </a:srgbClr>
                  </a:outerShdw>
                </a:effectLst>
              </a:rPr>
              <a:t>  val result = number + 1.0    </a:t>
            </a:r>
            <a:r>
              <a:rPr lang="en-US">
                <a:solidFill>
                  <a:srgbClr val="009A46"/>
                </a:solidFill>
                <a:effectLst>
                  <a:outerShdw blurRad="38100" dist="38100" dir="2700000" algn="tl">
                    <a:srgbClr val="000000">
                      <a:alpha val="43137"/>
                    </a:srgbClr>
                  </a:outerShdw>
                </a:effectLst>
              </a:rPr>
              <a:t>// Error! int + float</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chemeClr val="tx1">
                    <a:lumMod val="95000"/>
                    <a:lumOff val="5000"/>
                  </a:schemeClr>
                </a:solidFill>
                <a:effectLst>
                  <a:outerShdw blurRad="38100" dist="38100" dir="2700000" algn="tl">
                    <a:srgbClr val="000000">
                      <a:alpha val="43137"/>
                    </a:srgbClr>
                  </a:outerShdw>
                </a:effectLst>
              </a:rPr>
              <a:t>  </a:t>
            </a:r>
            <a:r>
              <a:rPr lang="en-US">
                <a:solidFill>
                  <a:srgbClr val="009A46"/>
                </a:solidFill>
                <a:effectLst>
                  <a:outerShdw blurRad="38100" dist="38100" dir="2700000" algn="tl">
                    <a:srgbClr val="000000">
                      <a:alpha val="43137"/>
                    </a:srgbClr>
                  </a:outerShdw>
                </a:effectLst>
              </a:rPr>
              <a:t>// Exceptional case:</a:t>
            </a:r>
          </a:p>
          <a:p>
            <a:pPr algn="l"/>
            <a:r>
              <a:rPr lang="en-US">
                <a:solidFill>
                  <a:schemeClr val="tx1">
                    <a:lumMod val="95000"/>
                    <a:lumOff val="5000"/>
                  </a:schemeClr>
                </a:solidFill>
                <a:effectLst>
                  <a:outerShdw blurRad="38100" dist="38100" dir="2700000" algn="tl">
                    <a:srgbClr val="000000">
                      <a:alpha val="43137"/>
                    </a:srgbClr>
                  </a:outerShdw>
                </a:effectLst>
              </a:rPr>
              <a:t>  println(number)   </a:t>
            </a:r>
            <a:r>
              <a:rPr lang="en-US">
                <a:solidFill>
                  <a:srgbClr val="009A46"/>
                </a:solidFill>
                <a:effectLst>
                  <a:outerShdw blurRad="38100" dist="38100" dir="2700000" algn="tl">
                    <a:srgbClr val="000000">
                      <a:alpha val="43137"/>
                    </a:srgbClr>
                  </a:outerShdw>
                </a:effectLst>
              </a:rPr>
              <a:t>// 42-&gt; int can be converted to string for printing </a:t>
            </a:r>
          </a:p>
          <a:p>
            <a:pPr algn="l"/>
            <a:r>
              <a:rPr lang="en-US">
                <a:solidFill>
                  <a:schemeClr val="tx1">
                    <a:lumMod val="95000"/>
                    <a:lumOff val="5000"/>
                  </a:schemeClr>
                </a:solidFill>
                <a:effectLst>
                  <a:outerShdw blurRad="38100" dist="38100" dir="2700000" algn="tl">
                    <a:srgbClr val="000000">
                      <a:alpha val="43137"/>
                    </a:srgbClr>
                  </a:outerShdw>
                </a:effectLst>
              </a:rPr>
              <a:t> }</a:t>
            </a:r>
            <a:endParaRPr lang="he-IL">
              <a:solidFill>
                <a:schemeClr val="tx1">
                  <a:lumMod val="95000"/>
                  <a:lumOff val="5000"/>
                </a:schemeClr>
              </a:solidFill>
              <a:effectLst>
                <a:outerShdw blurRad="38100" dist="38100" dir="2700000" algn="tl">
                  <a:srgbClr val="000000">
                    <a:alpha val="43137"/>
                  </a:srgbClr>
                </a:outerShdw>
              </a:effectLst>
            </a:endParaRPr>
          </a:p>
          <a:p>
            <a:br>
              <a:rPr lang="en-US">
                <a:effectLst>
                  <a:outerShdw blurRad="38100" dist="38100" dir="2700000" algn="tl">
                    <a:srgbClr val="000000">
                      <a:alpha val="43137"/>
                    </a:srgbClr>
                  </a:outerShdw>
                </a:effectLst>
              </a:rPr>
            </a:br>
            <a:endParaRPr lang="en-US">
              <a:effectLst>
                <a:outerShdw blurRad="38100" dist="38100" dir="2700000" algn="tl">
                  <a:srgbClr val="000000">
                    <a:alpha val="43137"/>
                  </a:srgbClr>
                </a:outerShdw>
              </a:effectLst>
            </a:endParaRPr>
          </a:p>
          <a:p>
            <a:pPr algn="l"/>
            <a:endParaRPr lang="en-US">
              <a:solidFill>
                <a:schemeClr val="tx1">
                  <a:lumMod val="95000"/>
                  <a:lumOff val="5000"/>
                </a:schemeClr>
              </a:solidFill>
              <a:effectLst>
                <a:outerShdw blurRad="38100" dist="38100" dir="2700000" algn="tl">
                  <a:srgbClr val="000000">
                    <a:alpha val="43137"/>
                  </a:srgbClr>
                </a:outerShdw>
              </a:effectLst>
            </a:endParaRPr>
          </a:p>
          <a:p>
            <a:pPr algn="l"/>
            <a:br>
              <a:rPr lang="en-US">
                <a:solidFill>
                  <a:schemeClr val="tx1">
                    <a:lumMod val="95000"/>
                    <a:lumOff val="5000"/>
                  </a:schemeClr>
                </a:solidFill>
                <a:effectLst>
                  <a:outerShdw blurRad="38100" dist="38100" dir="2700000" algn="tl">
                    <a:srgbClr val="000000">
                      <a:alpha val="43137"/>
                    </a:srgbClr>
                  </a:outerShdw>
                </a:effectLst>
              </a:rPr>
            </a:br>
            <a:endParaRPr lang="en-US" b="0">
              <a:solidFill>
                <a:schemeClr val="tx1">
                  <a:lumMod val="95000"/>
                  <a:lumOff val="5000"/>
                </a:schemeClr>
              </a:solidFill>
              <a:effectLst>
                <a:outerShdw blurRad="38100" dist="38100" dir="2700000" algn="tl">
                  <a:srgbClr val="000000">
                    <a:alpha val="43137"/>
                  </a:srgbClr>
                </a:outerShdw>
              </a:effectLst>
            </a:endParaRPr>
          </a:p>
        </p:txBody>
      </p:sp>
      <p:pic>
        <p:nvPicPr>
          <p:cNvPr id="14" name="תמונה 13">
            <a:extLst>
              <a:ext uri="{FF2B5EF4-FFF2-40B4-BE49-F238E27FC236}">
                <a16:creationId xmlns:a16="http://schemas.microsoft.com/office/drawing/2014/main" id="{6EA98C8F-B326-479A-9426-03C93886015F}"/>
              </a:ext>
            </a:extLst>
          </p:cNvPr>
          <p:cNvPicPr>
            <a:picLocks noChangeAspect="1"/>
          </p:cNvPicPr>
          <p:nvPr/>
        </p:nvPicPr>
        <p:blipFill>
          <a:blip r:embed="rId4"/>
          <a:stretch>
            <a:fillRect/>
          </a:stretch>
        </p:blipFill>
        <p:spPr>
          <a:xfrm>
            <a:off x="609259" y="4594672"/>
            <a:ext cx="3678261" cy="1185377"/>
          </a:xfrm>
          <a:prstGeom prst="rect">
            <a:avLst/>
          </a:prstGeom>
          <a:solidFill>
            <a:srgbClr val="000000">
              <a:shade val="95000"/>
            </a:srgbClr>
          </a:solidFill>
          <a:ln w="101600" cap="sq">
            <a:solidFill>
              <a:srgbClr val="C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2743670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5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75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תמונה 13">
            <a:extLst>
              <a:ext uri="{FF2B5EF4-FFF2-40B4-BE49-F238E27FC236}">
                <a16:creationId xmlns:a16="http://schemas.microsoft.com/office/drawing/2014/main" id="{5DC96723-BAAA-41D9-8A0F-72DD2AA3CB1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7" name="מלבן 6">
            <a:extLst>
              <a:ext uri="{FF2B5EF4-FFF2-40B4-BE49-F238E27FC236}">
                <a16:creationId xmlns:a16="http://schemas.microsoft.com/office/drawing/2014/main" id="{769A7852-5146-46BA-B925-ACF0D3BECC95}"/>
              </a:ext>
            </a:extLst>
          </p:cNvPr>
          <p:cNvSpPr/>
          <p:nvPr/>
        </p:nvSpPr>
        <p:spPr>
          <a:xfrm>
            <a:off x="13048554" y="-369332"/>
            <a:ext cx="9336000" cy="3539430"/>
          </a:xfrm>
          <a:prstGeom prst="rect">
            <a:avLst/>
          </a:prstGeom>
        </p:spPr>
        <p:txBody>
          <a:bodyPr wrap="square">
            <a:spAutoFit/>
          </a:bodyPr>
          <a:lstStyle/>
          <a:p>
            <a:pPr lvl="0" eaLnBrk="0" fontAlgn="base" hangingPunct="0">
              <a:spcBef>
                <a:spcPct val="0"/>
              </a:spcBef>
              <a:spcAft>
                <a:spcPct val="0"/>
              </a:spcAft>
            </a:pPr>
            <a:r>
              <a:rPr lang="he-IL" altLang="he-IL" sz="1600">
                <a:latin typeface="Arial" panose="020B0604020202020204" pitchFamily="34" charset="0"/>
              </a:rPr>
              <a:t>הגדרת פונקציות:</a:t>
            </a:r>
          </a:p>
          <a:p>
            <a:pPr lvl="0" eaLnBrk="0" fontAlgn="base" hangingPunct="0">
              <a:spcBef>
                <a:spcPct val="0"/>
              </a:spcBef>
              <a:spcAft>
                <a:spcPct val="0"/>
              </a:spcAft>
            </a:pPr>
            <a:r>
              <a:rPr lang="he-IL" altLang="he-IL" sz="1600">
                <a:latin typeface="Arial" panose="020B0604020202020204" pitchFamily="34" charset="0"/>
              </a:rPr>
              <a:t>פונקציות בסיסיות:</a:t>
            </a:r>
          </a:p>
          <a:p>
            <a:pPr lvl="0" eaLnBrk="0" fontAlgn="base" hangingPunct="0">
              <a:spcBef>
                <a:spcPct val="0"/>
              </a:spcBef>
              <a:spcAft>
                <a:spcPct val="0"/>
              </a:spcAft>
            </a:pPr>
            <a:r>
              <a:rPr lang="he-IL" altLang="he-IL" sz="1600">
                <a:latin typeface="Arial" panose="020B0604020202020204" pitchFamily="34" charset="0"/>
              </a:rPr>
              <a:t>בלי או עם סוגריים מסולסלות זה לא משנה אבל הרווחים (הזחות) כן משנים. לא תמיד חייב לציין את הטיפוס המוחזר. אבל אם מציינים הוא צריך להיות נכון אחרת תהיה שגיאה. כל העניין של האפקטים אמור לעזור לנו אבל אפשר בעיקרון לכתוב בשפה גם בלי להתייחס בכלל לטיפוסים החוזרים מהפונקציה והאפקטים השונים (הדפסה, זריקת חריגה).</a:t>
            </a:r>
          </a:p>
          <a:p>
            <a:pPr lvl="0" eaLnBrk="0" fontAlgn="base" hangingPunct="0">
              <a:spcBef>
                <a:spcPct val="0"/>
              </a:spcBef>
              <a:spcAft>
                <a:spcPct val="0"/>
              </a:spcAft>
            </a:pPr>
            <a:endParaRPr lang="he-IL" altLang="he-IL" sz="1600">
              <a:latin typeface="Arial" panose="020B0604020202020204" pitchFamily="34" charset="0"/>
            </a:endParaRPr>
          </a:p>
          <a:p>
            <a:pPr lvl="0" eaLnBrk="0" fontAlgn="base" hangingPunct="0">
              <a:spcBef>
                <a:spcPct val="0"/>
              </a:spcBef>
              <a:spcAft>
                <a:spcPct val="0"/>
              </a:spcAft>
            </a:pPr>
            <a:r>
              <a:rPr lang="he-IL" altLang="he-IL" sz="1600">
                <a:latin typeface="Arial" panose="020B0604020202020204" pitchFamily="34" charset="0"/>
              </a:rPr>
              <a:t>Koka שפה פונקציונלית ולכן היא מתייחסת לפונקציות כאובייקטים מדרגה ראשונה. פונקציות יכולות להיות מועברות כפרמטרים, מוחזרות מפונקציות אחרות, ולהיות משוייכות למשתנים.</a:t>
            </a:r>
            <a:endParaRPr lang="he-IL" altLang="he-IL" sz="1600">
              <a:latin typeface="Arial Unicode MS"/>
            </a:endParaRPr>
          </a:p>
          <a:p>
            <a:pPr lvl="0" eaLnBrk="0" fontAlgn="base" hangingPunct="0">
              <a:spcBef>
                <a:spcPct val="0"/>
              </a:spcBef>
              <a:spcAft>
                <a:spcPct val="0"/>
              </a:spcAft>
            </a:pPr>
            <a:r>
              <a:rPr lang="he-IL" altLang="he-IL" sz="1600">
                <a:latin typeface="Arial" panose="020B0604020202020204" pitchFamily="34" charset="0"/>
              </a:rPr>
              <a:t>השפה תומכת בפונקציות מסדר גבוה באופן טבעי-</a:t>
            </a:r>
          </a:p>
          <a:p>
            <a:pPr lvl="0" eaLnBrk="0" fontAlgn="base" hangingPunct="0">
              <a:spcBef>
                <a:spcPct val="0"/>
              </a:spcBef>
              <a:spcAft>
                <a:spcPct val="0"/>
              </a:spcAft>
            </a:pPr>
            <a:r>
              <a:rPr lang="he-IL" sz="1600"/>
              <a:t>פונקציות מסדר גבוה הן פונקציות שעושות לפחות אחד מהדברים הבאים:</a:t>
            </a:r>
          </a:p>
          <a:p>
            <a:pPr>
              <a:buFont typeface="+mj-lt"/>
              <a:buAutoNum type="arabicPeriod"/>
            </a:pPr>
            <a:r>
              <a:rPr lang="he-IL" sz="1600"/>
              <a:t>מקבלות פונקציות אחרות כפרמטרים</a:t>
            </a:r>
          </a:p>
          <a:p>
            <a:pPr>
              <a:buFont typeface="+mj-lt"/>
              <a:buAutoNum type="arabicPeriod"/>
            </a:pPr>
            <a:r>
              <a:rPr lang="he-IL" sz="1600"/>
              <a:t>מחזירות פונקציות כתוצאה</a:t>
            </a:r>
          </a:p>
          <a:p>
            <a:pPr>
              <a:buFont typeface="+mj-lt"/>
              <a:buAutoNum type="arabicPeriod"/>
            </a:pPr>
            <a:r>
              <a:rPr lang="he-IL" sz="1600"/>
              <a:t>או שניהם</a:t>
            </a:r>
          </a:p>
          <a:p>
            <a:pPr lvl="0" eaLnBrk="0" fontAlgn="base" hangingPunct="0">
              <a:spcBef>
                <a:spcPct val="0"/>
              </a:spcBef>
              <a:spcAft>
                <a:spcPct val="0"/>
              </a:spcAft>
            </a:pPr>
            <a:endParaRPr lang="he-IL" altLang="he-IL" sz="1600">
              <a:latin typeface="Arial" panose="020B0604020202020204" pitchFamily="34" charset="0"/>
            </a:endParaRPr>
          </a:p>
        </p:txBody>
      </p:sp>
      <p:sp>
        <p:nvSpPr>
          <p:cNvPr id="8" name="מלבן 7">
            <a:extLst>
              <a:ext uri="{FF2B5EF4-FFF2-40B4-BE49-F238E27FC236}">
                <a16:creationId xmlns:a16="http://schemas.microsoft.com/office/drawing/2014/main" id="{CE8D71B2-81D9-467C-908A-0E5165FCA7DB}"/>
              </a:ext>
            </a:extLst>
          </p:cNvPr>
          <p:cNvSpPr/>
          <p:nvPr/>
        </p:nvSpPr>
        <p:spPr>
          <a:xfrm>
            <a:off x="5179723" y="257175"/>
            <a:ext cx="1832553" cy="584775"/>
          </a:xfrm>
          <a:prstGeom prst="rect">
            <a:avLst/>
          </a:prstGeom>
        </p:spPr>
        <p:txBody>
          <a:bodyPr wrap="none">
            <a:spAutoFit/>
          </a:bodyPr>
          <a:lstStyle/>
          <a:p>
            <a:r>
              <a:rPr lang="en-US" sz="3200" b="1">
                <a:effectLst>
                  <a:outerShdw blurRad="38100" dist="38100" dir="2700000" algn="tl">
                    <a:srgbClr val="000000">
                      <a:alpha val="43137"/>
                    </a:srgbClr>
                  </a:outerShdw>
                </a:effectLst>
              </a:rPr>
              <a:t>Functions</a:t>
            </a:r>
            <a:endParaRPr lang="he-IL" sz="3200" b="1">
              <a:effectLst>
                <a:outerShdw blurRad="38100" dist="38100" dir="2700000" algn="tl">
                  <a:srgbClr val="000000">
                    <a:alpha val="43137"/>
                  </a:srgbClr>
                </a:outerShdw>
              </a:effectLst>
            </a:endParaRPr>
          </a:p>
        </p:txBody>
      </p:sp>
      <p:sp>
        <p:nvSpPr>
          <p:cNvPr id="10" name="מלבן 9">
            <a:extLst>
              <a:ext uri="{FF2B5EF4-FFF2-40B4-BE49-F238E27FC236}">
                <a16:creationId xmlns:a16="http://schemas.microsoft.com/office/drawing/2014/main" id="{05777F4C-E776-4CD4-838F-C242AED827EA}"/>
              </a:ext>
            </a:extLst>
          </p:cNvPr>
          <p:cNvSpPr/>
          <p:nvPr/>
        </p:nvSpPr>
        <p:spPr>
          <a:xfrm>
            <a:off x="1143000" y="1305610"/>
            <a:ext cx="3924300" cy="4278094"/>
          </a:xfrm>
          <a:prstGeom prst="rect">
            <a:avLst/>
          </a:prstGeom>
        </p:spPr>
        <p:txBody>
          <a:bodyPr wrap="square">
            <a:spAutoFit/>
          </a:bodyPr>
          <a:lstStyle/>
          <a:p>
            <a:pPr algn="l"/>
            <a:r>
              <a:rPr lang="en-US" sz="2800">
                <a:effectLst>
                  <a:outerShdw blurRad="38100" dist="38100" dir="2700000" algn="tl">
                    <a:srgbClr val="000000">
                      <a:alpha val="43137"/>
                    </a:srgbClr>
                  </a:outerShdw>
                </a:effectLst>
              </a:rPr>
              <a:t>Simple functions:</a:t>
            </a:r>
          </a:p>
          <a:p>
            <a:pPr algn="l"/>
            <a:endParaRPr lang="en-US" sz="28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mult(x: int, y: int): int</a:t>
            </a:r>
          </a:p>
          <a:p>
            <a:pPr algn="l"/>
            <a:r>
              <a:rPr lang="en-US" sz="2000">
                <a:effectLst>
                  <a:outerShdw blurRad="38100" dist="38100" dir="2700000" algn="tl">
                    <a:srgbClr val="000000">
                      <a:alpha val="43137"/>
                    </a:srgbClr>
                  </a:outerShdw>
                </a:effectLst>
              </a:rPr>
              <a:t>  x * y</a:t>
            </a:r>
            <a:endParaRPr lang="he-IL" sz="2000">
              <a:effectLst>
                <a:outerShdw blurRad="38100" dist="38100" dir="2700000" algn="tl">
                  <a:srgbClr val="000000">
                    <a:alpha val="43137"/>
                  </a:srgbClr>
                </a:outerShdw>
              </a:effectLst>
            </a:endParaRPr>
          </a:p>
          <a:p>
            <a:pPr algn="l"/>
            <a:endParaRPr lang="he-IL"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mult(x: int, y: int) {</a:t>
            </a:r>
          </a:p>
          <a:p>
            <a:pPr algn="l"/>
            <a:r>
              <a:rPr lang="en-US" sz="2000">
                <a:effectLst>
                  <a:outerShdw blurRad="38100" dist="38100" dir="2700000" algn="tl">
                    <a:srgbClr val="000000">
                      <a:alpha val="43137"/>
                    </a:srgbClr>
                  </a:outerShdw>
                </a:effectLst>
              </a:rPr>
              <a:t>	   x * y</a:t>
            </a:r>
            <a:endParaRPr lang="he-IL"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a:t>
            </a:r>
            <a:endParaRPr lang="he-IL" sz="2000">
              <a:effectLst>
                <a:outerShdw blurRad="38100" dist="38100" dir="2700000" algn="tl">
                  <a:srgbClr val="000000">
                    <a:alpha val="43137"/>
                  </a:srgbClr>
                </a:outerShdw>
              </a:effectLst>
            </a:endParaRPr>
          </a:p>
          <a:p>
            <a:pPr algn="l"/>
            <a:endParaRPr lang="he-IL" sz="2000">
              <a:effectLst>
                <a:outerShdw blurRad="38100" dist="38100" dir="2700000" algn="tl">
                  <a:srgbClr val="000000">
                    <a:alpha val="43137"/>
                  </a:srgbClr>
                </a:outerShdw>
              </a:effectLst>
            </a:endParaRPr>
          </a:p>
          <a:p>
            <a:br>
              <a:rPr lang="en-US"/>
            </a:br>
            <a:endParaRPr lang="en-US"/>
          </a:p>
          <a:p>
            <a:pPr algn="l"/>
            <a:endParaRPr lang="en-US" sz="20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p:txBody>
      </p:sp>
      <p:sp>
        <p:nvSpPr>
          <p:cNvPr id="12" name="מלבן 11">
            <a:extLst>
              <a:ext uri="{FF2B5EF4-FFF2-40B4-BE49-F238E27FC236}">
                <a16:creationId xmlns:a16="http://schemas.microsoft.com/office/drawing/2014/main" id="{A1E401B1-3105-4042-82A3-13539A79DCA0}"/>
              </a:ext>
            </a:extLst>
          </p:cNvPr>
          <p:cNvSpPr/>
          <p:nvPr/>
        </p:nvSpPr>
        <p:spPr>
          <a:xfrm>
            <a:off x="6505575" y="1305610"/>
            <a:ext cx="4754812" cy="4770537"/>
          </a:xfrm>
          <a:prstGeom prst="rect">
            <a:avLst/>
          </a:prstGeom>
        </p:spPr>
        <p:txBody>
          <a:bodyPr wrap="square">
            <a:spAutoFit/>
          </a:bodyPr>
          <a:lstStyle/>
          <a:p>
            <a:pPr algn="l"/>
            <a:r>
              <a:rPr lang="en-US" sz="2800">
                <a:effectLst>
                  <a:outerShdw blurRad="38100" dist="38100" dir="2700000" algn="tl">
                    <a:srgbClr val="000000">
                      <a:alpha val="43137"/>
                    </a:srgbClr>
                  </a:outerShdw>
                </a:effectLst>
              </a:rPr>
              <a:t>Higher-Order Functions:</a:t>
            </a:r>
          </a:p>
          <a:p>
            <a:pPr algn="l"/>
            <a:endParaRPr lang="en-US" sz="28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run_func(f: (int) -&gt; int, x: int): int {</a:t>
            </a:r>
          </a:p>
          <a:p>
            <a:pPr algn="l"/>
            <a:r>
              <a:rPr lang="en-US" sz="2000">
                <a:effectLst>
                  <a:outerShdw blurRad="38100" dist="38100" dir="2700000" algn="tl">
                    <a:srgbClr val="000000">
                      <a:alpha val="43137"/>
                    </a:srgbClr>
                  </a:outerShdw>
                </a:effectLst>
              </a:rPr>
              <a:t>  f(x)</a:t>
            </a:r>
          </a:p>
          <a:p>
            <a:pPr algn="l"/>
            <a:r>
              <a:rPr lang="en-US" sz="2000">
                <a:effectLst>
                  <a:outerShdw blurRad="38100" dist="38100" dir="2700000" algn="tl">
                    <a:srgbClr val="000000">
                      <a:alpha val="43137"/>
                    </a:srgbClr>
                  </a:outerShdw>
                </a:effectLst>
              </a:rPr>
              <a:t>}</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double(x: int): int {</a:t>
            </a:r>
          </a:p>
          <a:p>
            <a:pPr algn="l"/>
            <a:r>
              <a:rPr lang="en-US" sz="2000">
                <a:effectLst>
                  <a:outerShdw blurRad="38100" dist="38100" dir="2700000" algn="tl">
                    <a:srgbClr val="000000">
                      <a:alpha val="43137"/>
                    </a:srgbClr>
                  </a:outerShdw>
                </a:effectLst>
              </a:rPr>
              <a:t>  x * 2</a:t>
            </a:r>
          </a:p>
          <a:p>
            <a:pPr algn="l"/>
            <a:r>
              <a:rPr lang="en-US" sz="2000">
                <a:effectLst>
                  <a:outerShdw blurRad="38100" dist="38100" dir="2700000" algn="tl">
                    <a:srgbClr val="000000">
                      <a:alpha val="43137"/>
                    </a:srgbClr>
                  </a:outerShdw>
                </a:effectLst>
              </a:rPr>
              <a:t>}</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pub fun main(): io()</a:t>
            </a:r>
          </a:p>
          <a:p>
            <a:pPr algn="l"/>
            <a:r>
              <a:rPr lang="en-US" sz="2000">
                <a:effectLst>
                  <a:outerShdw blurRad="38100" dist="38100" dir="2700000" algn="tl">
                    <a:srgbClr val="000000">
                      <a:alpha val="43137"/>
                    </a:srgbClr>
                  </a:outerShdw>
                </a:effectLst>
              </a:rPr>
              <a:t>  val result = run_func(double, 5) </a:t>
            </a:r>
          </a:p>
          <a:p>
            <a:pPr algn="l"/>
            <a:r>
              <a:rPr lang="en-US" sz="2000">
                <a:effectLst>
                  <a:outerShdw blurRad="38100" dist="38100" dir="2700000" algn="tl">
                    <a:srgbClr val="000000">
                      <a:alpha val="43137"/>
                    </a:srgbClr>
                  </a:outerShdw>
                </a:effectLst>
              </a:rPr>
              <a:t>  println(result)   </a:t>
            </a:r>
            <a:r>
              <a:rPr lang="en-US" sz="2000">
                <a:solidFill>
                  <a:srgbClr val="009A46"/>
                </a:solidFill>
                <a:effectLst>
                  <a:outerShdw blurRad="38100" dist="38100" dir="2700000" algn="tl">
                    <a:srgbClr val="000000">
                      <a:alpha val="43137"/>
                    </a:srgbClr>
                  </a:outerShdw>
                </a:effectLst>
              </a:rPr>
              <a:t>// 10</a:t>
            </a:r>
          </a:p>
          <a:p>
            <a:pPr algn="l"/>
            <a:endParaRPr lang="en-US" sz="280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854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B355BB9B-9224-4FA7-BDD0-A156DEA4245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6744721C-5338-417A-ACAD-16C87E7C7142}"/>
              </a:ext>
            </a:extLst>
          </p:cNvPr>
          <p:cNvSpPr/>
          <p:nvPr/>
        </p:nvSpPr>
        <p:spPr>
          <a:xfrm>
            <a:off x="12923520" y="257175"/>
            <a:ext cx="6096000" cy="4524315"/>
          </a:xfrm>
          <a:prstGeom prst="rect">
            <a:avLst/>
          </a:prstGeom>
        </p:spPr>
        <p:txBody>
          <a:bodyPr>
            <a:spAutoFit/>
          </a:bodyPr>
          <a:lstStyle/>
          <a:p>
            <a:pPr lvl="0" eaLnBrk="0" fontAlgn="base" hangingPunct="0">
              <a:spcBef>
                <a:spcPct val="0"/>
              </a:spcBef>
              <a:spcAft>
                <a:spcPct val="0"/>
              </a:spcAft>
            </a:pPr>
            <a:endParaRPr lang="he-IL" altLang="he-IL">
              <a:latin typeface="Arial" panose="020B0604020202020204" pitchFamily="34" charset="0"/>
            </a:endParaRPr>
          </a:p>
          <a:p>
            <a:pPr lvl="0" eaLnBrk="0" fontAlgn="base" hangingPunct="0">
              <a:spcBef>
                <a:spcPct val="0"/>
              </a:spcBef>
              <a:spcAft>
                <a:spcPct val="0"/>
              </a:spcAft>
            </a:pPr>
            <a:r>
              <a:rPr lang="he-IL" altLang="he-IL">
                <a:latin typeface="Arial" panose="020B0604020202020204" pitchFamily="34" charset="0"/>
              </a:rPr>
              <a:t>גישת Koka לרקורסיה:</a:t>
            </a:r>
          </a:p>
          <a:p>
            <a:pPr lvl="0" eaLnBrk="0" fontAlgn="base" hangingPunct="0">
              <a:spcBef>
                <a:spcPct val="0"/>
              </a:spcBef>
              <a:spcAft>
                <a:spcPct val="0"/>
              </a:spcAft>
            </a:pPr>
            <a:r>
              <a:rPr lang="he-IL" altLang="he-IL">
                <a:latin typeface="Arial" panose="020B0604020202020204" pitchFamily="34" charset="0"/>
              </a:rPr>
              <a:t>Koka מעודדת שימוש ברקורסיית זנב (tail recursion) לביצועים אופטימליים. השפה מבצעת אופטימיזציה אוטומטית לרקורסיית זנב.</a:t>
            </a:r>
            <a:endParaRPr lang="he-IL" altLang="he-IL">
              <a:latin typeface="Arial Unicode MS"/>
            </a:endParaRPr>
          </a:p>
          <a:p>
            <a:pPr lvl="0" eaLnBrk="0" fontAlgn="base" hangingPunct="0">
              <a:spcBef>
                <a:spcPct val="0"/>
              </a:spcBef>
              <a:spcAft>
                <a:spcPct val="0"/>
              </a:spcAft>
            </a:pPr>
            <a:r>
              <a:rPr lang="he-IL"/>
              <a:t>רקורסיית זנב עדיפה כי היא </a:t>
            </a:r>
            <a:r>
              <a:rPr lang="he-IL" b="1"/>
              <a:t>חסכונית בזיכרון</a:t>
            </a:r>
            <a:r>
              <a:rPr lang="he-IL"/>
              <a:t> – הקריאה הרקורסיבית היא הפעולה האחרונה, אז לא צריך לשמור את השלבים הקודמים. זה מאפשר לקומפיילר לבצע אופטימיזציה ולמנוע עומס על המחסנית. לכן, היא מתאימה לחישובים ארוכים בלי חשש מ־</a:t>
            </a:r>
            <a:r>
              <a:rPr lang="en-US"/>
              <a:t>Stack Overflow.</a:t>
            </a:r>
          </a:p>
          <a:p>
            <a:pPr lvl="0" eaLnBrk="0" fontAlgn="base" hangingPunct="0">
              <a:spcBef>
                <a:spcPct val="0"/>
              </a:spcBef>
              <a:spcAft>
                <a:spcPct val="0"/>
              </a:spcAft>
            </a:pPr>
            <a:endParaRPr lang="he-IL" altLang="he-IL">
              <a:latin typeface="Arial" panose="020B0604020202020204" pitchFamily="34" charset="0"/>
            </a:endParaRPr>
          </a:p>
          <a:p>
            <a:pPr lvl="0" eaLnBrk="0" fontAlgn="base" hangingPunct="0">
              <a:spcBef>
                <a:spcPct val="0"/>
              </a:spcBef>
              <a:spcAft>
                <a:spcPct val="0"/>
              </a:spcAft>
            </a:pPr>
            <a:endParaRPr lang="he-IL" altLang="he-IL">
              <a:latin typeface="Arial" panose="020B0604020202020204" pitchFamily="34" charset="0"/>
            </a:endParaRPr>
          </a:p>
          <a:p>
            <a:pPr lvl="0" eaLnBrk="0" fontAlgn="base" hangingPunct="0">
              <a:spcBef>
                <a:spcPct val="0"/>
              </a:spcBef>
              <a:spcAft>
                <a:spcPct val="0"/>
              </a:spcAft>
            </a:pPr>
            <a:r>
              <a:rPr lang="he-IL" altLang="he-IL">
                <a:latin typeface="Arial" panose="020B0604020202020204" pitchFamily="34" charset="0"/>
              </a:rPr>
              <a:t>עקרונות מנחים</a:t>
            </a:r>
          </a:p>
          <a:p>
            <a:pPr lvl="0" eaLnBrk="0" fontAlgn="base" hangingPunct="0">
              <a:spcBef>
                <a:spcPct val="0"/>
              </a:spcBef>
              <a:spcAft>
                <a:spcPct val="0"/>
              </a:spcAft>
              <a:buFontTx/>
              <a:buAutoNum type="arabicPeriod"/>
            </a:pPr>
            <a:r>
              <a:rPr lang="he-IL" altLang="he-IL">
                <a:latin typeface="Arial" panose="020B0604020202020204" pitchFamily="34" charset="0"/>
              </a:rPr>
              <a:t>טוהר פונקציונלי: העדפה לפונקציות ללא אפקטים צדדיים </a:t>
            </a:r>
          </a:p>
          <a:p>
            <a:pPr lvl="0" eaLnBrk="0" fontAlgn="base" hangingPunct="0">
              <a:spcBef>
                <a:spcPct val="0"/>
              </a:spcBef>
              <a:spcAft>
                <a:spcPct val="0"/>
              </a:spcAft>
              <a:buFontTx/>
              <a:buAutoNum type="arabicPeriod" startAt="2"/>
            </a:pPr>
            <a:r>
              <a:rPr lang="he-IL" altLang="he-IL">
                <a:latin typeface="Arial" panose="020B0604020202020204" pitchFamily="34" charset="0"/>
              </a:rPr>
              <a:t>רקורסיית זנב: לביצועים טובים יותר </a:t>
            </a:r>
          </a:p>
          <a:p>
            <a:pPr lvl="0" eaLnBrk="0" fontAlgn="base" hangingPunct="0">
              <a:spcBef>
                <a:spcPct val="0"/>
              </a:spcBef>
              <a:spcAft>
                <a:spcPct val="0"/>
              </a:spcAft>
              <a:buFontTx/>
              <a:buAutoNum type="arabicPeriod" startAt="3"/>
            </a:pPr>
            <a:r>
              <a:rPr lang="he-IL" altLang="he-IL">
                <a:latin typeface="Arial" panose="020B0604020202020204" pitchFamily="34" charset="0"/>
              </a:rPr>
              <a:t>התאמת דפוסים: לטיפול אלגנטי במבני נתונים </a:t>
            </a:r>
          </a:p>
          <a:p>
            <a:pPr lvl="0" eaLnBrk="0" fontAlgn="base" hangingPunct="0">
              <a:spcBef>
                <a:spcPct val="0"/>
              </a:spcBef>
              <a:spcAft>
                <a:spcPct val="0"/>
              </a:spcAft>
              <a:buFontTx/>
              <a:buAutoNum type="arabicPeriod" startAt="4"/>
            </a:pPr>
            <a:r>
              <a:rPr lang="he-IL" altLang="he-IL">
                <a:latin typeface="Arial" panose="020B0604020202020204" pitchFamily="34" charset="0"/>
              </a:rPr>
              <a:t>מערכת אפקטים: לניהול מדויק של אפקטים צדדיים </a:t>
            </a:r>
          </a:p>
        </p:txBody>
      </p:sp>
      <p:sp>
        <p:nvSpPr>
          <p:cNvPr id="6" name="מלבן 5">
            <a:extLst>
              <a:ext uri="{FF2B5EF4-FFF2-40B4-BE49-F238E27FC236}">
                <a16:creationId xmlns:a16="http://schemas.microsoft.com/office/drawing/2014/main" id="{1CDE90B5-7134-437B-85CA-E4862CFC5F87}"/>
              </a:ext>
            </a:extLst>
          </p:cNvPr>
          <p:cNvSpPr/>
          <p:nvPr/>
        </p:nvSpPr>
        <p:spPr>
          <a:xfrm>
            <a:off x="476250" y="394692"/>
            <a:ext cx="6096000" cy="6463308"/>
          </a:xfrm>
          <a:prstGeom prst="rect">
            <a:avLst/>
          </a:prstGeom>
        </p:spPr>
        <p:txBody>
          <a:bodyPr>
            <a:spAutoFit/>
          </a:bodyPr>
          <a:lstStyle/>
          <a:p>
            <a:pPr algn="l"/>
            <a:r>
              <a:rPr lang="en-US">
                <a:solidFill>
                  <a:srgbClr val="009A46"/>
                </a:solidFill>
                <a:effectLst>
                  <a:outerShdw blurRad="38100" dist="38100" dir="2700000" algn="tl">
                    <a:srgbClr val="000000">
                      <a:alpha val="43137"/>
                    </a:srgbClr>
                  </a:outerShdw>
                </a:effectLst>
              </a:rPr>
              <a:t>Basic recursion</a:t>
            </a:r>
            <a:r>
              <a:rPr lang="he-IL">
                <a:solidFill>
                  <a:srgbClr val="009A46"/>
                </a:solidFill>
                <a:effectLst>
                  <a:outerShdw blurRad="38100" dist="38100" dir="2700000" algn="tl">
                    <a:srgbClr val="000000">
                      <a:alpha val="43137"/>
                    </a:srgbClr>
                  </a:outerShdw>
                </a:effectLst>
              </a:rPr>
              <a:t>//</a:t>
            </a:r>
          </a:p>
          <a:p>
            <a:pPr algn="l"/>
            <a:r>
              <a:rPr lang="en-US">
                <a:solidFill>
                  <a:schemeClr val="tx1">
                    <a:lumMod val="95000"/>
                    <a:lumOff val="5000"/>
                  </a:schemeClr>
                </a:solidFill>
                <a:effectLst>
                  <a:outerShdw blurRad="38100" dist="38100" dir="2700000" algn="tl">
                    <a:srgbClr val="000000">
                      <a:alpha val="43137"/>
                    </a:srgbClr>
                  </a:outerShdw>
                </a:effectLst>
              </a:rPr>
              <a:t>fun factorial(n: int) {</a:t>
            </a:r>
          </a:p>
          <a:p>
            <a:pPr algn="l"/>
            <a:r>
              <a:rPr lang="en-US">
                <a:solidFill>
                  <a:schemeClr val="tx1">
                    <a:lumMod val="95000"/>
                    <a:lumOff val="5000"/>
                  </a:schemeClr>
                </a:solidFill>
                <a:effectLst>
                  <a:outerShdw blurRad="38100" dist="38100" dir="2700000" algn="tl">
                    <a:srgbClr val="000000">
                      <a:alpha val="43137"/>
                    </a:srgbClr>
                  </a:outerShdw>
                </a:effectLst>
              </a:rPr>
              <a:t>  if n &lt;= 1 then 1</a:t>
            </a:r>
          </a:p>
          <a:p>
            <a:pPr algn="l"/>
            <a:r>
              <a:rPr lang="en-US">
                <a:solidFill>
                  <a:schemeClr val="tx1">
                    <a:lumMod val="95000"/>
                    <a:lumOff val="5000"/>
                  </a:schemeClr>
                </a:solidFill>
                <a:effectLst>
                  <a:outerShdw blurRad="38100" dist="38100" dir="2700000" algn="tl">
                    <a:srgbClr val="000000">
                      <a:alpha val="43137"/>
                    </a:srgbClr>
                  </a:outerShdw>
                </a:effectLst>
              </a:rPr>
              <a:t>  else n * factorial(n - 1)</a:t>
            </a:r>
          </a:p>
          <a:p>
            <a:pPr algn="l"/>
            <a:r>
              <a:rPr lang="en-US">
                <a:solidFill>
                  <a:schemeClr val="tx1">
                    <a:lumMod val="95000"/>
                    <a:lumOff val="5000"/>
                  </a:schemeClr>
                </a:solidFill>
                <a:effectLst>
                  <a:outerShdw blurRad="38100" dist="38100" dir="2700000" algn="tl">
                    <a:srgbClr val="000000">
                      <a:alpha val="43137"/>
                    </a:srgbClr>
                  </a:outerShdw>
                </a:effectLst>
              </a:rPr>
              <a:t>}</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rgbClr val="009A46"/>
                </a:solidFill>
                <a:effectLst>
                  <a:outerShdw blurRad="38100" dist="38100" dir="2700000" algn="tl">
                    <a:srgbClr val="000000">
                      <a:alpha val="43137"/>
                    </a:srgbClr>
                  </a:outerShdw>
                </a:effectLst>
              </a:rPr>
              <a:t>//Tail recursion</a:t>
            </a:r>
          </a:p>
          <a:p>
            <a:pPr algn="l"/>
            <a:r>
              <a:rPr lang="en-US">
                <a:solidFill>
                  <a:schemeClr val="tx1">
                    <a:lumMod val="95000"/>
                    <a:lumOff val="5000"/>
                  </a:schemeClr>
                </a:solidFill>
                <a:effectLst>
                  <a:outerShdw blurRad="38100" dist="38100" dir="2700000" algn="tl">
                    <a:srgbClr val="000000">
                      <a:alpha val="43137"/>
                    </a:srgbClr>
                  </a:outerShdw>
                </a:effectLst>
              </a:rPr>
              <a:t>fun factorial_tail(n: int) {</a:t>
            </a:r>
          </a:p>
          <a:p>
            <a:pPr algn="l"/>
            <a:r>
              <a:rPr lang="en-US">
                <a:solidFill>
                  <a:schemeClr val="tx1">
                    <a:lumMod val="95000"/>
                    <a:lumOff val="5000"/>
                  </a:schemeClr>
                </a:solidFill>
                <a:effectLst>
                  <a:outerShdw blurRad="38100" dist="38100" dir="2700000" algn="tl">
                    <a:srgbClr val="000000">
                      <a:alpha val="43137"/>
                    </a:srgbClr>
                  </a:outerShdw>
                </a:effectLst>
              </a:rPr>
              <a:t>  fun helper(n: int, acc: int){</a:t>
            </a:r>
          </a:p>
          <a:p>
            <a:pPr algn="l"/>
            <a:r>
              <a:rPr lang="en-US">
                <a:solidFill>
                  <a:schemeClr val="tx1">
                    <a:lumMod val="95000"/>
                    <a:lumOff val="5000"/>
                  </a:schemeClr>
                </a:solidFill>
                <a:effectLst>
                  <a:outerShdw blurRad="38100" dist="38100" dir="2700000" algn="tl">
                    <a:srgbClr val="000000">
                      <a:alpha val="43137"/>
                    </a:srgbClr>
                  </a:outerShdw>
                </a:effectLst>
              </a:rPr>
              <a:t>    if n &lt;= 1 then acc</a:t>
            </a:r>
          </a:p>
          <a:p>
            <a:pPr algn="l"/>
            <a:r>
              <a:rPr lang="en-US">
                <a:solidFill>
                  <a:schemeClr val="tx1">
                    <a:lumMod val="95000"/>
                    <a:lumOff val="5000"/>
                  </a:schemeClr>
                </a:solidFill>
                <a:effectLst>
                  <a:outerShdw blurRad="38100" dist="38100" dir="2700000" algn="tl">
                    <a:srgbClr val="000000">
                      <a:alpha val="43137"/>
                    </a:srgbClr>
                  </a:outerShdw>
                </a:effectLst>
              </a:rPr>
              <a:t>    else helper(n - 1, n * acc)</a:t>
            </a:r>
          </a:p>
          <a:p>
            <a:pPr algn="l"/>
            <a:r>
              <a:rPr lang="en-US">
                <a:solidFill>
                  <a:schemeClr val="tx1">
                    <a:lumMod val="95000"/>
                    <a:lumOff val="5000"/>
                  </a:schemeClr>
                </a:solidFill>
                <a:effectLst>
                  <a:outerShdw blurRad="38100" dist="38100" dir="2700000" algn="tl">
                    <a:srgbClr val="000000">
                      <a:alpha val="43137"/>
                    </a:srgbClr>
                  </a:outerShdw>
                </a:effectLst>
              </a:rPr>
              <a:t>  }</a:t>
            </a:r>
          </a:p>
          <a:p>
            <a:pPr algn="l"/>
            <a:r>
              <a:rPr lang="en-US">
                <a:solidFill>
                  <a:schemeClr val="tx1">
                    <a:lumMod val="95000"/>
                    <a:lumOff val="5000"/>
                  </a:schemeClr>
                </a:solidFill>
                <a:effectLst>
                  <a:outerShdw blurRad="38100" dist="38100" dir="2700000" algn="tl">
                    <a:srgbClr val="000000">
                      <a:alpha val="43137"/>
                    </a:srgbClr>
                  </a:outerShdw>
                </a:effectLst>
              </a:rPr>
              <a:t>  helper(n, 1)</a:t>
            </a:r>
          </a:p>
          <a:p>
            <a:pPr algn="l"/>
            <a:r>
              <a:rPr lang="en-US">
                <a:solidFill>
                  <a:schemeClr val="tx1">
                    <a:lumMod val="95000"/>
                    <a:lumOff val="5000"/>
                  </a:schemeClr>
                </a:solidFill>
                <a:effectLst>
                  <a:outerShdw blurRad="38100" dist="38100" dir="2700000" algn="tl">
                    <a:srgbClr val="000000">
                      <a:alpha val="43137"/>
                    </a:srgbClr>
                  </a:outerShdw>
                </a:effectLst>
              </a:rPr>
              <a:t>}</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chemeClr val="tx1">
                    <a:lumMod val="95000"/>
                    <a:lumOff val="5000"/>
                  </a:schemeClr>
                </a:solidFill>
                <a:effectLst>
                  <a:outerShdw blurRad="38100" dist="38100" dir="2700000" algn="tl">
                    <a:srgbClr val="000000">
                      <a:alpha val="43137"/>
                    </a:srgbClr>
                  </a:outerShdw>
                </a:effectLst>
              </a:rPr>
              <a:t>pub fun main(): io()</a:t>
            </a:r>
          </a:p>
          <a:p>
            <a:pPr algn="l"/>
            <a:r>
              <a:rPr lang="en-US">
                <a:solidFill>
                  <a:schemeClr val="tx1">
                    <a:lumMod val="95000"/>
                    <a:lumOff val="5000"/>
                  </a:schemeClr>
                </a:solidFill>
                <a:effectLst>
                  <a:outerShdw blurRad="38100" dist="38100" dir="2700000" algn="tl">
                    <a:srgbClr val="000000">
                      <a:alpha val="43137"/>
                    </a:srgbClr>
                  </a:outerShdw>
                </a:effectLst>
              </a:rPr>
              <a:t>  val result = factorial(3) </a:t>
            </a:r>
          </a:p>
          <a:p>
            <a:pPr algn="l"/>
            <a:r>
              <a:rPr lang="en-US">
                <a:solidFill>
                  <a:schemeClr val="tx1">
                    <a:lumMod val="95000"/>
                    <a:lumOff val="5000"/>
                  </a:schemeClr>
                </a:solidFill>
                <a:effectLst>
                  <a:outerShdw blurRad="38100" dist="38100" dir="2700000" algn="tl">
                    <a:srgbClr val="000000">
                      <a:alpha val="43137"/>
                    </a:srgbClr>
                  </a:outerShdw>
                </a:effectLst>
              </a:rPr>
              <a:t>  println(result)  </a:t>
            </a:r>
            <a:r>
              <a:rPr lang="en-US">
                <a:solidFill>
                  <a:srgbClr val="009A46"/>
                </a:solidFill>
                <a:effectLst>
                  <a:outerShdw blurRad="38100" dist="38100" dir="2700000" algn="tl">
                    <a:srgbClr val="000000">
                      <a:alpha val="43137"/>
                    </a:srgbClr>
                  </a:outerShdw>
                </a:effectLst>
              </a:rPr>
              <a:t>//6</a:t>
            </a:r>
          </a:p>
          <a:p>
            <a:pPr algn="l"/>
            <a:br>
              <a:rPr lang="en-US">
                <a:solidFill>
                  <a:schemeClr val="tx1">
                    <a:lumMod val="95000"/>
                    <a:lumOff val="5000"/>
                  </a:schemeClr>
                </a:solidFill>
                <a:effectLst>
                  <a:outerShdw blurRad="38100" dist="38100" dir="2700000" algn="tl">
                    <a:srgbClr val="000000">
                      <a:alpha val="43137"/>
                    </a:srgbClr>
                  </a:outerShdw>
                </a:effectLst>
              </a:rPr>
            </a:br>
            <a:r>
              <a:rPr lang="en-US">
                <a:solidFill>
                  <a:schemeClr val="tx1">
                    <a:lumMod val="95000"/>
                    <a:lumOff val="5000"/>
                  </a:schemeClr>
                </a:solidFill>
                <a:effectLst>
                  <a:outerShdw blurRad="38100" dist="38100" dir="2700000" algn="tl">
                    <a:srgbClr val="000000">
                      <a:alpha val="43137"/>
                    </a:srgbClr>
                  </a:outerShdw>
                </a:effectLst>
              </a:rPr>
              <a:t>  val result = factorial_tail(3) </a:t>
            </a:r>
          </a:p>
          <a:p>
            <a:pPr algn="l"/>
            <a:r>
              <a:rPr lang="en-US">
                <a:solidFill>
                  <a:schemeClr val="tx1">
                    <a:lumMod val="95000"/>
                    <a:lumOff val="5000"/>
                  </a:schemeClr>
                </a:solidFill>
                <a:effectLst>
                  <a:outerShdw blurRad="38100" dist="38100" dir="2700000" algn="tl">
                    <a:srgbClr val="000000">
                      <a:alpha val="43137"/>
                    </a:srgbClr>
                  </a:outerShdw>
                </a:effectLst>
              </a:rPr>
              <a:t>  println(result)  </a:t>
            </a:r>
            <a:r>
              <a:rPr lang="en-US">
                <a:solidFill>
                  <a:srgbClr val="009A46"/>
                </a:solidFill>
                <a:effectLst>
                  <a:outerShdw blurRad="38100" dist="38100" dir="2700000" algn="tl">
                    <a:srgbClr val="000000">
                      <a:alpha val="43137"/>
                    </a:srgbClr>
                  </a:outerShdw>
                </a:effectLst>
              </a:rPr>
              <a:t>//6</a:t>
            </a:r>
          </a:p>
          <a:p>
            <a:pPr algn="l"/>
            <a:br>
              <a:rPr lang="en-US">
                <a:solidFill>
                  <a:schemeClr val="tx1">
                    <a:lumMod val="95000"/>
                    <a:lumOff val="5000"/>
                  </a:schemeClr>
                </a:solidFill>
                <a:effectLst>
                  <a:outerShdw blurRad="38100" dist="38100" dir="2700000" algn="tl">
                    <a:srgbClr val="000000">
                      <a:alpha val="43137"/>
                    </a:srgbClr>
                  </a:outerShdw>
                </a:effectLst>
              </a:rPr>
            </a:br>
            <a:endParaRPr lang="en-US" b="0">
              <a:solidFill>
                <a:schemeClr val="tx1">
                  <a:lumMod val="95000"/>
                  <a:lumOff val="5000"/>
                </a:schemeClr>
              </a:solidFill>
              <a:effectLst>
                <a:outerShdw blurRad="38100" dist="38100" dir="2700000" algn="tl">
                  <a:srgbClr val="000000">
                    <a:alpha val="43137"/>
                  </a:srgbClr>
                </a:outerShdw>
              </a:effectLst>
            </a:endParaRPr>
          </a:p>
        </p:txBody>
      </p:sp>
      <p:sp>
        <p:nvSpPr>
          <p:cNvPr id="8" name="מלבן 7">
            <a:extLst>
              <a:ext uri="{FF2B5EF4-FFF2-40B4-BE49-F238E27FC236}">
                <a16:creationId xmlns:a16="http://schemas.microsoft.com/office/drawing/2014/main" id="{0103D074-8E01-4C48-BDDE-4119A67031CD}"/>
              </a:ext>
            </a:extLst>
          </p:cNvPr>
          <p:cNvSpPr/>
          <p:nvPr/>
        </p:nvSpPr>
        <p:spPr>
          <a:xfrm>
            <a:off x="5291358" y="257175"/>
            <a:ext cx="1770035" cy="584775"/>
          </a:xfrm>
          <a:prstGeom prst="rect">
            <a:avLst/>
          </a:prstGeom>
        </p:spPr>
        <p:txBody>
          <a:bodyPr wrap="none">
            <a:spAutoFit/>
          </a:bodyPr>
          <a:lstStyle/>
          <a:p>
            <a:r>
              <a:rPr lang="en-US" sz="3200" b="1">
                <a:solidFill>
                  <a:schemeClr val="tx1">
                    <a:lumMod val="95000"/>
                    <a:lumOff val="5000"/>
                  </a:schemeClr>
                </a:solidFill>
                <a:effectLst>
                  <a:outerShdw blurRad="38100" dist="38100" dir="2700000" algn="tl">
                    <a:srgbClr val="000000">
                      <a:alpha val="43137"/>
                    </a:srgbClr>
                  </a:outerShdw>
                </a:effectLst>
              </a:rPr>
              <a:t>recursion</a:t>
            </a:r>
            <a:endParaRPr lang="he-IL" sz="3200" b="1">
              <a:solidFill>
                <a:schemeClr val="tx1">
                  <a:lumMod val="95000"/>
                  <a:lumOff val="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0732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B13B3B80-5F8B-4EFD-A23E-D5B394B5DE1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TextBox 4">
            <a:extLst>
              <a:ext uri="{FF2B5EF4-FFF2-40B4-BE49-F238E27FC236}">
                <a16:creationId xmlns:a16="http://schemas.microsoft.com/office/drawing/2014/main" id="{57AA90B5-B58F-4E7C-87DF-05B6C5C9E987}"/>
              </a:ext>
            </a:extLst>
          </p:cNvPr>
          <p:cNvSpPr txBox="1"/>
          <p:nvPr/>
        </p:nvSpPr>
        <p:spPr>
          <a:xfrm>
            <a:off x="12500658" y="491033"/>
            <a:ext cx="3611301" cy="2585323"/>
          </a:xfrm>
          <a:prstGeom prst="rect">
            <a:avLst/>
          </a:prstGeom>
          <a:noFill/>
        </p:spPr>
        <p:txBody>
          <a:bodyPr wrap="square" rtlCol="1">
            <a:spAutoFit/>
          </a:bodyPr>
          <a:lstStyle/>
          <a:p>
            <a:r>
              <a:rPr lang="he-IL"/>
              <a:t>בקוקה כל הנתונים הם בלתי ניתנים לשינוי</a:t>
            </a:r>
            <a:r>
              <a:rPr lang="en-US"/>
              <a:t>  </a:t>
            </a:r>
            <a:r>
              <a:rPr lang="he-IL"/>
              <a:t>ולכן העברת פרמטרים מתבצעת רק </a:t>
            </a:r>
            <a:r>
              <a:rPr lang="en-US"/>
              <a:t>By Value</a:t>
            </a:r>
            <a:r>
              <a:rPr lang="he-IL"/>
              <a:t> . אין העברה </a:t>
            </a:r>
            <a:r>
              <a:rPr lang="en-US"/>
              <a:t>by reference</a:t>
            </a:r>
            <a:r>
              <a:rPr lang="he-IL"/>
              <a:t> כי גם ככה אי אפשר לשנות ערך קיים.</a:t>
            </a:r>
          </a:p>
          <a:p>
            <a:r>
              <a:rPr lang="he-IL"/>
              <a:t>כל פונקציה מקבלת עותק של הפרמטרים ולא קישור לפרמטרים עצמם.</a:t>
            </a:r>
          </a:p>
          <a:p>
            <a:endParaRPr lang="he-IL"/>
          </a:p>
        </p:txBody>
      </p:sp>
      <p:sp>
        <p:nvSpPr>
          <p:cNvPr id="6" name="מלבן 5">
            <a:extLst>
              <a:ext uri="{FF2B5EF4-FFF2-40B4-BE49-F238E27FC236}">
                <a16:creationId xmlns:a16="http://schemas.microsoft.com/office/drawing/2014/main" id="{7E1549D2-3263-48DC-B92B-5B28E6ACD291}"/>
              </a:ext>
            </a:extLst>
          </p:cNvPr>
          <p:cNvSpPr/>
          <p:nvPr/>
        </p:nvSpPr>
        <p:spPr>
          <a:xfrm>
            <a:off x="617317" y="1170235"/>
            <a:ext cx="6096000" cy="4647426"/>
          </a:xfrm>
          <a:prstGeom prst="rect">
            <a:avLst/>
          </a:prstGeom>
        </p:spPr>
        <p:txBody>
          <a:bodyPr>
            <a:spAutoFit/>
          </a:bodyPr>
          <a:lstStyle/>
          <a:p>
            <a:pPr algn="l"/>
            <a:r>
              <a:rPr lang="en-US" sz="2400">
                <a:effectLst>
                  <a:outerShdw blurRad="38100" dist="38100" dir="2700000" algn="tl">
                    <a:srgbClr val="000000">
                      <a:alpha val="43137"/>
                    </a:srgbClr>
                  </a:outerShdw>
                </a:effectLst>
              </a:rPr>
              <a:t>fun modify(a : int) </a:t>
            </a:r>
          </a:p>
          <a:p>
            <a:pPr algn="l"/>
            <a:r>
              <a:rPr lang="en-US" sz="2400">
                <a:effectLst>
                  <a:outerShdw blurRad="38100" dist="38100" dir="2700000" algn="tl">
                    <a:srgbClr val="000000">
                      <a:alpha val="43137"/>
                    </a:srgbClr>
                  </a:outerShdw>
                </a:effectLst>
              </a:rPr>
              <a:t>  a + 100</a:t>
            </a:r>
          </a:p>
          <a:p>
            <a:pPr algn="l"/>
            <a:br>
              <a:rPr lang="en-US" sz="2400">
                <a:effectLst>
                  <a:outerShdw blurRad="38100" dist="38100" dir="2700000" algn="tl">
                    <a:srgbClr val="000000">
                      <a:alpha val="43137"/>
                    </a:srgbClr>
                  </a:outerShdw>
                </a:effectLst>
              </a:rPr>
            </a:br>
            <a:r>
              <a:rPr lang="en-US" sz="2400">
                <a:effectLst>
                  <a:outerShdw blurRad="38100" dist="38100" dir="2700000" algn="tl">
                    <a:srgbClr val="000000">
                      <a:alpha val="43137"/>
                    </a:srgbClr>
                  </a:outerShdw>
                </a:effectLst>
              </a:rPr>
              <a:t>fun main()</a:t>
            </a:r>
          </a:p>
          <a:p>
            <a:pPr algn="l"/>
            <a:r>
              <a:rPr lang="en-US" sz="2400">
                <a:effectLst>
                  <a:outerShdw blurRad="38100" dist="38100" dir="2700000" algn="tl">
                    <a:srgbClr val="000000">
                      <a:alpha val="43137"/>
                    </a:srgbClr>
                  </a:outerShdw>
                </a:effectLst>
              </a:rPr>
              <a:t>  var a := 10</a:t>
            </a:r>
          </a:p>
          <a:p>
            <a:pPr algn="l"/>
            <a:r>
              <a:rPr lang="en-US" sz="2400">
                <a:effectLst>
                  <a:outerShdw blurRad="38100" dist="38100" dir="2700000" algn="tl">
                    <a:srgbClr val="000000">
                      <a:alpha val="43137"/>
                    </a:srgbClr>
                  </a:outerShdw>
                </a:effectLst>
              </a:rPr>
              <a:t>  println("Before: a = " ++ a.show)</a:t>
            </a:r>
          </a:p>
          <a:p>
            <a:pPr algn="l"/>
            <a:r>
              <a:rPr lang="en-US" sz="2400">
                <a:effectLst>
                  <a:outerShdw blurRad="38100" dist="38100" dir="2700000" algn="tl">
                    <a:srgbClr val="000000">
                      <a:alpha val="43137"/>
                    </a:srgbClr>
                  </a:outerShdw>
                </a:effectLst>
              </a:rPr>
              <a:t>  var result := modify(a)</a:t>
            </a:r>
          </a:p>
          <a:p>
            <a:pPr algn="l"/>
            <a:r>
              <a:rPr lang="en-US" sz="2400">
                <a:effectLst>
                  <a:outerShdw blurRad="38100" dist="38100" dir="2700000" algn="tl">
                    <a:srgbClr val="000000">
                      <a:alpha val="43137"/>
                    </a:srgbClr>
                  </a:outerShdw>
                </a:effectLst>
              </a:rPr>
              <a:t>  println("After: a = " ++ a.show)</a:t>
            </a:r>
            <a:endParaRPr lang="he-IL" sz="2400">
              <a:effectLst>
                <a:outerShdw blurRad="38100" dist="38100" dir="2700000" algn="tl">
                  <a:srgbClr val="000000">
                    <a:alpha val="43137"/>
                  </a:srgbClr>
                </a:outerShdw>
              </a:effectLst>
            </a:endParaRPr>
          </a:p>
          <a:p>
            <a:pPr algn="l"/>
            <a:endParaRPr lang="he-IL" sz="2400">
              <a:effectLst>
                <a:outerShdw blurRad="38100" dist="38100" dir="2700000" algn="tl">
                  <a:srgbClr val="000000">
                    <a:alpha val="43137"/>
                  </a:srgbClr>
                </a:outerShdw>
              </a:effectLst>
            </a:endParaRPr>
          </a:p>
          <a:p>
            <a:pPr algn="l"/>
            <a:r>
              <a:rPr lang="en-US" sz="2400">
                <a:effectLst>
                  <a:outerShdw blurRad="38100" dist="38100" dir="2700000" algn="tl">
                    <a:srgbClr val="000000">
                      <a:alpha val="43137"/>
                    </a:srgbClr>
                  </a:outerShdw>
                </a:effectLst>
              </a:rPr>
              <a:t>Output:</a:t>
            </a:r>
          </a:p>
          <a:p>
            <a:pPr algn="l"/>
            <a:endParaRPr lang="en-US" sz="2400">
              <a:effectLst>
                <a:outerShdw blurRad="38100" dist="38100" dir="2700000" algn="tl">
                  <a:srgbClr val="000000">
                    <a:alpha val="43137"/>
                  </a:srgbClr>
                </a:outerShdw>
              </a:effectLst>
            </a:endParaRPr>
          </a:p>
          <a:p>
            <a:pPr algn="l"/>
            <a:endParaRPr lang="en-US" sz="3200" b="0">
              <a:solidFill>
                <a:srgbClr val="009A46"/>
              </a:solidFill>
              <a:effectLst>
                <a:outerShdw blurRad="38100" dist="38100" dir="2700000" algn="tl">
                  <a:srgbClr val="000000">
                    <a:alpha val="43137"/>
                  </a:srgbClr>
                </a:outerShdw>
              </a:effectLst>
            </a:endParaRPr>
          </a:p>
        </p:txBody>
      </p:sp>
      <p:sp>
        <p:nvSpPr>
          <p:cNvPr id="7" name="מלבן 6">
            <a:extLst>
              <a:ext uri="{FF2B5EF4-FFF2-40B4-BE49-F238E27FC236}">
                <a16:creationId xmlns:a16="http://schemas.microsoft.com/office/drawing/2014/main" id="{927CB9F7-C932-4E4B-BF60-D8008ED385EA}"/>
              </a:ext>
            </a:extLst>
          </p:cNvPr>
          <p:cNvSpPr/>
          <p:nvPr/>
        </p:nvSpPr>
        <p:spPr>
          <a:xfrm>
            <a:off x="2577376" y="205299"/>
            <a:ext cx="7037247" cy="584775"/>
          </a:xfrm>
          <a:prstGeom prst="rect">
            <a:avLst/>
          </a:prstGeom>
        </p:spPr>
        <p:txBody>
          <a:bodyPr wrap="none">
            <a:spAutoFit/>
          </a:bodyPr>
          <a:lstStyle/>
          <a:p>
            <a:r>
              <a:rPr lang="en-US" sz="3200">
                <a:effectLst>
                  <a:outerShdw blurRad="38100" dist="38100" dir="2700000" algn="tl">
                    <a:srgbClr val="000000">
                      <a:alpha val="43137"/>
                    </a:srgbClr>
                  </a:outerShdw>
                </a:effectLst>
              </a:rPr>
              <a:t>Parameter passing mechanisms- By value</a:t>
            </a:r>
            <a:endParaRPr lang="he-IL" sz="3200">
              <a:effectLst>
                <a:outerShdw blurRad="38100" dist="38100" dir="2700000" algn="tl">
                  <a:srgbClr val="000000">
                    <a:alpha val="43137"/>
                  </a:srgbClr>
                </a:outerShdw>
              </a:effectLst>
            </a:endParaRPr>
          </a:p>
        </p:txBody>
      </p:sp>
      <p:pic>
        <p:nvPicPr>
          <p:cNvPr id="8" name="תמונה 7">
            <a:extLst>
              <a:ext uri="{FF2B5EF4-FFF2-40B4-BE49-F238E27FC236}">
                <a16:creationId xmlns:a16="http://schemas.microsoft.com/office/drawing/2014/main" id="{07FDE60D-51C9-48A4-8544-22E16C1A85B2}"/>
              </a:ext>
            </a:extLst>
          </p:cNvPr>
          <p:cNvPicPr>
            <a:picLocks noChangeAspect="1"/>
          </p:cNvPicPr>
          <p:nvPr/>
        </p:nvPicPr>
        <p:blipFill>
          <a:blip r:embed="rId4"/>
          <a:stretch>
            <a:fillRect/>
          </a:stretch>
        </p:blipFill>
        <p:spPr>
          <a:xfrm>
            <a:off x="742223" y="5028903"/>
            <a:ext cx="3123722" cy="1024446"/>
          </a:xfrm>
          <a:prstGeom prst="rect">
            <a:avLst/>
          </a:prstGeom>
        </p:spPr>
      </p:pic>
    </p:spTree>
    <p:extLst>
      <p:ext uri="{BB962C8B-B14F-4D97-AF65-F5344CB8AC3E}">
        <p14:creationId xmlns:p14="http://schemas.microsoft.com/office/powerpoint/2010/main" val="1169404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DA82D0A3-4931-4F80-A852-5EB2C278135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AE9D15C2-1004-4E2E-92E3-45F9D4540860}"/>
              </a:ext>
            </a:extLst>
          </p:cNvPr>
          <p:cNvSpPr/>
          <p:nvPr/>
        </p:nvSpPr>
        <p:spPr>
          <a:xfrm>
            <a:off x="3179080" y="257175"/>
            <a:ext cx="5833841" cy="584775"/>
          </a:xfrm>
          <a:prstGeom prst="rect">
            <a:avLst/>
          </a:prstGeom>
        </p:spPr>
        <p:txBody>
          <a:bodyPr wrap="none">
            <a:spAutoFit/>
          </a:bodyPr>
          <a:lstStyle/>
          <a:p>
            <a:pPr algn="ctr"/>
            <a:r>
              <a:rPr lang="en-US" sz="3200">
                <a:effectLst>
                  <a:outerShdw blurRad="38100" dist="38100" dir="2700000" algn="tl">
                    <a:srgbClr val="000000">
                      <a:alpha val="43137"/>
                    </a:srgbClr>
                  </a:outerShdw>
                </a:effectLst>
              </a:rPr>
              <a:t>Function parameter passing order</a:t>
            </a:r>
          </a:p>
        </p:txBody>
      </p:sp>
      <p:sp>
        <p:nvSpPr>
          <p:cNvPr id="5" name="מלבן 4">
            <a:extLst>
              <a:ext uri="{FF2B5EF4-FFF2-40B4-BE49-F238E27FC236}">
                <a16:creationId xmlns:a16="http://schemas.microsoft.com/office/drawing/2014/main" id="{2195E4F6-DDA3-4C11-8A43-03DABE6DCCA5}"/>
              </a:ext>
            </a:extLst>
          </p:cNvPr>
          <p:cNvSpPr/>
          <p:nvPr/>
        </p:nvSpPr>
        <p:spPr>
          <a:xfrm>
            <a:off x="489993" y="1580358"/>
            <a:ext cx="5957105" cy="3724096"/>
          </a:xfrm>
          <a:prstGeom prst="rect">
            <a:avLst/>
          </a:prstGeom>
        </p:spPr>
        <p:txBody>
          <a:bodyPr wrap="square">
            <a:spAutoFit/>
          </a:bodyPr>
          <a:lstStyle/>
          <a:p>
            <a:pPr algn="ctr"/>
            <a:r>
              <a:rPr lang="en-US" sz="2800">
                <a:solidFill>
                  <a:schemeClr val="tx1">
                    <a:lumMod val="95000"/>
                    <a:lumOff val="5000"/>
                  </a:schemeClr>
                </a:solidFill>
                <a:effectLst>
                  <a:outerShdw blurRad="38100" dist="38100" dir="2700000" algn="tl">
                    <a:srgbClr val="000000">
                      <a:alpha val="43137"/>
                    </a:srgbClr>
                  </a:outerShdw>
                </a:effectLst>
              </a:rPr>
              <a:t>By Position:</a:t>
            </a:r>
            <a:endParaRPr lang="he-IL" sz="2800">
              <a:solidFill>
                <a:schemeClr val="tx1">
                  <a:lumMod val="95000"/>
                  <a:lumOff val="5000"/>
                </a:schemeClr>
              </a:solidFill>
              <a:effectLst>
                <a:outerShdw blurRad="38100" dist="38100" dir="2700000" algn="tl">
                  <a:srgbClr val="000000">
                    <a:alpha val="43137"/>
                  </a:srgbClr>
                </a:outerShdw>
              </a:effectLst>
            </a:endParaRPr>
          </a:p>
          <a:p>
            <a:pPr algn="ctr"/>
            <a:endParaRPr lang="en-US" sz="2800">
              <a:solidFill>
                <a:schemeClr val="tx1">
                  <a:lumMod val="95000"/>
                  <a:lumOff val="5000"/>
                </a:schemeClr>
              </a:solidFill>
              <a:effectLst>
                <a:outerShdw blurRad="38100" dist="38100" dir="2700000" algn="tl">
                  <a:srgbClr val="000000">
                    <a:alpha val="43137"/>
                  </a:srgbClr>
                </a:outerShdw>
              </a:effectLst>
            </a:endParaRPr>
          </a:p>
          <a:p>
            <a:pPr algn="l"/>
            <a:r>
              <a:rPr lang="en-US" sz="2000">
                <a:solidFill>
                  <a:schemeClr val="tx1">
                    <a:lumMod val="95000"/>
                    <a:lumOff val="5000"/>
                  </a:schemeClr>
                </a:solidFill>
                <a:effectLst>
                  <a:outerShdw blurRad="38100" dist="38100" dir="2700000" algn="tl">
                    <a:srgbClr val="000000">
                      <a:alpha val="43137"/>
                    </a:srgbClr>
                  </a:outerShdw>
                </a:effectLst>
              </a:rPr>
              <a:t>fun meetMe(name : string, age : int) : string</a:t>
            </a:r>
          </a:p>
          <a:p>
            <a:pPr algn="l"/>
            <a:r>
              <a:rPr lang="en-US" sz="2000">
                <a:solidFill>
                  <a:schemeClr val="tx1">
                    <a:lumMod val="95000"/>
                    <a:lumOff val="5000"/>
                  </a:schemeClr>
                </a:solidFill>
                <a:effectLst>
                  <a:outerShdw blurRad="38100" dist="38100" dir="2700000" algn="tl">
                    <a:srgbClr val="000000">
                      <a:alpha val="43137"/>
                    </a:srgbClr>
                  </a:outerShdw>
                </a:effectLst>
              </a:rPr>
              <a:t>  "My name: " ++ name ++ ", my age: " ++ age.show</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fun main(): io()</a:t>
            </a:r>
          </a:p>
          <a:p>
            <a:pPr algn="l"/>
            <a:r>
              <a:rPr lang="en-US" sz="2000">
                <a:solidFill>
                  <a:schemeClr val="tx1">
                    <a:lumMod val="95000"/>
                    <a:lumOff val="5000"/>
                  </a:schemeClr>
                </a:solidFill>
                <a:effectLst>
                  <a:outerShdw blurRad="38100" dist="38100" dir="2700000" algn="tl">
                    <a:srgbClr val="000000">
                      <a:alpha val="43137"/>
                    </a:srgbClr>
                  </a:outerShdw>
                </a:effectLst>
              </a:rPr>
              <a:t>  val msg1 = meetMe("Alice", 21)   </a:t>
            </a:r>
          </a:p>
          <a:p>
            <a:pPr algn="l"/>
            <a:r>
              <a:rPr lang="en-US" sz="2000">
                <a:solidFill>
                  <a:srgbClr val="009A46"/>
                </a:solidFill>
                <a:effectLst>
                  <a:outerShdw blurRad="38100" dist="38100" dir="2700000" algn="tl">
                    <a:srgbClr val="000000">
                      <a:alpha val="43137"/>
                    </a:srgbClr>
                  </a:outerShdw>
                </a:effectLst>
              </a:rPr>
              <a:t>//output- My name: Alice, my age: 21 </a:t>
            </a:r>
          </a:p>
          <a:p>
            <a:pPr algn="l"/>
            <a:r>
              <a:rPr lang="en-US" sz="2000">
                <a:solidFill>
                  <a:srgbClr val="009A46"/>
                </a:solidFill>
                <a:effectLst>
                  <a:outerShdw blurRad="38100" dist="38100" dir="2700000" algn="tl">
                    <a:srgbClr val="000000">
                      <a:alpha val="43137"/>
                    </a:srgbClr>
                  </a:outerShdw>
                </a:effectLst>
              </a:rPr>
              <a:t> </a:t>
            </a:r>
          </a:p>
          <a:p>
            <a:pPr algn="l"/>
            <a:r>
              <a:rPr lang="en-US" sz="2000">
                <a:solidFill>
                  <a:schemeClr val="tx1">
                    <a:lumMod val="95000"/>
                    <a:lumOff val="5000"/>
                  </a:schemeClr>
                </a:solidFill>
                <a:effectLst>
                  <a:outerShdw blurRad="38100" dist="38100" dir="2700000" algn="tl">
                    <a:srgbClr val="000000">
                      <a:alpha val="43137"/>
                    </a:srgbClr>
                  </a:outerShdw>
                </a:effectLst>
              </a:rPr>
              <a:t>  val msg2 = meet Me(25, “Jack")   </a:t>
            </a:r>
            <a:r>
              <a:rPr lang="en-US" sz="2000">
                <a:solidFill>
                  <a:srgbClr val="009A46"/>
                </a:solidFill>
                <a:effectLst>
                  <a:outerShdw blurRad="38100" dist="38100" dir="2700000" algn="tl">
                    <a:srgbClr val="000000">
                      <a:alpha val="43137"/>
                    </a:srgbClr>
                  </a:outerShdw>
                </a:effectLst>
              </a:rPr>
              <a:t>//Error!</a:t>
            </a:r>
          </a:p>
          <a:p>
            <a:pPr algn="l"/>
            <a:r>
              <a:rPr lang="en-US" sz="2000">
                <a:solidFill>
                  <a:schemeClr val="tx1">
                    <a:lumMod val="95000"/>
                    <a:lumOff val="5000"/>
                  </a:schemeClr>
                </a:solidFill>
                <a:effectLst>
                  <a:outerShdw blurRad="38100" dist="38100" dir="2700000" algn="tl">
                    <a:srgbClr val="000000">
                      <a:alpha val="43137"/>
                    </a:srgbClr>
                  </a:outerShdw>
                </a:effectLst>
              </a:rPr>
              <a:t>  println(msg1)</a:t>
            </a:r>
            <a:endParaRPr lang="en-US" sz="2000" b="0">
              <a:solidFill>
                <a:schemeClr val="tx1">
                  <a:lumMod val="95000"/>
                  <a:lumOff val="5000"/>
                </a:schemeClr>
              </a:solidFill>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00666B9E-194E-4AB8-80D8-E6DA185D95A6}"/>
              </a:ext>
            </a:extLst>
          </p:cNvPr>
          <p:cNvSpPr/>
          <p:nvPr/>
        </p:nvSpPr>
        <p:spPr>
          <a:xfrm>
            <a:off x="6233968" y="1580358"/>
            <a:ext cx="5726183" cy="6586418"/>
          </a:xfrm>
          <a:prstGeom prst="rect">
            <a:avLst/>
          </a:prstGeom>
        </p:spPr>
        <p:txBody>
          <a:bodyPr wrap="none">
            <a:spAutoFit/>
          </a:bodyPr>
          <a:lstStyle/>
          <a:p>
            <a:pPr algn="ctr"/>
            <a:r>
              <a:rPr lang="en-US" sz="2800">
                <a:solidFill>
                  <a:schemeClr val="tx1">
                    <a:lumMod val="95000"/>
                    <a:lumOff val="5000"/>
                  </a:schemeClr>
                </a:solidFill>
                <a:effectLst>
                  <a:outerShdw blurRad="38100" dist="38100" dir="2700000" algn="tl">
                    <a:srgbClr val="000000">
                      <a:alpha val="43137"/>
                    </a:srgbClr>
                  </a:outerShdw>
                </a:effectLst>
              </a:rPr>
              <a:t>By Keyword:</a:t>
            </a:r>
            <a:endParaRPr lang="he-IL" sz="2800">
              <a:solidFill>
                <a:schemeClr val="tx1">
                  <a:lumMod val="95000"/>
                  <a:lumOff val="5000"/>
                </a:schemeClr>
              </a:solidFill>
              <a:effectLst>
                <a:outerShdw blurRad="38100" dist="38100" dir="2700000" algn="tl">
                  <a:srgbClr val="000000">
                    <a:alpha val="43137"/>
                  </a:srgbClr>
                </a:outerShdw>
              </a:effectLst>
            </a:endParaRPr>
          </a:p>
          <a:p>
            <a:pPr algn="ctr"/>
            <a:endParaRPr lang="en-US" sz="2000">
              <a:solidFill>
                <a:schemeClr val="tx1">
                  <a:lumMod val="95000"/>
                  <a:lumOff val="5000"/>
                </a:schemeClr>
              </a:solidFill>
            </a:endParaRPr>
          </a:p>
          <a:p>
            <a:pPr algn="l"/>
            <a:r>
              <a:rPr lang="en-US" sz="2000">
                <a:effectLst>
                  <a:outerShdw blurRad="38100" dist="38100" dir="2700000" algn="tl">
                    <a:srgbClr val="000000">
                      <a:alpha val="43137"/>
                    </a:srgbClr>
                  </a:outerShdw>
                </a:effectLst>
              </a:rPr>
              <a:t>fun  meetMe(name : string, age : int) : string</a:t>
            </a:r>
          </a:p>
          <a:p>
            <a:pPr algn="l"/>
            <a:r>
              <a:rPr lang="en-US" sz="2000">
                <a:effectLst>
                  <a:outerShdw blurRad="38100" dist="38100" dir="2700000" algn="tl">
                    <a:srgbClr val="000000">
                      <a:alpha val="43137"/>
                    </a:srgbClr>
                  </a:outerShdw>
                </a:effectLst>
              </a:rPr>
              <a:t>  "My name: " ++ name ++ ", my age: " ++ age.show</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 io()</a:t>
            </a:r>
          </a:p>
          <a:p>
            <a:pPr algn="l"/>
            <a:r>
              <a:rPr lang="en-US" sz="2000">
                <a:effectLst>
                  <a:outerShdw blurRad="38100" dist="38100" dir="2700000" algn="tl">
                    <a:srgbClr val="000000">
                      <a:alpha val="43137"/>
                    </a:srgbClr>
                  </a:outerShdw>
                </a:effectLst>
              </a:rPr>
              <a:t>  val msg1 =  meetMe(</a:t>
            </a:r>
            <a:r>
              <a:rPr lang="en-US" sz="2000" u="sng">
                <a:effectLst>
                  <a:outerShdw blurRad="38100" dist="38100" dir="2700000" algn="tl">
                    <a:srgbClr val="000000">
                      <a:alpha val="43137"/>
                    </a:srgbClr>
                  </a:outerShdw>
                </a:effectLst>
              </a:rPr>
              <a:t>name="Alice", age=21</a:t>
            </a:r>
            <a:r>
              <a:rPr lang="en-US" sz="2000">
                <a:effectLst>
                  <a:outerShdw blurRad="38100" dist="38100" dir="2700000" algn="tl">
                    <a:srgbClr val="000000">
                      <a:alpha val="43137"/>
                    </a:srgbClr>
                  </a:outerShdw>
                </a:effectLst>
              </a:rPr>
              <a:t>)</a:t>
            </a:r>
          </a:p>
          <a:p>
            <a:pPr algn="l"/>
            <a:r>
              <a:rPr lang="en-US" sz="2000">
                <a:effectLst>
                  <a:outerShdw blurRad="38100" dist="38100" dir="2700000" algn="tl">
                    <a:srgbClr val="000000">
                      <a:alpha val="43137"/>
                    </a:srgbClr>
                  </a:outerShdw>
                </a:effectLst>
              </a:rPr>
              <a:t>  println(msg1)</a:t>
            </a:r>
          </a:p>
          <a:p>
            <a:pPr algn="l"/>
            <a:r>
              <a:rPr lang="en-US" sz="2000">
                <a:effectLst>
                  <a:outerShdw blurRad="38100" dist="38100" dir="2700000" algn="tl">
                    <a:srgbClr val="000000">
                      <a:alpha val="43137"/>
                    </a:srgbClr>
                  </a:outerShdw>
                </a:effectLst>
              </a:rPr>
              <a:t>  val msg2 = meetMe</a:t>
            </a:r>
            <a:r>
              <a:rPr lang="en-US" sz="2000" u="sng">
                <a:effectLst>
                  <a:outerShdw blurRad="38100" dist="38100" dir="2700000" algn="tl">
                    <a:srgbClr val="000000">
                      <a:alpha val="43137"/>
                    </a:srgbClr>
                  </a:outerShdw>
                </a:effectLst>
              </a:rPr>
              <a:t>(age=21, name="Alice"</a:t>
            </a:r>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println(msg2)</a:t>
            </a:r>
            <a:endParaRPr lang="he-IL" sz="20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Output:</a:t>
            </a:r>
          </a:p>
          <a:p>
            <a:pPr algn="l"/>
            <a:endParaRPr lang="en-US" sz="2000">
              <a:effectLst>
                <a:outerShdw blurRad="38100" dist="38100" dir="2700000" algn="tl">
                  <a:srgbClr val="000000">
                    <a:alpha val="43137"/>
                  </a:srgbClr>
                </a:outerShdw>
              </a:effectLst>
            </a:endParaRPr>
          </a:p>
          <a:p>
            <a:r>
              <a:rPr lang="en-US"/>
              <a:t>  </a:t>
            </a:r>
          </a:p>
          <a:p>
            <a:br>
              <a:rPr lang="en-US"/>
            </a:br>
            <a:br>
              <a:rPr lang="en-US"/>
            </a:br>
            <a:br>
              <a:rPr lang="en-US"/>
            </a:br>
            <a:r>
              <a:rPr lang="en-US"/>
              <a:t>  </a:t>
            </a:r>
          </a:p>
          <a:p>
            <a:r>
              <a:rPr lang="en-US"/>
              <a:t>  </a:t>
            </a:r>
          </a:p>
          <a:p>
            <a:r>
              <a:rPr lang="en-US"/>
              <a:t> </a:t>
            </a:r>
          </a:p>
          <a:p>
            <a:pPr algn="ctr"/>
            <a:endParaRPr lang="he-IL" sz="2800">
              <a:solidFill>
                <a:schemeClr val="tx1">
                  <a:lumMod val="95000"/>
                  <a:lumOff val="5000"/>
                </a:schemeClr>
              </a:solidFill>
              <a:effectLst>
                <a:outerShdw blurRad="38100" dist="38100" dir="2700000" algn="tl">
                  <a:srgbClr val="000000">
                    <a:alpha val="43137"/>
                  </a:srgbClr>
                </a:outerShdw>
              </a:effectLst>
            </a:endParaRPr>
          </a:p>
        </p:txBody>
      </p:sp>
      <p:pic>
        <p:nvPicPr>
          <p:cNvPr id="7" name="תמונה 6">
            <a:extLst>
              <a:ext uri="{FF2B5EF4-FFF2-40B4-BE49-F238E27FC236}">
                <a16:creationId xmlns:a16="http://schemas.microsoft.com/office/drawing/2014/main" id="{7C79F2B4-3517-441C-B964-39E6DA5B2D5D}"/>
              </a:ext>
            </a:extLst>
          </p:cNvPr>
          <p:cNvPicPr>
            <a:picLocks noChangeAspect="1"/>
          </p:cNvPicPr>
          <p:nvPr/>
        </p:nvPicPr>
        <p:blipFill>
          <a:blip r:embed="rId4"/>
          <a:stretch>
            <a:fillRect/>
          </a:stretch>
        </p:blipFill>
        <p:spPr>
          <a:xfrm>
            <a:off x="6447098" y="5586341"/>
            <a:ext cx="3913221" cy="726165"/>
          </a:xfrm>
          <a:prstGeom prst="rect">
            <a:avLst/>
          </a:prstGeom>
        </p:spPr>
      </p:pic>
      <p:sp>
        <p:nvSpPr>
          <p:cNvPr id="8" name="TextBox 7">
            <a:extLst>
              <a:ext uri="{FF2B5EF4-FFF2-40B4-BE49-F238E27FC236}">
                <a16:creationId xmlns:a16="http://schemas.microsoft.com/office/drawing/2014/main" id="{4511D542-C12C-4580-84D9-074FCD4CDB9D}"/>
              </a:ext>
            </a:extLst>
          </p:cNvPr>
          <p:cNvSpPr txBox="1"/>
          <p:nvPr/>
        </p:nvSpPr>
        <p:spPr>
          <a:xfrm>
            <a:off x="12192000" y="1203960"/>
            <a:ext cx="3246120" cy="2554545"/>
          </a:xfrm>
          <a:prstGeom prst="rect">
            <a:avLst/>
          </a:prstGeom>
          <a:noFill/>
        </p:spPr>
        <p:txBody>
          <a:bodyPr wrap="square" rtlCol="1">
            <a:spAutoFit/>
          </a:bodyPr>
          <a:lstStyle/>
          <a:p>
            <a:r>
              <a:rPr lang="he-IL" sz="2000"/>
              <a:t>העברת נתונים בקוקה יכולה להתבצע </a:t>
            </a:r>
            <a:r>
              <a:rPr lang="en-US" sz="2000"/>
              <a:t>by position</a:t>
            </a:r>
            <a:r>
              <a:rPr lang="he-IL" sz="2000"/>
              <a:t>- לפי מיקום הפרמטרים או </a:t>
            </a:r>
            <a:r>
              <a:rPr lang="en-US" sz="2000"/>
              <a:t>by keyword</a:t>
            </a:r>
            <a:r>
              <a:rPr lang="he-IL" sz="2000"/>
              <a:t>- 2 הדרכים חוקיות ומקובלות. </a:t>
            </a:r>
          </a:p>
          <a:p>
            <a:r>
              <a:rPr lang="he-IL" sz="2000"/>
              <a:t>נשים לב שגם אם נהפוך את הסדר ב</a:t>
            </a:r>
            <a:r>
              <a:rPr lang="en-US" sz="2000"/>
              <a:t>by keyword</a:t>
            </a:r>
            <a:r>
              <a:rPr lang="he-IL" sz="2000"/>
              <a:t> נקבל אותה הדפסה בדיוק.</a:t>
            </a:r>
          </a:p>
        </p:txBody>
      </p:sp>
    </p:spTree>
    <p:extLst>
      <p:ext uri="{BB962C8B-B14F-4D97-AF65-F5344CB8AC3E}">
        <p14:creationId xmlns:p14="http://schemas.microsoft.com/office/powerpoint/2010/main" val="47512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750" fill="hold"/>
                                        <p:tgtEl>
                                          <p:spTgt spid="7"/>
                                        </p:tgtEl>
                                        <p:attrNameLst>
                                          <p:attrName>ppt_w</p:attrName>
                                        </p:attrNameLst>
                                      </p:cBhvr>
                                      <p:tavLst>
                                        <p:tav tm="0">
                                          <p:val>
                                            <p:fltVal val="0"/>
                                          </p:val>
                                        </p:tav>
                                        <p:tav tm="100000">
                                          <p:val>
                                            <p:strVal val="#ppt_w"/>
                                          </p:val>
                                        </p:tav>
                                      </p:tavLst>
                                    </p:anim>
                                    <p:anim calcmode="lin" valueType="num">
                                      <p:cBhvr>
                                        <p:cTn id="18" dur="750" fill="hold"/>
                                        <p:tgtEl>
                                          <p:spTgt spid="7"/>
                                        </p:tgtEl>
                                        <p:attrNameLst>
                                          <p:attrName>ppt_h</p:attrName>
                                        </p:attrNameLst>
                                      </p:cBhvr>
                                      <p:tavLst>
                                        <p:tav tm="0">
                                          <p:val>
                                            <p:fltVal val="0"/>
                                          </p:val>
                                        </p:tav>
                                        <p:tav tm="100000">
                                          <p:val>
                                            <p:strVal val="#ppt_h"/>
                                          </p:val>
                                        </p:tav>
                                      </p:tavLst>
                                    </p:anim>
                                    <p:animEffect transition="in" filter="fade">
                                      <p:cBhvr>
                                        <p:cTn id="19"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2476BD7D-EBA0-43FE-8B68-28ADFBE184C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CCADB869-780C-4056-9443-3AAAE30C8E04}"/>
              </a:ext>
            </a:extLst>
          </p:cNvPr>
          <p:cNvSpPr/>
          <p:nvPr/>
        </p:nvSpPr>
        <p:spPr>
          <a:xfrm>
            <a:off x="5014582" y="257175"/>
            <a:ext cx="2162836" cy="584775"/>
          </a:xfrm>
          <a:prstGeom prst="rect">
            <a:avLst/>
          </a:prstGeom>
        </p:spPr>
        <p:txBody>
          <a:bodyPr wrap="none">
            <a:spAutoFit/>
          </a:bodyPr>
          <a:lstStyle/>
          <a:p>
            <a:r>
              <a:rPr lang="en-US" sz="3200">
                <a:effectLst>
                  <a:outerShdw blurRad="38100" dist="38100" dir="2700000" algn="tl">
                    <a:srgbClr val="000000">
                      <a:alpha val="43137"/>
                    </a:srgbClr>
                  </a:outerShdw>
                </a:effectLst>
              </a:rPr>
              <a:t>Koka Syntax</a:t>
            </a:r>
            <a:endParaRPr lang="he-IL" sz="3200">
              <a:effectLst>
                <a:outerShdw blurRad="38100" dist="38100" dir="2700000" algn="tl">
                  <a:srgbClr val="000000">
                    <a:alpha val="43137"/>
                  </a:srgbClr>
                </a:outerShdw>
              </a:effectLst>
            </a:endParaRPr>
          </a:p>
        </p:txBody>
      </p:sp>
      <p:sp>
        <p:nvSpPr>
          <p:cNvPr id="7" name="מלבן 6">
            <a:extLst>
              <a:ext uri="{FF2B5EF4-FFF2-40B4-BE49-F238E27FC236}">
                <a16:creationId xmlns:a16="http://schemas.microsoft.com/office/drawing/2014/main" id="{39C0B3D1-FD3A-48FA-A5CD-630A64339495}"/>
              </a:ext>
            </a:extLst>
          </p:cNvPr>
          <p:cNvSpPr/>
          <p:nvPr/>
        </p:nvSpPr>
        <p:spPr>
          <a:xfrm>
            <a:off x="548640" y="998696"/>
            <a:ext cx="5288280" cy="6463308"/>
          </a:xfrm>
          <a:prstGeom prst="rect">
            <a:avLst/>
          </a:prstGeom>
        </p:spPr>
        <p:txBody>
          <a:bodyPr wrap="square">
            <a:spAutoFit/>
          </a:bodyPr>
          <a:lstStyle/>
          <a:p>
            <a:pPr algn="l"/>
            <a:r>
              <a:rPr lang="en-US" sz="2400">
                <a:effectLst>
                  <a:outerShdw blurRad="38100" dist="38100" dir="2700000" algn="tl">
                    <a:srgbClr val="000000">
                      <a:alpha val="43137"/>
                    </a:srgbClr>
                  </a:outerShdw>
                </a:effectLst>
              </a:rPr>
              <a:t>Identifiers:</a:t>
            </a:r>
            <a:endParaRPr lang="en-US" sz="2400">
              <a:solidFill>
                <a:srgbClr val="009A46"/>
              </a:solidFill>
              <a:effectLst>
                <a:outerShdw blurRad="38100" dist="38100" dir="2700000" algn="tl">
                  <a:srgbClr val="000000">
                    <a:alpha val="43137"/>
                  </a:srgbClr>
                </a:outerShdw>
              </a:effectLst>
            </a:endParaRPr>
          </a:p>
          <a:p>
            <a:pPr algn="l"/>
            <a:r>
              <a:rPr lang="en-US" sz="2000">
                <a:solidFill>
                  <a:srgbClr val="009A46"/>
                </a:solidFill>
                <a:effectLst>
                  <a:outerShdw blurRad="38100" dist="38100" dir="2700000" algn="tl">
                    <a:srgbClr val="000000">
                      <a:alpha val="43137"/>
                    </a:srgbClr>
                  </a:outerShdw>
                </a:effectLst>
              </a:rPr>
              <a:t>// variables (lowercase)</a:t>
            </a:r>
          </a:p>
          <a:p>
            <a:pPr algn="l"/>
            <a:r>
              <a:rPr lang="en-US" sz="2000">
                <a:solidFill>
                  <a:schemeClr val="tx1">
                    <a:lumMod val="95000"/>
                    <a:lumOff val="5000"/>
                  </a:schemeClr>
                </a:solidFill>
                <a:effectLst>
                  <a:outerShdw blurRad="38100" dist="38100" dir="2700000" algn="tl">
                    <a:srgbClr val="000000">
                      <a:alpha val="43137"/>
                    </a:srgbClr>
                  </a:outerShdw>
                </a:effectLst>
              </a:rPr>
              <a:t>my_var, userName, count-1</a:t>
            </a:r>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constructors (uppercase) </a:t>
            </a:r>
            <a:r>
              <a:rPr lang="en-US" sz="2000">
                <a:solidFill>
                  <a:schemeClr val="tx1">
                    <a:lumMod val="95000"/>
                    <a:lumOff val="5000"/>
                  </a:schemeClr>
                </a:solidFill>
                <a:effectLst>
                  <a:outerShdw blurRad="38100" dist="38100" dir="2700000" algn="tl">
                    <a:srgbClr val="000000">
                      <a:alpha val="43137"/>
                    </a:srgbClr>
                  </a:outerShdw>
                </a:effectLst>
              </a:rPr>
              <a:t> </a:t>
            </a:r>
          </a:p>
          <a:p>
            <a:pPr algn="l"/>
            <a:r>
              <a:rPr lang="en-US" sz="2000">
                <a:solidFill>
                  <a:schemeClr val="tx1">
                    <a:lumMod val="95000"/>
                    <a:lumOff val="5000"/>
                  </a:schemeClr>
                </a:solidFill>
                <a:effectLst>
                  <a:outerShdw blurRad="38100" dist="38100" dir="2700000" algn="tl">
                    <a:srgbClr val="000000">
                      <a:alpha val="43137"/>
                    </a:srgbClr>
                  </a:outerShdw>
                </a:effectLst>
              </a:rPr>
              <a:t>True, Person</a:t>
            </a:r>
          </a:p>
          <a:p>
            <a:pPr algn="l"/>
            <a:endParaRPr lang="he-IL" sz="2000">
              <a:solidFill>
                <a:schemeClr val="tx1">
                  <a:lumMod val="95000"/>
                  <a:lumOff val="5000"/>
                </a:schemeClr>
              </a:solidFill>
              <a:effectLst>
                <a:outerShdw blurRad="38100" dist="38100" dir="2700000" algn="tl">
                  <a:srgbClr val="000000">
                    <a:alpha val="43137"/>
                  </a:srgbClr>
                </a:outerShdw>
              </a:effectLst>
            </a:endParaRPr>
          </a:p>
          <a:p>
            <a:pPr algn="l"/>
            <a:r>
              <a:rPr lang="en-US" sz="2400">
                <a:solidFill>
                  <a:schemeClr val="tx1">
                    <a:lumMod val="95000"/>
                    <a:lumOff val="5000"/>
                  </a:schemeClr>
                </a:solidFill>
                <a:effectLst>
                  <a:outerShdw blurRad="38100" dist="38100" dir="2700000" algn="tl">
                    <a:srgbClr val="000000">
                      <a:alpha val="43137"/>
                    </a:srgbClr>
                  </a:outerShdw>
                </a:effectLst>
              </a:rPr>
              <a:t>Literals:</a:t>
            </a:r>
            <a:endParaRPr lang="he-IL" sz="2400">
              <a:solidFill>
                <a:schemeClr val="tx1">
                  <a:lumMod val="95000"/>
                  <a:lumOff val="5000"/>
                </a:schemeClr>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42          </a:t>
            </a:r>
            <a:r>
              <a:rPr lang="en-US" sz="2000">
                <a:solidFill>
                  <a:srgbClr val="009A46"/>
                </a:solidFill>
                <a:effectLst>
                  <a:outerShdw blurRad="38100" dist="38100" dir="2700000" algn="tl">
                    <a:srgbClr val="000000">
                      <a:alpha val="43137"/>
                    </a:srgbClr>
                  </a:outerShdw>
                </a:effectLst>
              </a:rPr>
              <a:t>// integer</a:t>
            </a:r>
          </a:p>
          <a:p>
            <a:pPr algn="l"/>
            <a:r>
              <a:rPr lang="en-US" sz="2000">
                <a:effectLst>
                  <a:outerShdw blurRad="38100" dist="38100" dir="2700000" algn="tl">
                    <a:srgbClr val="000000">
                      <a:alpha val="43137"/>
                    </a:srgbClr>
                  </a:outerShdw>
                </a:effectLst>
              </a:rPr>
              <a:t>3.14        </a:t>
            </a:r>
            <a:r>
              <a:rPr lang="en-US" sz="2000">
                <a:solidFill>
                  <a:srgbClr val="009A46"/>
                </a:solidFill>
                <a:effectLst>
                  <a:outerShdw blurRad="38100" dist="38100" dir="2700000" algn="tl">
                    <a:srgbClr val="000000">
                      <a:alpha val="43137"/>
                    </a:srgbClr>
                  </a:outerShdw>
                </a:effectLst>
              </a:rPr>
              <a:t>// float</a:t>
            </a:r>
          </a:p>
          <a:p>
            <a:pPr algn="l"/>
            <a:r>
              <a:rPr lang="en-US" sz="2000">
                <a:effectLst>
                  <a:outerShdw blurRad="38100" dist="38100" dir="2700000" algn="tl">
                    <a:srgbClr val="000000">
                      <a:alpha val="43137"/>
                    </a:srgbClr>
                  </a:outerShdw>
                </a:effectLst>
              </a:rPr>
              <a:t>"hello"     </a:t>
            </a:r>
            <a:r>
              <a:rPr lang="en-US" sz="2000">
                <a:solidFill>
                  <a:srgbClr val="009A46"/>
                </a:solidFill>
                <a:effectLst>
                  <a:outerShdw blurRad="38100" dist="38100" dir="2700000" algn="tl">
                    <a:srgbClr val="000000">
                      <a:alpha val="43137"/>
                    </a:srgbClr>
                  </a:outerShdw>
                </a:effectLst>
              </a:rPr>
              <a:t>// string</a:t>
            </a:r>
          </a:p>
          <a:p>
            <a:pPr algn="l"/>
            <a:r>
              <a:rPr lang="en-US" sz="2000">
                <a:effectLst>
                  <a:outerShdw blurRad="38100" dist="38100" dir="2700000" algn="tl">
                    <a:srgbClr val="000000">
                      <a:alpha val="43137"/>
                    </a:srgbClr>
                  </a:outerShdw>
                </a:effectLst>
              </a:rPr>
              <a:t>'a'       </a:t>
            </a:r>
            <a:r>
              <a:rPr lang="en-US" sz="2000">
                <a:solidFill>
                  <a:srgbClr val="009A46"/>
                </a:solidFill>
                <a:effectLst>
                  <a:outerShdw blurRad="38100" dist="38100" dir="2700000" algn="tl">
                    <a:srgbClr val="000000">
                      <a:alpha val="43137"/>
                    </a:srgbClr>
                  </a:outerShdw>
                </a:effectLst>
              </a:rPr>
              <a:t>  // char</a:t>
            </a:r>
          </a:p>
          <a:p>
            <a:pPr algn="l"/>
            <a:r>
              <a:rPr lang="en-US" sz="2000">
                <a:effectLst>
                  <a:outerShdw blurRad="38100" dist="38100" dir="2700000" algn="tl">
                    <a:srgbClr val="000000">
                      <a:alpha val="43137"/>
                    </a:srgbClr>
                  </a:outerShdw>
                </a:effectLst>
              </a:rPr>
              <a:t>True       </a:t>
            </a:r>
            <a:r>
              <a:rPr lang="en-US" sz="2000">
                <a:solidFill>
                  <a:srgbClr val="009A46"/>
                </a:solidFill>
                <a:effectLst>
                  <a:outerShdw blurRad="38100" dist="38100" dir="2700000" algn="tl">
                    <a:srgbClr val="000000">
                      <a:alpha val="43137"/>
                    </a:srgbClr>
                  </a:outerShdw>
                </a:effectLst>
              </a:rPr>
              <a:t> // Boolean</a:t>
            </a:r>
            <a:endParaRPr lang="he-IL" sz="2000">
              <a:solidFill>
                <a:srgbClr val="009A46"/>
              </a:solidFill>
              <a:effectLst>
                <a:outerShdw blurRad="38100" dist="38100" dir="2700000" algn="tl">
                  <a:srgbClr val="000000">
                    <a:alpha val="43137"/>
                  </a:srgbClr>
                </a:outerShdw>
              </a:effectLst>
            </a:endParaRPr>
          </a:p>
          <a:p>
            <a:pPr algn="l"/>
            <a:endParaRPr lang="he-IL" sz="2000">
              <a:effectLst>
                <a:outerShdw blurRad="38100" dist="38100" dir="2700000" algn="tl">
                  <a:srgbClr val="000000">
                    <a:alpha val="43137"/>
                  </a:srgbClr>
                </a:outerShdw>
              </a:effectLst>
            </a:endParaRPr>
          </a:p>
          <a:p>
            <a:pPr algn="l"/>
            <a:r>
              <a:rPr lang="en-US" sz="2400">
                <a:effectLst>
                  <a:outerShdw blurRad="38100" dist="38100" dir="2700000" algn="tl">
                    <a:srgbClr val="000000">
                      <a:alpha val="43137"/>
                    </a:srgbClr>
                  </a:outerShdw>
                </a:effectLst>
              </a:rPr>
              <a:t>Expressions:</a:t>
            </a:r>
            <a:endParaRPr lang="en-US" sz="2000">
              <a:solidFill>
                <a:srgbClr val="009A46"/>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f(1, 2)                 </a:t>
            </a:r>
            <a:r>
              <a:rPr lang="en-US" sz="2000">
                <a:solidFill>
                  <a:srgbClr val="009A46"/>
                </a:solidFill>
                <a:effectLst>
                  <a:outerShdw blurRad="38100" dist="38100" dir="2700000" algn="tl">
                    <a:srgbClr val="000000">
                      <a:alpha val="43137"/>
                    </a:srgbClr>
                  </a:outerShdw>
                </a:effectLst>
              </a:rPr>
              <a:t>// function call</a:t>
            </a:r>
          </a:p>
          <a:p>
            <a:pPr algn="l"/>
            <a:r>
              <a:rPr lang="en-US" sz="2000">
                <a:effectLst>
                  <a:outerShdw blurRad="38100" dist="38100" dir="2700000" algn="tl">
                    <a:srgbClr val="000000">
                      <a:alpha val="43137"/>
                    </a:srgbClr>
                  </a:outerShdw>
                </a:effectLst>
              </a:rPr>
              <a:t>list.map(fn(x) x * 2)   </a:t>
            </a:r>
            <a:r>
              <a:rPr lang="en-US" sz="2000">
                <a:solidFill>
                  <a:srgbClr val="009A46"/>
                </a:solidFill>
                <a:effectLst>
                  <a:outerShdw blurRad="38100" dist="38100" dir="2700000" algn="tl">
                    <a:srgbClr val="000000">
                      <a:alpha val="43137"/>
                    </a:srgbClr>
                  </a:outerShdw>
                </a:effectLst>
              </a:rPr>
              <a:t>// lambda</a:t>
            </a:r>
          </a:p>
          <a:p>
            <a:pPr algn="l"/>
            <a:r>
              <a:rPr lang="en-US" sz="2000">
                <a:effectLst>
                  <a:outerShdw blurRad="38100" dist="38100" dir="2700000" algn="tl">
                    <a:srgbClr val="000000">
                      <a:alpha val="43137"/>
                    </a:srgbClr>
                  </a:outerShdw>
                </a:effectLst>
              </a:rPr>
              <a:t>if x &gt; 0 then x else 0   </a:t>
            </a:r>
            <a:r>
              <a:rPr lang="en-US" sz="2000">
                <a:solidFill>
                  <a:srgbClr val="009A46"/>
                </a:solidFill>
                <a:effectLst>
                  <a:outerShdw blurRad="38100" dist="38100" dir="2700000" algn="tl">
                    <a:srgbClr val="000000">
                      <a:alpha val="43137"/>
                    </a:srgbClr>
                  </a:outerShdw>
                </a:effectLst>
              </a:rPr>
              <a:t>// conditional</a:t>
            </a:r>
          </a:p>
          <a:p>
            <a:pPr algn="l"/>
            <a:endParaRPr lang="en-US" sz="24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a:p>
            <a:pPr algn="l"/>
            <a:endParaRPr lang="en-US" b="0">
              <a:solidFill>
                <a:schemeClr val="tx1">
                  <a:lumMod val="95000"/>
                  <a:lumOff val="5000"/>
                </a:schemeClr>
              </a:solidFill>
              <a:effectLst>
                <a:outerShdw blurRad="38100" dist="38100" dir="2700000" algn="tl">
                  <a:srgbClr val="000000">
                    <a:alpha val="43137"/>
                  </a:srgbClr>
                </a:outerShdw>
              </a:effectLst>
            </a:endParaRPr>
          </a:p>
        </p:txBody>
      </p:sp>
      <p:sp>
        <p:nvSpPr>
          <p:cNvPr id="8" name="מלבן 7">
            <a:extLst>
              <a:ext uri="{FF2B5EF4-FFF2-40B4-BE49-F238E27FC236}">
                <a16:creationId xmlns:a16="http://schemas.microsoft.com/office/drawing/2014/main" id="{E5469638-AAEA-4719-90F6-9564D4FE5C04}"/>
              </a:ext>
            </a:extLst>
          </p:cNvPr>
          <p:cNvSpPr/>
          <p:nvPr/>
        </p:nvSpPr>
        <p:spPr>
          <a:xfrm>
            <a:off x="6096000" y="998696"/>
            <a:ext cx="5288280" cy="2954655"/>
          </a:xfrm>
          <a:prstGeom prst="rect">
            <a:avLst/>
          </a:prstGeom>
        </p:spPr>
        <p:txBody>
          <a:bodyPr wrap="square">
            <a:spAutoFit/>
          </a:bodyPr>
          <a:lstStyle/>
          <a:p>
            <a:pPr algn="l"/>
            <a:r>
              <a:rPr lang="en-US" sz="2400">
                <a:effectLst>
                  <a:outerShdw blurRad="38100" dist="38100" dir="2700000" algn="tl">
                    <a:srgbClr val="000000">
                      <a:alpha val="43137"/>
                    </a:srgbClr>
                  </a:outerShdw>
                </a:effectLst>
              </a:rPr>
              <a:t>Statements</a:t>
            </a:r>
            <a:r>
              <a:rPr lang="en-US" sz="2400">
                <a:solidFill>
                  <a:schemeClr val="tx1">
                    <a:lumMod val="95000"/>
                    <a:lumOff val="5000"/>
                  </a:schemeClr>
                </a:solidFill>
                <a:effectLst>
                  <a:outerShdw blurRad="38100" dist="38100" dir="2700000" algn="tl">
                    <a:srgbClr val="000000">
                      <a:alpha val="43137"/>
                    </a:srgbClr>
                  </a:outerShdw>
                </a:effectLst>
              </a:rPr>
              <a:t>:</a:t>
            </a:r>
            <a:endParaRPr lang="he-IL" sz="2400">
              <a:solidFill>
                <a:schemeClr val="tx1">
                  <a:lumMod val="95000"/>
                  <a:lumOff val="5000"/>
                </a:schemeClr>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val x = 10            </a:t>
            </a:r>
            <a:r>
              <a:rPr lang="en-US" sz="2000">
                <a:solidFill>
                  <a:srgbClr val="009A46"/>
                </a:solidFill>
                <a:effectLst>
                  <a:outerShdw blurRad="38100" dist="38100" dir="2700000" algn="tl">
                    <a:srgbClr val="000000">
                      <a:alpha val="43137"/>
                    </a:srgbClr>
                  </a:outerShdw>
                </a:effectLst>
              </a:rPr>
              <a:t>  // constant</a:t>
            </a:r>
          </a:p>
          <a:p>
            <a:pPr algn="l"/>
            <a:r>
              <a:rPr lang="en-US" sz="2000">
                <a:effectLst>
                  <a:outerShdw blurRad="38100" dist="38100" dir="2700000" algn="tl">
                    <a:srgbClr val="000000">
                      <a:alpha val="43137"/>
                    </a:srgbClr>
                  </a:outerShdw>
                </a:effectLst>
              </a:rPr>
              <a:t>var count := 0          </a:t>
            </a:r>
            <a:r>
              <a:rPr lang="en-US" sz="2000">
                <a:solidFill>
                  <a:srgbClr val="009A46"/>
                </a:solidFill>
                <a:effectLst>
                  <a:outerShdw blurRad="38100" dist="38100" dir="2700000" algn="tl">
                    <a:srgbClr val="000000">
                      <a:alpha val="43137"/>
                    </a:srgbClr>
                  </a:outerShdw>
                </a:effectLst>
              </a:rPr>
              <a:t>// variable</a:t>
            </a:r>
          </a:p>
          <a:p>
            <a:pPr algn="l"/>
            <a:r>
              <a:rPr lang="en-US" sz="2000">
                <a:effectLst>
                  <a:outerShdw blurRad="38100" dist="38100" dir="2700000" algn="tl">
                    <a:srgbClr val="000000">
                      <a:alpha val="43137"/>
                    </a:srgbClr>
                  </a:outerShdw>
                </a:effectLst>
              </a:rPr>
              <a:t>println("hi")          </a:t>
            </a:r>
            <a:r>
              <a:rPr lang="en-US" sz="2000">
                <a:solidFill>
                  <a:srgbClr val="009A46"/>
                </a:solidFill>
                <a:effectLst>
                  <a:outerShdw blurRad="38100" dist="38100" dir="2700000" algn="tl">
                    <a:srgbClr val="000000">
                      <a:alpha val="43137"/>
                    </a:srgbClr>
                  </a:outerShdw>
                </a:effectLst>
              </a:rPr>
              <a:t> // expression</a:t>
            </a:r>
          </a:p>
          <a:p>
            <a:pPr algn="l"/>
            <a:endParaRPr lang="he-IL" sz="20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a:p>
            <a:pPr algn="l"/>
            <a:endParaRPr lang="en-US" sz="24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a:p>
            <a:pPr algn="l"/>
            <a:endParaRPr lang="en-US" b="0">
              <a:solidFill>
                <a:schemeClr val="tx1">
                  <a:lumMod val="95000"/>
                  <a:lumOff val="5000"/>
                </a:schemeClr>
              </a:solidFill>
              <a:effectLst>
                <a:outerShdw blurRad="38100" dist="38100" dir="2700000" algn="tl">
                  <a:srgbClr val="000000">
                    <a:alpha val="43137"/>
                  </a:srgbClr>
                </a:outerShdw>
              </a:effectLst>
            </a:endParaRPr>
          </a:p>
        </p:txBody>
      </p:sp>
      <p:sp>
        <p:nvSpPr>
          <p:cNvPr id="9" name="מלבן 8">
            <a:extLst>
              <a:ext uri="{FF2B5EF4-FFF2-40B4-BE49-F238E27FC236}">
                <a16:creationId xmlns:a16="http://schemas.microsoft.com/office/drawing/2014/main" id="{280546DF-FF01-4169-ACAA-5A2BD2990CD6}"/>
              </a:ext>
            </a:extLst>
          </p:cNvPr>
          <p:cNvSpPr/>
          <p:nvPr/>
        </p:nvSpPr>
        <p:spPr>
          <a:xfrm>
            <a:off x="12925425" y="1028343"/>
            <a:ext cx="6096000" cy="2862322"/>
          </a:xfrm>
          <a:prstGeom prst="rect">
            <a:avLst/>
          </a:prstGeom>
        </p:spPr>
        <p:txBody>
          <a:bodyPr>
            <a:spAutoFit/>
          </a:bodyPr>
          <a:lstStyle/>
          <a:p>
            <a:r>
              <a:rPr lang="he-IL" b="1"/>
              <a:t>1. מזהים </a:t>
            </a:r>
            <a:r>
              <a:rPr lang="he-IL"/>
              <a:t>שמות משתנים מתחילים באות קטנה, קונסטרקטורים באות גדולה. מותר קו תחתון ומקף.</a:t>
            </a:r>
          </a:p>
          <a:p>
            <a:r>
              <a:rPr lang="he-IL" b="1"/>
              <a:t>2. קבועים </a:t>
            </a:r>
          </a:p>
          <a:p>
            <a:r>
              <a:rPr lang="he-IL"/>
              <a:t>ערכים קבועים בסיסיים של השפה - מספרים, טקסט ותווים.</a:t>
            </a:r>
          </a:p>
          <a:p>
            <a:r>
              <a:rPr lang="he-IL" b="1"/>
              <a:t>3. ביטויים </a:t>
            </a:r>
          </a:p>
          <a:p>
            <a:r>
              <a:rPr lang="he-IL"/>
              <a:t>צירופים של ערכים ופעולות שמחזירים תוצאה. </a:t>
            </a:r>
          </a:p>
          <a:p>
            <a:r>
              <a:rPr lang="he-IL" b="1"/>
              <a:t>4. פקודות </a:t>
            </a:r>
          </a:p>
          <a:p>
            <a:r>
              <a:rPr lang="he-IL"/>
              <a:t>הגדרות של משתנים, פונקציות וקריאות. ב</a:t>
            </a:r>
            <a:r>
              <a:rPr lang="en-US"/>
              <a:t>Koka </a:t>
            </a:r>
            <a:r>
              <a:rPr lang="he-IL"/>
              <a:t> רוב הפקודות הן למעשה ביטויים.</a:t>
            </a:r>
          </a:p>
          <a:p>
            <a:endParaRPr lang="en-US"/>
          </a:p>
        </p:txBody>
      </p:sp>
    </p:spTree>
    <p:extLst>
      <p:ext uri="{BB962C8B-B14F-4D97-AF65-F5344CB8AC3E}">
        <p14:creationId xmlns:p14="http://schemas.microsoft.com/office/powerpoint/2010/main" val="2589106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0AC653FB-DC83-4CAC-AF54-82D861B6972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מלבן 4">
            <a:extLst>
              <a:ext uri="{FF2B5EF4-FFF2-40B4-BE49-F238E27FC236}">
                <a16:creationId xmlns:a16="http://schemas.microsoft.com/office/drawing/2014/main" id="{2A48771A-88DD-40A3-9DB4-CA010A93FC50}"/>
              </a:ext>
            </a:extLst>
          </p:cNvPr>
          <p:cNvSpPr/>
          <p:nvPr/>
        </p:nvSpPr>
        <p:spPr>
          <a:xfrm>
            <a:off x="432122" y="441841"/>
            <a:ext cx="6096000" cy="5693866"/>
          </a:xfrm>
          <a:prstGeom prst="rect">
            <a:avLst/>
          </a:prstGeom>
        </p:spPr>
        <p:txBody>
          <a:bodyPr>
            <a:spAutoFit/>
          </a:bodyPr>
          <a:lstStyle/>
          <a:p>
            <a:pPr algn="l"/>
            <a:r>
              <a:rPr lang="en-US" sz="2400">
                <a:effectLst>
                  <a:outerShdw blurRad="38100" dist="38100" dir="2700000" algn="tl">
                    <a:srgbClr val="000000">
                      <a:alpha val="43137"/>
                    </a:srgbClr>
                  </a:outerShdw>
                </a:effectLst>
              </a:rPr>
              <a:t>Control Structures:</a:t>
            </a:r>
            <a:br>
              <a:rPr lang="en-US">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conditional</a:t>
            </a:r>
          </a:p>
          <a:p>
            <a:pPr algn="l"/>
            <a:r>
              <a:rPr lang="en-US" sz="2000">
                <a:effectLst>
                  <a:outerShdw blurRad="38100" dist="38100" dir="2700000" algn="tl">
                    <a:srgbClr val="000000">
                      <a:alpha val="43137"/>
                    </a:srgbClr>
                  </a:outerShdw>
                </a:effectLst>
              </a:rPr>
              <a:t>if x &gt; 0 then "pos" else "neg"</a:t>
            </a:r>
          </a:p>
          <a:p>
            <a:pPr algn="l"/>
            <a:br>
              <a:rPr lang="en-US" sz="2000">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pattern matching</a:t>
            </a:r>
          </a:p>
          <a:p>
            <a:pPr algn="l"/>
            <a:r>
              <a:rPr lang="en-US" sz="2000">
                <a:effectLst>
                  <a:outerShdw blurRad="38100" dist="38100" dir="2700000" algn="tl">
                    <a:srgbClr val="000000">
                      <a:alpha val="43137"/>
                    </a:srgbClr>
                  </a:outerShdw>
                </a:effectLst>
              </a:rPr>
              <a:t>match list</a:t>
            </a:r>
          </a:p>
          <a:p>
            <a:pPr algn="l"/>
            <a:r>
              <a:rPr lang="en-US" sz="2000">
                <a:effectLst>
                  <a:outerShdw blurRad="38100" dist="38100" dir="2700000" algn="tl">
                    <a:srgbClr val="000000">
                      <a:alpha val="43137"/>
                    </a:srgbClr>
                  </a:outerShdw>
                </a:effectLst>
              </a:rPr>
              <a:t>  Nil -&gt; "empty"</a:t>
            </a:r>
          </a:p>
          <a:p>
            <a:pPr algn="l"/>
            <a:r>
              <a:rPr lang="en-US" sz="2000">
                <a:effectLst>
                  <a:outerShdw blurRad="38100" dist="38100" dir="2700000" algn="tl">
                    <a:srgbClr val="000000">
                      <a:alpha val="43137"/>
                    </a:srgbClr>
                  </a:outerShdw>
                </a:effectLst>
              </a:rPr>
              <a:t>  Cons(x, xs) -&gt; "full"</a:t>
            </a:r>
          </a:p>
          <a:p>
            <a:pPr algn="l"/>
            <a:br>
              <a:rPr lang="en-US" sz="2000">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loops  </a:t>
            </a:r>
          </a:p>
          <a:p>
            <a:pPr algn="l"/>
            <a:r>
              <a:rPr lang="en-US" sz="2000">
                <a:effectLst>
                  <a:outerShdw blurRad="38100" dist="38100" dir="2700000" algn="tl">
                    <a:srgbClr val="000000">
                      <a:alpha val="43137"/>
                    </a:srgbClr>
                  </a:outerShdw>
                </a:effectLst>
              </a:rPr>
              <a:t>while { i &lt; 10 }</a:t>
            </a:r>
          </a:p>
          <a:p>
            <a:pPr algn="l"/>
            <a:r>
              <a:rPr lang="en-US" sz="2000">
                <a:effectLst>
                  <a:outerShdw blurRad="38100" dist="38100" dir="2700000" algn="tl">
                    <a:srgbClr val="000000">
                      <a:alpha val="43137"/>
                    </a:srgbClr>
                  </a:outerShdw>
                </a:effectLst>
              </a:rPr>
              <a:t>  i := i + 1</a:t>
            </a:r>
            <a:endParaRPr lang="he-IL" sz="2000">
              <a:effectLst>
                <a:outerShdw blurRad="38100" dist="38100" dir="2700000" algn="tl">
                  <a:srgbClr val="000000">
                    <a:alpha val="43137"/>
                  </a:srgbClr>
                </a:outerShdw>
              </a:effectLst>
            </a:endParaRPr>
          </a:p>
          <a:p>
            <a:pPr algn="l"/>
            <a:endParaRPr lang="en-US"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for(1, 10) fn(i)  </a:t>
            </a:r>
            <a:endParaRPr lang="he-IL" sz="2000">
              <a:effectLst>
                <a:outerShdw blurRad="38100" dist="38100" dir="2700000" algn="tl">
                  <a:srgbClr val="000000">
                    <a:alpha val="43137"/>
                  </a:srgbClr>
                </a:outerShdw>
              </a:effectLst>
            </a:endParaRPr>
          </a:p>
          <a:p>
            <a:pPr algn="l"/>
            <a:r>
              <a:rPr lang="he-IL" sz="2000">
                <a:effectLst>
                  <a:outerShdw blurRad="38100" dist="38100" dir="2700000" algn="tl">
                    <a:srgbClr val="000000">
                      <a:alpha val="43137"/>
                    </a:srgbClr>
                  </a:outerShdw>
                </a:effectLst>
              </a:rPr>
              <a:t>    </a:t>
            </a:r>
            <a:r>
              <a:rPr lang="en-US" sz="2000">
                <a:effectLst>
                  <a:outerShdw blurRad="38100" dist="38100" dir="2700000" algn="tl">
                    <a:srgbClr val="000000">
                      <a:alpha val="43137"/>
                    </a:srgbClr>
                  </a:outerShdw>
                </a:effectLst>
              </a:rPr>
              <a:t>   println(i.show)</a:t>
            </a:r>
          </a:p>
          <a:p>
            <a:pPr algn="l"/>
            <a:endParaRPr lang="en-US"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names.foreach fn(name) </a:t>
            </a:r>
          </a:p>
          <a:p>
            <a:pPr algn="l"/>
            <a:r>
              <a:rPr lang="en-US" sz="2000">
                <a:effectLst>
                  <a:outerShdw blurRad="38100" dist="38100" dir="2700000" algn="tl">
                    <a:srgbClr val="000000">
                      <a:alpha val="43137"/>
                    </a:srgbClr>
                  </a:outerShdw>
                </a:effectLst>
              </a:rPr>
              <a:t>   println("Hello " ++ name)</a:t>
            </a:r>
          </a:p>
        </p:txBody>
      </p:sp>
      <p:sp>
        <p:nvSpPr>
          <p:cNvPr id="6" name="מלבן 5">
            <a:extLst>
              <a:ext uri="{FF2B5EF4-FFF2-40B4-BE49-F238E27FC236}">
                <a16:creationId xmlns:a16="http://schemas.microsoft.com/office/drawing/2014/main" id="{9BEEC479-E9B6-4EF0-853F-7B51293FD739}"/>
              </a:ext>
            </a:extLst>
          </p:cNvPr>
          <p:cNvSpPr/>
          <p:nvPr/>
        </p:nvSpPr>
        <p:spPr>
          <a:xfrm>
            <a:off x="4033777" y="373337"/>
            <a:ext cx="7726102" cy="2062103"/>
          </a:xfrm>
          <a:prstGeom prst="rect">
            <a:avLst/>
          </a:prstGeom>
        </p:spPr>
        <p:txBody>
          <a:bodyPr wrap="square">
            <a:spAutoFit/>
          </a:bodyPr>
          <a:lstStyle/>
          <a:p>
            <a:pPr algn="l"/>
            <a:r>
              <a:rPr lang="en-US" sz="2400">
                <a:effectLst>
                  <a:outerShdw blurRad="38100" dist="38100" dir="2700000" algn="tl">
                    <a:srgbClr val="000000">
                      <a:alpha val="43137"/>
                    </a:srgbClr>
                  </a:outerShdw>
                </a:effectLst>
              </a:rPr>
              <a:t>Main BNF:</a:t>
            </a:r>
            <a:endParaRPr lang="en-US" sz="2000"/>
          </a:p>
          <a:p>
            <a:pPr algn="l"/>
            <a:r>
              <a:rPr lang="en-US" sz="2000">
                <a:effectLst>
                  <a:outerShdw blurRad="38100" dist="38100" dir="2700000" algn="tl">
                    <a:srgbClr val="000000">
                      <a:alpha val="43137"/>
                    </a:srgbClr>
                  </a:outerShdw>
                </a:effectLst>
              </a:rPr>
              <a:t>bnfvarid ::= lowercase {char}</a:t>
            </a:r>
          </a:p>
          <a:p>
            <a:pPr algn="l"/>
            <a:r>
              <a:rPr lang="en-US" sz="2000">
                <a:effectLst>
                  <a:outerShdw blurRad="38100" dist="38100" dir="2700000" algn="tl">
                    <a:srgbClr val="000000">
                      <a:alpha val="43137"/>
                    </a:srgbClr>
                  </a:outerShdw>
                </a:effectLst>
              </a:rPr>
              <a:t>expr ::= literal | identifier | expr '(' args ')' | 'if' expr 'then' expr 'else' expr</a:t>
            </a:r>
          </a:p>
          <a:p>
            <a:pPr algn="l"/>
            <a:r>
              <a:rPr lang="en-US" sz="2000">
                <a:effectLst>
                  <a:outerShdw blurRad="38100" dist="38100" dir="2700000" algn="tl">
                    <a:srgbClr val="000000">
                      <a:alpha val="43137"/>
                    </a:srgbClr>
                  </a:outerShdw>
                </a:effectLst>
              </a:rPr>
              <a:t>statement ::= 'val' id '=' expr | 'var' id ':=' expr | 'fun' id params expr</a:t>
            </a:r>
          </a:p>
          <a:p>
            <a:pPr algn="l"/>
            <a:r>
              <a:rPr lang="en-US" sz="2000">
                <a:effectLst>
                  <a:outerShdw blurRad="38100" dist="38100" dir="2700000" algn="tl">
                    <a:srgbClr val="000000">
                      <a:alpha val="43137"/>
                    </a:srgbClr>
                  </a:outerShdw>
                </a:effectLst>
              </a:rPr>
              <a:t>program ::= {import} {declaration}</a:t>
            </a:r>
          </a:p>
          <a:p>
            <a:pPr algn="l"/>
            <a:endParaRPr lang="en-US" sz="2400">
              <a:effectLst>
                <a:outerShdw blurRad="38100" dist="38100" dir="2700000" algn="tl">
                  <a:srgbClr val="000000">
                    <a:alpha val="43137"/>
                  </a:srgbClr>
                </a:outerShdw>
              </a:effectLst>
            </a:endParaRPr>
          </a:p>
        </p:txBody>
      </p:sp>
      <p:sp>
        <p:nvSpPr>
          <p:cNvPr id="9" name="מלבן 8">
            <a:extLst>
              <a:ext uri="{FF2B5EF4-FFF2-40B4-BE49-F238E27FC236}">
                <a16:creationId xmlns:a16="http://schemas.microsoft.com/office/drawing/2014/main" id="{7C006124-645C-40DA-9B9B-F9FF0BBEB566}"/>
              </a:ext>
            </a:extLst>
          </p:cNvPr>
          <p:cNvSpPr/>
          <p:nvPr/>
        </p:nvSpPr>
        <p:spPr>
          <a:xfrm>
            <a:off x="12477731" y="1582340"/>
            <a:ext cx="6096000" cy="3693319"/>
          </a:xfrm>
          <a:prstGeom prst="rect">
            <a:avLst/>
          </a:prstGeom>
        </p:spPr>
        <p:txBody>
          <a:bodyPr>
            <a:spAutoFit/>
          </a:bodyPr>
          <a:lstStyle/>
          <a:p>
            <a:r>
              <a:rPr lang="he-IL" b="1"/>
              <a:t>מבני בקרה </a:t>
            </a:r>
          </a:p>
          <a:p>
            <a:r>
              <a:rPr lang="he-IL"/>
              <a:t>מנגנונים לשליטה בזרימת התוכנית - תנאים, לולאות והתאמת תבניות.</a:t>
            </a:r>
          </a:p>
          <a:p>
            <a:r>
              <a:rPr lang="he-IL"/>
              <a:t>הסבר על </a:t>
            </a:r>
            <a:r>
              <a:rPr lang="en-US"/>
              <a:t>match</a:t>
            </a:r>
            <a:r>
              <a:rPr lang="he-IL"/>
              <a:t>:</a:t>
            </a:r>
          </a:p>
          <a:p>
            <a:pPr lvl="0" eaLnBrk="0" fontAlgn="base" hangingPunct="0">
              <a:spcBef>
                <a:spcPct val="0"/>
              </a:spcBef>
              <a:spcAft>
                <a:spcPct val="0"/>
              </a:spcAft>
              <a:buFontTx/>
              <a:buChar char="•"/>
            </a:pPr>
            <a:r>
              <a:rPr lang="he-IL" altLang="he-IL" b="1">
                <a:latin typeface="Arial" panose="020B0604020202020204" pitchFamily="34" charset="0"/>
              </a:rPr>
              <a:t>match list</a:t>
            </a:r>
            <a:r>
              <a:rPr lang="he-IL" altLang="he-IL">
                <a:latin typeface="Arial" panose="020B0604020202020204" pitchFamily="34" charset="0"/>
              </a:rPr>
              <a:t> - בודק את המבנה של המשתנה </a:t>
            </a:r>
            <a:r>
              <a:rPr lang="he-IL" altLang="he-IL">
                <a:latin typeface="Arial Unicode MS"/>
              </a:rPr>
              <a:t>list</a:t>
            </a:r>
            <a:r>
              <a:rPr lang="he-IL" altLang="he-IL"/>
              <a:t> </a:t>
            </a:r>
            <a:endParaRPr lang="he-IL" altLang="he-IL">
              <a:latin typeface="Arial" panose="020B0604020202020204" pitchFamily="34" charset="0"/>
            </a:endParaRPr>
          </a:p>
          <a:p>
            <a:pPr lvl="0" eaLnBrk="0" fontAlgn="base" hangingPunct="0">
              <a:spcBef>
                <a:spcPct val="0"/>
              </a:spcBef>
              <a:spcAft>
                <a:spcPct val="0"/>
              </a:spcAft>
              <a:buFontTx/>
              <a:buChar char="•"/>
            </a:pPr>
            <a:r>
              <a:rPr lang="he-IL" altLang="he-IL" b="1">
                <a:latin typeface="Arial" panose="020B0604020202020204" pitchFamily="34" charset="0"/>
              </a:rPr>
              <a:t>Nil</a:t>
            </a:r>
            <a:r>
              <a:rPr lang="he-IL" altLang="he-IL">
                <a:latin typeface="Arial" panose="020B0604020202020204" pitchFamily="34" charset="0"/>
              </a:rPr>
              <a:t> - אם הרשימה ריקה, החזר </a:t>
            </a:r>
            <a:r>
              <a:rPr lang="he-IL" altLang="he-IL">
                <a:latin typeface="Arial Unicode MS"/>
              </a:rPr>
              <a:t>"empty"</a:t>
            </a:r>
            <a:r>
              <a:rPr lang="he-IL" altLang="he-IL"/>
              <a:t> </a:t>
            </a:r>
            <a:endParaRPr lang="he-IL" altLang="he-IL">
              <a:latin typeface="Arial" panose="020B0604020202020204" pitchFamily="34" charset="0"/>
            </a:endParaRPr>
          </a:p>
          <a:p>
            <a:pPr lvl="0" eaLnBrk="0" fontAlgn="base" hangingPunct="0">
              <a:spcBef>
                <a:spcPct val="0"/>
              </a:spcBef>
              <a:spcAft>
                <a:spcPct val="0"/>
              </a:spcAft>
              <a:buFontTx/>
              <a:buChar char="•"/>
            </a:pPr>
            <a:r>
              <a:rPr lang="he-IL" altLang="he-IL" b="1">
                <a:latin typeface="Arial" panose="020B0604020202020204" pitchFamily="34" charset="0"/>
              </a:rPr>
              <a:t>Cons(x, xs)</a:t>
            </a:r>
            <a:r>
              <a:rPr lang="he-IL" altLang="he-IL">
                <a:latin typeface="Arial" panose="020B0604020202020204" pitchFamily="34" charset="0"/>
              </a:rPr>
              <a:t> - אם הרשימה מכילה איברים: </a:t>
            </a:r>
          </a:p>
          <a:p>
            <a:pPr lvl="0" eaLnBrk="0" fontAlgn="base" hangingPunct="0">
              <a:spcBef>
                <a:spcPct val="0"/>
              </a:spcBef>
              <a:spcAft>
                <a:spcPct val="0"/>
              </a:spcAft>
              <a:buFontTx/>
              <a:buChar char="•"/>
            </a:pPr>
            <a:r>
              <a:rPr lang="he-IL" altLang="he-IL">
                <a:latin typeface="Arial Unicode MS"/>
              </a:rPr>
              <a:t>x</a:t>
            </a:r>
            <a:r>
              <a:rPr lang="he-IL" altLang="he-IL"/>
              <a:t> הוא האיבר הראשון</a:t>
            </a:r>
            <a:r>
              <a:rPr lang="he-IL" altLang="he-IL">
                <a:latin typeface="Arial" panose="020B0604020202020204" pitchFamily="34" charset="0"/>
              </a:rPr>
              <a:t> </a:t>
            </a:r>
          </a:p>
          <a:p>
            <a:pPr lvl="0" eaLnBrk="0" fontAlgn="base" hangingPunct="0">
              <a:spcBef>
                <a:spcPct val="0"/>
              </a:spcBef>
              <a:spcAft>
                <a:spcPct val="0"/>
              </a:spcAft>
              <a:buFontTx/>
              <a:buChar char="•"/>
            </a:pPr>
            <a:r>
              <a:rPr lang="he-IL" altLang="he-IL">
                <a:latin typeface="Arial Unicode MS"/>
              </a:rPr>
              <a:t>xs</a:t>
            </a:r>
            <a:r>
              <a:rPr lang="he-IL" altLang="he-IL"/>
              <a:t> היא שאר הרשימה</a:t>
            </a:r>
            <a:r>
              <a:rPr lang="he-IL" altLang="he-IL">
                <a:latin typeface="Arial" panose="020B0604020202020204" pitchFamily="34" charset="0"/>
              </a:rPr>
              <a:t> </a:t>
            </a:r>
          </a:p>
          <a:p>
            <a:pPr lvl="0" eaLnBrk="0" fontAlgn="base" hangingPunct="0">
              <a:spcBef>
                <a:spcPct val="0"/>
              </a:spcBef>
              <a:spcAft>
                <a:spcPct val="0"/>
              </a:spcAft>
              <a:buFontTx/>
              <a:buChar char="•"/>
            </a:pPr>
            <a:r>
              <a:rPr lang="he-IL" altLang="he-IL">
                <a:latin typeface="Arial" panose="020B0604020202020204" pitchFamily="34" charset="0"/>
              </a:rPr>
              <a:t>החזר </a:t>
            </a:r>
            <a:r>
              <a:rPr lang="he-IL" altLang="he-IL">
                <a:latin typeface="Arial Unicode MS"/>
              </a:rPr>
              <a:t>"full"</a:t>
            </a:r>
            <a:endParaRPr lang="he-IL" altLang="he-IL"/>
          </a:p>
          <a:p>
            <a:endParaRPr lang="he-IL"/>
          </a:p>
          <a:p>
            <a:r>
              <a:rPr lang="he-IL" b="1"/>
              <a:t>6. מבנה תוכנית </a:t>
            </a:r>
            <a:r>
              <a:rPr lang="he-IL"/>
              <a:t>תוכנית מורכבת מייבוא ספריות, הגדרת פונקציות וטיפוסים, ופונקציית </a:t>
            </a:r>
            <a:r>
              <a:rPr lang="en-US"/>
              <a:t>main.</a:t>
            </a:r>
          </a:p>
        </p:txBody>
      </p:sp>
    </p:spTree>
    <p:extLst>
      <p:ext uri="{BB962C8B-B14F-4D97-AF65-F5344CB8AC3E}">
        <p14:creationId xmlns:p14="http://schemas.microsoft.com/office/powerpoint/2010/main" val="1294557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תמונה 7">
            <a:extLst>
              <a:ext uri="{FF2B5EF4-FFF2-40B4-BE49-F238E27FC236}">
                <a16:creationId xmlns:a16="http://schemas.microsoft.com/office/drawing/2014/main" id="{7282A198-1C7B-43FB-B7B8-3EFF3A9A89A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812981" y="687199"/>
            <a:ext cx="6096000" cy="646331"/>
          </a:xfrm>
          <a:prstGeom prst="rect">
            <a:avLst/>
          </a:prstGeom>
        </p:spPr>
        <p:txBody>
          <a:bodyPr>
            <a:spAutoFit/>
          </a:bodyPr>
          <a:lstStyle/>
          <a:p>
            <a:pPr lvl="0" eaLnBrk="0" fontAlgn="base" hangingPunct="0">
              <a:spcBef>
                <a:spcPct val="0"/>
              </a:spcBef>
              <a:spcAft>
                <a:spcPct val="0"/>
              </a:spcAft>
            </a:pPr>
            <a:r>
              <a:rPr lang="he-IL" altLang="he-IL">
                <a:latin typeface="Arial" panose="020B0604020202020204" pitchFamily="34" charset="0"/>
              </a:rPr>
              <a:t>קוקה משתמשת בטווח הכרה סטטי</a:t>
            </a:r>
          </a:p>
          <a:p>
            <a:pPr lvl="0" eaLnBrk="0" fontAlgn="base" hangingPunct="0">
              <a:spcBef>
                <a:spcPct val="0"/>
              </a:spcBef>
              <a:spcAft>
                <a:spcPct val="0"/>
              </a:spcAft>
            </a:pPr>
            <a:r>
              <a:rPr lang="he-IL" altLang="he-IL">
                <a:latin typeface="Arial" panose="020B0604020202020204" pitchFamily="34" charset="0"/>
              </a:rPr>
              <a:t>- הטווח נקבע לפי המיקום בקוד ולא לפי סדר הקריאות בזמן ריצה</a:t>
            </a:r>
          </a:p>
        </p:txBody>
      </p:sp>
      <p:sp>
        <p:nvSpPr>
          <p:cNvPr id="6" name="מלבן 5">
            <a:extLst>
              <a:ext uri="{FF2B5EF4-FFF2-40B4-BE49-F238E27FC236}">
                <a16:creationId xmlns:a16="http://schemas.microsoft.com/office/drawing/2014/main" id="{D9B96E1E-F06E-47E4-8474-840AC133669F}"/>
              </a:ext>
            </a:extLst>
          </p:cNvPr>
          <p:cNvSpPr/>
          <p:nvPr/>
        </p:nvSpPr>
        <p:spPr>
          <a:xfrm>
            <a:off x="860386" y="870542"/>
            <a:ext cx="6096000" cy="3477875"/>
          </a:xfrm>
          <a:prstGeom prst="rect">
            <a:avLst/>
          </a:prstGeom>
        </p:spPr>
        <p:txBody>
          <a:bodyPr>
            <a:spAutoFit/>
          </a:bodyPr>
          <a:lstStyle/>
          <a:p>
            <a:pPr algn="l"/>
            <a:r>
              <a:rPr lang="en-US" sz="2000">
                <a:effectLst>
                  <a:outerShdw blurRad="38100" dist="38100" dir="2700000" algn="tl">
                    <a:srgbClr val="000000">
                      <a:alpha val="43137"/>
                    </a:srgbClr>
                  </a:outerShdw>
                </a:effectLst>
              </a:rPr>
              <a:t>val x = 100                 </a:t>
            </a:r>
            <a:r>
              <a:rPr lang="en-US" sz="2000">
                <a:solidFill>
                  <a:srgbClr val="009A46"/>
                </a:solidFill>
                <a:effectLst>
                  <a:outerShdw blurRad="38100" dist="38100" dir="2700000" algn="tl">
                    <a:srgbClr val="000000">
                      <a:alpha val="43137"/>
                    </a:srgbClr>
                  </a:outerShdw>
                </a:effectLst>
              </a:rPr>
              <a:t>// global x=100</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print_x()</a:t>
            </a:r>
          </a:p>
          <a:p>
            <a:pPr algn="l"/>
            <a:r>
              <a:rPr lang="en-US" sz="2000">
                <a:effectLst>
                  <a:outerShdw blurRad="38100" dist="38100" dir="2700000" algn="tl">
                    <a:srgbClr val="000000">
                      <a:alpha val="43137"/>
                    </a:srgbClr>
                  </a:outerShdw>
                </a:effectLst>
              </a:rPr>
              <a:t>  println(x.show)          </a:t>
            </a:r>
            <a:r>
              <a:rPr lang="en-US" sz="2000">
                <a:solidFill>
                  <a:srgbClr val="009A46"/>
                </a:solidFill>
                <a:effectLst>
                  <a:outerShdw blurRad="38100" dist="38100" dir="2700000" algn="tl">
                    <a:srgbClr val="000000">
                      <a:alpha val="43137"/>
                    </a:srgbClr>
                  </a:outerShdw>
                </a:effectLst>
              </a:rPr>
              <a:t> // always sees global x = 100</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test()</a:t>
            </a:r>
          </a:p>
          <a:p>
            <a:pPr algn="l"/>
            <a:r>
              <a:rPr lang="en-US" sz="2000">
                <a:effectLst>
                  <a:outerShdw blurRad="38100" dist="38100" dir="2700000" algn="tl">
                    <a:srgbClr val="000000">
                      <a:alpha val="43137"/>
                    </a:srgbClr>
                  </a:outerShdw>
                </a:effectLst>
              </a:rPr>
              <a:t>  val x = 5                 </a:t>
            </a:r>
            <a:r>
              <a:rPr lang="en-US" sz="2000">
                <a:solidFill>
                  <a:srgbClr val="009A46"/>
                </a:solidFill>
                <a:effectLst>
                  <a:outerShdw blurRad="38100" dist="38100" dir="2700000" algn="tl">
                    <a:srgbClr val="000000">
                      <a:alpha val="43137"/>
                    </a:srgbClr>
                  </a:outerShdw>
                </a:effectLst>
              </a:rPr>
              <a:t>// local x in test</a:t>
            </a:r>
          </a:p>
          <a:p>
            <a:pPr algn="l"/>
            <a:r>
              <a:rPr lang="en-US" sz="2000">
                <a:effectLst>
                  <a:outerShdw blurRad="38100" dist="38100" dir="2700000" algn="tl">
                    <a:srgbClr val="000000">
                      <a:alpha val="43137"/>
                    </a:srgbClr>
                  </a:outerShdw>
                </a:effectLst>
              </a:rPr>
              <a:t>  print_x()                 </a:t>
            </a:r>
            <a:r>
              <a:rPr lang="en-US" sz="2000">
                <a:solidFill>
                  <a:srgbClr val="009A46"/>
                </a:solidFill>
                <a:effectLst>
                  <a:outerShdw blurRad="38100" dist="38100" dir="2700000" algn="tl">
                    <a:srgbClr val="000000">
                      <a:alpha val="43137"/>
                    </a:srgbClr>
                  </a:outerShdw>
                </a:effectLst>
              </a:rPr>
              <a:t>// still prints 100!</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test()                   </a:t>
            </a:r>
            <a:r>
              <a:rPr lang="en-US" sz="2000">
                <a:solidFill>
                  <a:srgbClr val="009A46"/>
                </a:solidFill>
                <a:effectLst>
                  <a:outerShdw blurRad="38100" dist="38100" dir="2700000" algn="tl">
                    <a:srgbClr val="000000">
                      <a:alpha val="43137"/>
                    </a:srgbClr>
                  </a:outerShdw>
                </a:effectLst>
              </a:rPr>
              <a:t> // output- 100</a:t>
            </a:r>
            <a:endParaRPr lang="en-US" sz="2000" b="0">
              <a:solidFill>
                <a:srgbClr val="009A46"/>
              </a:solidFill>
              <a:effectLst>
                <a:outerShdw blurRad="38100" dist="38100" dir="2700000" algn="tl">
                  <a:srgbClr val="000000">
                    <a:alpha val="43137"/>
                  </a:srgbClr>
                </a:outerShdw>
              </a:effectLst>
            </a:endParaRPr>
          </a:p>
        </p:txBody>
      </p:sp>
      <p:sp>
        <p:nvSpPr>
          <p:cNvPr id="7" name="מלבן 6">
            <a:extLst>
              <a:ext uri="{FF2B5EF4-FFF2-40B4-BE49-F238E27FC236}">
                <a16:creationId xmlns:a16="http://schemas.microsoft.com/office/drawing/2014/main" id="{A17DE1E7-27AE-4718-9D35-DB231E7B1CBA}"/>
              </a:ext>
            </a:extLst>
          </p:cNvPr>
          <p:cNvSpPr/>
          <p:nvPr/>
        </p:nvSpPr>
        <p:spPr>
          <a:xfrm>
            <a:off x="4999065" y="149453"/>
            <a:ext cx="2193870" cy="584775"/>
          </a:xfrm>
          <a:prstGeom prst="rect">
            <a:avLst/>
          </a:prstGeom>
        </p:spPr>
        <p:txBody>
          <a:bodyPr wrap="none">
            <a:spAutoFit/>
          </a:bodyPr>
          <a:lstStyle/>
          <a:p>
            <a:r>
              <a:rPr lang="en-US" sz="3200">
                <a:effectLst>
                  <a:outerShdw blurRad="38100" dist="38100" dir="2700000" algn="tl">
                    <a:srgbClr val="000000">
                      <a:alpha val="43137"/>
                    </a:srgbClr>
                  </a:outerShdw>
                </a:effectLst>
              </a:rPr>
              <a:t>Static Scope</a:t>
            </a:r>
            <a:endParaRPr lang="he-IL" sz="320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76908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512040" y="687199"/>
            <a:ext cx="6096000" cy="369332"/>
          </a:xfrm>
          <a:prstGeom prst="rect">
            <a:avLst/>
          </a:prstGeom>
        </p:spPr>
        <p:txBody>
          <a:bodyPr>
            <a:spAutoFit/>
          </a:bodyPr>
          <a:lstStyle/>
          <a:p>
            <a:pPr lvl="0" eaLnBrk="0" fontAlgn="base" hangingPunct="0">
              <a:spcBef>
                <a:spcPct val="0"/>
              </a:spcBef>
              <a:spcAft>
                <a:spcPct val="0"/>
              </a:spcAft>
            </a:pPr>
            <a:r>
              <a:rPr lang="he-IL" altLang="he-IL" b="1">
                <a:latin typeface="Arial" panose="020B0604020202020204" pitchFamily="34" charset="0"/>
              </a:rPr>
              <a:t>טי</a:t>
            </a:r>
            <a:endParaRPr lang="he-IL" altLang="he-IL">
              <a:latin typeface="Arial" panose="020B0604020202020204" pitchFamily="34" charset="0"/>
            </a:endParaRPr>
          </a:p>
        </p:txBody>
      </p:sp>
      <p:pic>
        <p:nvPicPr>
          <p:cNvPr id="6" name="תמונה 5">
            <a:extLst>
              <a:ext uri="{FF2B5EF4-FFF2-40B4-BE49-F238E27FC236}">
                <a16:creationId xmlns:a16="http://schemas.microsoft.com/office/drawing/2014/main" id="{2730E244-2D1F-40F6-AA26-5DB093D9A36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2" name="מלבן 1">
            <a:extLst>
              <a:ext uri="{FF2B5EF4-FFF2-40B4-BE49-F238E27FC236}">
                <a16:creationId xmlns:a16="http://schemas.microsoft.com/office/drawing/2014/main" id="{28A6B272-32CA-4E68-BB6F-5FC6ACD4A589}"/>
              </a:ext>
            </a:extLst>
          </p:cNvPr>
          <p:cNvSpPr/>
          <p:nvPr/>
        </p:nvSpPr>
        <p:spPr>
          <a:xfrm>
            <a:off x="3635420" y="72509"/>
            <a:ext cx="4921155" cy="584775"/>
          </a:xfrm>
          <a:prstGeom prst="rect">
            <a:avLst/>
          </a:prstGeom>
        </p:spPr>
        <p:txBody>
          <a:bodyPr wrap="none">
            <a:spAutoFit/>
          </a:bodyPr>
          <a:lstStyle/>
          <a:p>
            <a:r>
              <a:rPr lang="en-US" sz="3200">
                <a:effectLst>
                  <a:outerShdw blurRad="38100" dist="38100" dir="2700000" algn="tl">
                    <a:srgbClr val="000000">
                      <a:alpha val="43137"/>
                    </a:srgbClr>
                  </a:outerShdw>
                </a:effectLst>
              </a:rPr>
              <a:t>Dynamic Memory Allocation</a:t>
            </a:r>
            <a:endParaRPr lang="he-IL" sz="3200">
              <a:effectLst>
                <a:outerShdw blurRad="38100" dist="38100" dir="2700000" algn="tl">
                  <a:srgbClr val="000000">
                    <a:alpha val="43137"/>
                  </a:srgbClr>
                </a:outerShdw>
              </a:effectLst>
            </a:endParaRPr>
          </a:p>
        </p:txBody>
      </p:sp>
      <p:sp>
        <p:nvSpPr>
          <p:cNvPr id="7" name="מלבן 6">
            <a:extLst>
              <a:ext uri="{FF2B5EF4-FFF2-40B4-BE49-F238E27FC236}">
                <a16:creationId xmlns:a16="http://schemas.microsoft.com/office/drawing/2014/main" id="{41F6B517-D8AB-42CC-A305-1F219B41793B}"/>
              </a:ext>
            </a:extLst>
          </p:cNvPr>
          <p:cNvSpPr/>
          <p:nvPr/>
        </p:nvSpPr>
        <p:spPr>
          <a:xfrm>
            <a:off x="11613681" y="42078"/>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8" name="מלבן 7">
            <a:extLst>
              <a:ext uri="{FF2B5EF4-FFF2-40B4-BE49-F238E27FC236}">
                <a16:creationId xmlns:a16="http://schemas.microsoft.com/office/drawing/2014/main" id="{1E713722-9C41-4811-AECF-5944DF66837D}"/>
              </a:ext>
            </a:extLst>
          </p:cNvPr>
          <p:cNvSpPr/>
          <p:nvPr/>
        </p:nvSpPr>
        <p:spPr>
          <a:xfrm>
            <a:off x="1673160" y="1957149"/>
            <a:ext cx="10216398" cy="1692771"/>
          </a:xfrm>
          <a:prstGeom prst="rect">
            <a:avLst/>
          </a:prstGeom>
        </p:spPr>
        <p:txBody>
          <a:bodyPr wrap="square">
            <a:spAutoFit/>
          </a:bodyPr>
          <a:lstStyle/>
          <a:p>
            <a:pPr algn="l"/>
            <a:r>
              <a:rPr lang="en-US" sz="3200">
                <a:effectLst>
                  <a:outerShdw blurRad="38100" dist="38100" dir="2700000" algn="tl">
                    <a:srgbClr val="000000">
                      <a:alpha val="43137"/>
                    </a:srgbClr>
                  </a:outerShdw>
                </a:effectLst>
              </a:rPr>
              <a:t>val xs =   [1, 2, 3, 4, 5]    </a:t>
            </a:r>
            <a:r>
              <a:rPr lang="en-US" sz="3200">
                <a:solidFill>
                  <a:srgbClr val="009A46"/>
                </a:solidFill>
                <a:effectLst>
                  <a:outerShdw blurRad="38100" dist="38100" dir="2700000" algn="tl">
                    <a:srgbClr val="000000">
                      <a:alpha val="43137"/>
                    </a:srgbClr>
                  </a:outerShdw>
                </a:effectLst>
              </a:rPr>
              <a:t>// Allocated automatically</a:t>
            </a:r>
            <a:r>
              <a:rPr lang="en-US" sz="3200">
                <a:effectLst>
                  <a:outerShdw blurRad="38100" dist="38100" dir="2700000" algn="tl">
                    <a:srgbClr val="000000">
                      <a:alpha val="43137"/>
                    </a:srgbClr>
                  </a:outerShdw>
                </a:effectLst>
              </a:rPr>
              <a:t>          </a:t>
            </a:r>
            <a:endParaRPr lang="en-US" sz="3200">
              <a:solidFill>
                <a:srgbClr val="009A46"/>
              </a:solidFill>
              <a:effectLst>
                <a:outerShdw blurRad="38100" dist="38100" dir="2700000" algn="tl">
                  <a:srgbClr val="000000">
                    <a:alpha val="43137"/>
                  </a:srgbClr>
                </a:outerShdw>
              </a:effectLst>
            </a:endParaRPr>
          </a:p>
          <a:p>
            <a:pPr algn="l"/>
            <a:endParaRPr lang="en-US" sz="3200">
              <a:effectLst>
                <a:outerShdw blurRad="38100" dist="38100" dir="2700000" algn="tl">
                  <a:srgbClr val="000000">
                    <a:alpha val="43137"/>
                  </a:srgbClr>
                </a:outerShdw>
              </a:effectLst>
            </a:endParaRPr>
          </a:p>
          <a:p>
            <a:pPr algn="l"/>
            <a:endParaRPr lang="he-IL" sz="4000">
              <a:effectLst>
                <a:outerShdw blurRad="38100" dist="38100" dir="2700000" algn="tl">
                  <a:srgbClr val="000000">
                    <a:alpha val="43137"/>
                  </a:srgbClr>
                </a:outerShdw>
              </a:effectLst>
            </a:endParaRPr>
          </a:p>
        </p:txBody>
      </p:sp>
      <p:sp>
        <p:nvSpPr>
          <p:cNvPr id="9" name="מלבן 8">
            <a:extLst>
              <a:ext uri="{FF2B5EF4-FFF2-40B4-BE49-F238E27FC236}">
                <a16:creationId xmlns:a16="http://schemas.microsoft.com/office/drawing/2014/main" id="{9F79E557-463C-4956-88EA-E3A83B31F62D}"/>
              </a:ext>
            </a:extLst>
          </p:cNvPr>
          <p:cNvSpPr/>
          <p:nvPr/>
        </p:nvSpPr>
        <p:spPr>
          <a:xfrm>
            <a:off x="12709001" y="284540"/>
            <a:ext cx="3883735" cy="4801314"/>
          </a:xfrm>
          <a:prstGeom prst="rect">
            <a:avLst/>
          </a:prstGeom>
        </p:spPr>
        <p:txBody>
          <a:bodyPr wrap="square">
            <a:spAutoFit/>
          </a:bodyPr>
          <a:lstStyle/>
          <a:p>
            <a:r>
              <a:rPr lang="he-IL"/>
              <a:t>קוקה משתמשת ב-</a:t>
            </a:r>
            <a:r>
              <a:rPr lang="en-US"/>
              <a:t>Perceus reference counting </a:t>
            </a:r>
            <a:r>
              <a:rPr lang="he-IL"/>
              <a:t> שמנהל הקצאות אוטומטית- נרחיב עליו בשקף הבא</a:t>
            </a:r>
          </a:p>
          <a:p>
            <a:r>
              <a:rPr lang="he-IL"/>
              <a:t>נשים לב למשהו מעניין פה: </a:t>
            </a:r>
          </a:p>
          <a:p>
            <a:pPr lvl="0" eaLnBrk="0" fontAlgn="base" hangingPunct="0">
              <a:spcBef>
                <a:spcPct val="0"/>
              </a:spcBef>
              <a:spcAft>
                <a:spcPct val="0"/>
              </a:spcAft>
            </a:pPr>
            <a:r>
              <a:rPr lang="he-IL" altLang="he-IL">
                <a:latin typeface="Arial" panose="020B0604020202020204" pitchFamily="34" charset="0"/>
              </a:rPr>
              <a:t>כל בלוק קוד הוא </a:t>
            </a:r>
            <a:r>
              <a:rPr lang="he-IL" altLang="he-IL" b="1">
                <a:latin typeface="Arial" panose="020B0604020202020204" pitchFamily="34" charset="0"/>
              </a:rPr>
              <a:t>ביטוי שמחזיר ערך</a:t>
            </a:r>
            <a:r>
              <a:rPr lang="he-IL" altLang="he-IL">
                <a:latin typeface="Arial" panose="020B0604020202020204" pitchFamily="34" charset="0"/>
              </a:rPr>
              <a:t> - לא רק מבצע פעולות.</a:t>
            </a:r>
          </a:p>
          <a:p>
            <a:pPr lvl="0" eaLnBrk="0" fontAlgn="base" hangingPunct="0">
              <a:spcBef>
                <a:spcPct val="0"/>
              </a:spcBef>
              <a:spcAft>
                <a:spcPct val="0"/>
              </a:spcAft>
            </a:pPr>
            <a:r>
              <a:rPr lang="he-IL" altLang="he-IL">
                <a:latin typeface="Arial" panose="020B0604020202020204" pitchFamily="34" charset="0"/>
              </a:rPr>
              <a:t>🔹 לכן, השורה האחרונה בבלוק (כמו</a:t>
            </a:r>
            <a:r>
              <a:rPr lang="en-US" altLang="he-IL">
                <a:latin typeface="Arial" panose="020B0604020202020204" pitchFamily="34" charset="0"/>
              </a:rPr>
              <a:t>xs </a:t>
            </a:r>
            <a:r>
              <a:rPr lang="he-IL" altLang="he-IL"/>
              <a:t>)</a:t>
            </a:r>
            <a:br>
              <a:rPr lang="he-IL" altLang="he-IL"/>
            </a:br>
            <a:r>
              <a:rPr lang="he-IL" altLang="he-IL"/>
              <a:t>היא </a:t>
            </a:r>
            <a:r>
              <a:rPr lang="he-IL" altLang="he-IL" b="1">
                <a:latin typeface="Arial" panose="020B0604020202020204" pitchFamily="34" charset="0"/>
              </a:rPr>
              <a:t>הערך שהפונקציה מחזירה</a:t>
            </a:r>
            <a:r>
              <a:rPr lang="he-IL" altLang="he-IL">
                <a:latin typeface="Arial" panose="020B0604020202020204" pitchFamily="34" charset="0"/>
              </a:rPr>
              <a:t>.</a:t>
            </a:r>
          </a:p>
          <a:p>
            <a:pPr lvl="0" eaLnBrk="0" fontAlgn="base" hangingPunct="0">
              <a:spcBef>
                <a:spcPct val="0"/>
              </a:spcBef>
              <a:spcAft>
                <a:spcPct val="0"/>
              </a:spcAft>
            </a:pPr>
            <a:r>
              <a:rPr lang="he-IL" altLang="he-IL">
                <a:latin typeface="Arial" panose="020B0604020202020204" pitchFamily="34" charset="0"/>
              </a:rPr>
              <a:t>🔹 זה חלק מעיקרון שנקרא</a:t>
            </a:r>
            <a:br>
              <a:rPr lang="he-IL" altLang="he-IL">
                <a:latin typeface="Arial" panose="020B0604020202020204" pitchFamily="34" charset="0"/>
              </a:rPr>
            </a:br>
            <a:r>
              <a:rPr lang="he-IL" altLang="he-IL" b="1">
                <a:latin typeface="Arial" panose="020B0604020202020204" pitchFamily="34" charset="0"/>
              </a:rPr>
              <a:t>Expression-Oriented Programming</a:t>
            </a:r>
            <a:r>
              <a:rPr lang="he-IL" altLang="he-IL">
                <a:latin typeface="Arial" panose="020B0604020202020204" pitchFamily="34" charset="0"/>
              </a:rPr>
              <a:t> –</a:t>
            </a:r>
            <a:br>
              <a:rPr lang="he-IL" altLang="he-IL">
                <a:latin typeface="Arial" panose="020B0604020202020204" pitchFamily="34" charset="0"/>
              </a:rPr>
            </a:br>
            <a:r>
              <a:rPr lang="he-IL" altLang="he-IL">
                <a:latin typeface="Arial" panose="020B0604020202020204" pitchFamily="34" charset="0"/>
              </a:rPr>
              <a:t>שבו כל דבר הוא ביטוי עם ערך, אפילו פונקציות ובלוקים.</a:t>
            </a:r>
          </a:p>
          <a:p>
            <a:pPr lvl="0" eaLnBrk="0" fontAlgn="base" hangingPunct="0">
              <a:spcBef>
                <a:spcPct val="0"/>
              </a:spcBef>
              <a:spcAft>
                <a:spcPct val="0"/>
              </a:spcAft>
            </a:pPr>
            <a:r>
              <a:rPr lang="he-IL" altLang="he-IL">
                <a:latin typeface="Arial" panose="020B0604020202020204" pitchFamily="34" charset="0"/>
              </a:rPr>
              <a:t>🔹 זה מחליף את הצורך ב־</a:t>
            </a:r>
            <a:r>
              <a:rPr lang="he-IL" altLang="he-IL">
                <a:latin typeface="Arial Unicode MS"/>
              </a:rPr>
              <a:t>return</a:t>
            </a:r>
            <a:r>
              <a:rPr lang="he-IL" altLang="he-IL"/>
              <a:t> כמו בשפות אחרות.</a:t>
            </a:r>
            <a:endParaRPr lang="he-IL" altLang="he-IL">
              <a:latin typeface="Arial" panose="020B0604020202020204" pitchFamily="34" charset="0"/>
            </a:endParaRPr>
          </a:p>
          <a:p>
            <a:endParaRPr lang="he-IL"/>
          </a:p>
          <a:p>
            <a:endParaRPr lang="he-IL"/>
          </a:p>
        </p:txBody>
      </p:sp>
    </p:spTree>
    <p:extLst>
      <p:ext uri="{BB962C8B-B14F-4D97-AF65-F5344CB8AC3E}">
        <p14:creationId xmlns:p14="http://schemas.microsoft.com/office/powerpoint/2010/main" val="2699715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512040" y="687199"/>
            <a:ext cx="6096000" cy="369332"/>
          </a:xfrm>
          <a:prstGeom prst="rect">
            <a:avLst/>
          </a:prstGeom>
        </p:spPr>
        <p:txBody>
          <a:bodyPr>
            <a:spAutoFit/>
          </a:bodyPr>
          <a:lstStyle/>
          <a:p>
            <a:pPr lvl="0" eaLnBrk="0" fontAlgn="base" hangingPunct="0">
              <a:spcBef>
                <a:spcPct val="0"/>
              </a:spcBef>
              <a:spcAft>
                <a:spcPct val="0"/>
              </a:spcAft>
            </a:pPr>
            <a:r>
              <a:rPr lang="he-IL" altLang="he-IL" b="1">
                <a:latin typeface="Arial" panose="020B0604020202020204" pitchFamily="34" charset="0"/>
              </a:rPr>
              <a:t>טי</a:t>
            </a:r>
            <a:endParaRPr lang="he-IL" altLang="he-IL">
              <a:latin typeface="Arial" panose="020B0604020202020204" pitchFamily="34" charset="0"/>
            </a:endParaRPr>
          </a:p>
        </p:txBody>
      </p:sp>
      <p:pic>
        <p:nvPicPr>
          <p:cNvPr id="6" name="תמונה 5">
            <a:extLst>
              <a:ext uri="{FF2B5EF4-FFF2-40B4-BE49-F238E27FC236}">
                <a16:creationId xmlns:a16="http://schemas.microsoft.com/office/drawing/2014/main" id="{2730E244-2D1F-40F6-AA26-5DB093D9A36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7" name="מלבן 6">
            <a:extLst>
              <a:ext uri="{FF2B5EF4-FFF2-40B4-BE49-F238E27FC236}">
                <a16:creationId xmlns:a16="http://schemas.microsoft.com/office/drawing/2014/main" id="{41F6B517-D8AB-42CC-A305-1F219B41793B}"/>
              </a:ext>
            </a:extLst>
          </p:cNvPr>
          <p:cNvSpPr/>
          <p:nvPr/>
        </p:nvSpPr>
        <p:spPr>
          <a:xfrm>
            <a:off x="11613681" y="42078"/>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9" name="מלבן 8">
            <a:extLst>
              <a:ext uri="{FF2B5EF4-FFF2-40B4-BE49-F238E27FC236}">
                <a16:creationId xmlns:a16="http://schemas.microsoft.com/office/drawing/2014/main" id="{9F79E557-463C-4956-88EA-E3A83B31F62D}"/>
              </a:ext>
            </a:extLst>
          </p:cNvPr>
          <p:cNvSpPr/>
          <p:nvPr/>
        </p:nvSpPr>
        <p:spPr>
          <a:xfrm>
            <a:off x="12709000" y="284540"/>
            <a:ext cx="5173885" cy="5355312"/>
          </a:xfrm>
          <a:prstGeom prst="rect">
            <a:avLst/>
          </a:prstGeom>
        </p:spPr>
        <p:txBody>
          <a:bodyPr wrap="square">
            <a:spAutoFit/>
          </a:bodyPr>
          <a:lstStyle/>
          <a:p>
            <a:r>
              <a:rPr lang="he-IL"/>
              <a:t>קוקה משתמשת ב-</a:t>
            </a:r>
            <a:r>
              <a:rPr lang="en-US"/>
              <a:t>Perceus reference counting </a:t>
            </a:r>
            <a:r>
              <a:rPr lang="he-IL"/>
              <a:t> שמנהל הקצאות אוטומטית</a:t>
            </a:r>
          </a:p>
          <a:p>
            <a:endParaRPr lang="he-IL"/>
          </a:p>
          <a:p>
            <a:r>
              <a:rPr lang="he-IL"/>
              <a:t>ספירת הפניות מדויקת - דיאלוקציה מיידית כאשר הספירה מגיעה לאפס</a:t>
            </a:r>
          </a:p>
          <a:p>
            <a:r>
              <a:rPr lang="he-IL" altLang="he-IL">
                <a:latin typeface="Arial" panose="020B0604020202020204" pitchFamily="34" charset="0"/>
              </a:rPr>
              <a:t>הקומפיילר מבצע ניתוח חכם של הקוד כדי להבין איפה באמת יש צורך לשכפל הפניה (</a:t>
            </a:r>
            <a:r>
              <a:rPr lang="he-IL" altLang="he-IL">
                <a:latin typeface="Arial Unicode MS"/>
              </a:rPr>
              <a:t>dup</a:t>
            </a:r>
            <a:r>
              <a:rPr lang="he-IL" altLang="he-IL"/>
              <a:t>) או לשחרר הפניה (</a:t>
            </a:r>
            <a:r>
              <a:rPr lang="he-IL" altLang="he-IL">
                <a:latin typeface="Arial Unicode MS"/>
              </a:rPr>
              <a:t>drop</a:t>
            </a:r>
            <a:r>
              <a:rPr lang="he-IL" altLang="he-IL"/>
              <a:t>) הוא יכול לבטל פעולות מיותרות אם משתנה נצרך רק פעם אחת לדוגמא אז לא צריך להעלות את המונה כי לא קיים חשש שנצטרך לספור לו את ההפניות! </a:t>
            </a:r>
          </a:p>
          <a:p>
            <a:r>
              <a:rPr lang="he-IL"/>
              <a:t>התמחות בשחרור - ניקוי אופטימלי לכל סוג נתונים</a:t>
            </a:r>
          </a:p>
          <a:p>
            <a:pPr lvl="0" eaLnBrk="0" fontAlgn="base" hangingPunct="0">
              <a:spcBef>
                <a:spcPct val="0"/>
              </a:spcBef>
              <a:spcAft>
                <a:spcPct val="0"/>
              </a:spcAft>
              <a:buFontTx/>
              <a:buChar char="•"/>
            </a:pPr>
            <a:r>
              <a:rPr lang="he-IL" altLang="he-IL">
                <a:latin typeface="Arial" panose="020B0604020202020204" pitchFamily="34" charset="0"/>
              </a:rPr>
              <a:t>FBIP הוא רעיון חכם שבודק אם האובייקט ייחודי (=1ref_count) - אם כן, מאפשר עדכון במקום בלי להקצות חדש.</a:t>
            </a:r>
          </a:p>
          <a:p>
            <a:pPr lvl="0" eaLnBrk="0" fontAlgn="base" hangingPunct="0">
              <a:spcBef>
                <a:spcPct val="0"/>
              </a:spcBef>
              <a:spcAft>
                <a:spcPct val="0"/>
              </a:spcAft>
            </a:pPr>
            <a:r>
              <a:rPr lang="he-IL" altLang="he-IL">
                <a:latin typeface="Arial" panose="020B0604020202020204" pitchFamily="34" charset="0"/>
              </a:rPr>
              <a:t>התוצאה: קוד פונקציונלי בטוח, פשוט ועם ביצועים גבוהים כמו קוד אימפרטיבי.</a:t>
            </a:r>
          </a:p>
          <a:p>
            <a:endParaRPr lang="he-IL"/>
          </a:p>
          <a:p>
            <a:r>
              <a:rPr lang="he-IL"/>
              <a:t>זיהוי שימוש חוזר - מונע הקצאות זיכרון מיותרות</a:t>
            </a:r>
          </a:p>
          <a:p>
            <a:endParaRPr lang="he-IL"/>
          </a:p>
        </p:txBody>
      </p:sp>
      <p:sp>
        <p:nvSpPr>
          <p:cNvPr id="11" name="מלבן 10">
            <a:extLst>
              <a:ext uri="{FF2B5EF4-FFF2-40B4-BE49-F238E27FC236}">
                <a16:creationId xmlns:a16="http://schemas.microsoft.com/office/drawing/2014/main" id="{58D5A519-5D69-4103-9B90-B203E5549AAD}"/>
              </a:ext>
            </a:extLst>
          </p:cNvPr>
          <p:cNvSpPr/>
          <p:nvPr/>
        </p:nvSpPr>
        <p:spPr>
          <a:xfrm>
            <a:off x="1677876" y="226744"/>
            <a:ext cx="8836247" cy="4280018"/>
          </a:xfrm>
          <a:prstGeom prst="rect">
            <a:avLst/>
          </a:prstGeom>
        </p:spPr>
        <p:txBody>
          <a:bodyPr wrap="square">
            <a:spAutoFit/>
          </a:bodyPr>
          <a:lstStyle/>
          <a:p>
            <a:pPr lvl="0" algn="ctr" rtl="0" eaLnBrk="0" fontAlgn="base" hangingPunct="0">
              <a:spcBef>
                <a:spcPct val="0"/>
              </a:spcBef>
              <a:spcAft>
                <a:spcPct val="0"/>
              </a:spcAft>
            </a:pPr>
            <a:r>
              <a:rPr lang="he-IL" altLang="he-IL" sz="3200">
                <a:effectLst>
                  <a:outerShdw blurRad="38100" dist="38100" dir="2700000" algn="tl">
                    <a:srgbClr val="000000">
                      <a:alpha val="43137"/>
                    </a:srgbClr>
                  </a:outerShdw>
                </a:effectLst>
              </a:rPr>
              <a:t>Smart Memory Management</a:t>
            </a:r>
            <a:endParaRPr lang="en-US" altLang="he-IL" sz="3200">
              <a:effectLst>
                <a:outerShdw blurRad="38100" dist="38100" dir="2700000" algn="tl">
                  <a:srgbClr val="000000">
                    <a:alpha val="43137"/>
                  </a:srgbClr>
                </a:outerShdw>
              </a:effectLst>
            </a:endParaRPr>
          </a:p>
          <a:p>
            <a:pPr lvl="0" algn="ctr" rtl="0" eaLnBrk="0" fontAlgn="base" hangingPunct="0">
              <a:spcBef>
                <a:spcPct val="0"/>
              </a:spcBef>
              <a:spcAft>
                <a:spcPct val="0"/>
              </a:spcAft>
            </a:pPr>
            <a:endParaRPr lang="he-IL" altLang="he-IL" sz="3200">
              <a:effectLst>
                <a:outerShdw blurRad="38100" dist="38100" dir="2700000" algn="tl">
                  <a:srgbClr val="000000">
                    <a:alpha val="43137"/>
                  </a:srgbClr>
                </a:outerShdw>
              </a:effectLst>
              <a:latin typeface="Arial" panose="020B0604020202020204" pitchFamily="34" charset="0"/>
            </a:endParaRPr>
          </a:p>
          <a:p>
            <a:pPr lvl="0" algn="ctr" rtl="0" eaLnBrk="0" fontAlgn="base" hangingPunct="0">
              <a:spcBef>
                <a:spcPct val="0"/>
              </a:spcBef>
              <a:spcAft>
                <a:spcPct val="0"/>
              </a:spcAft>
            </a:pPr>
            <a:endParaRPr lang="he-IL" altLang="he-IL" sz="3200">
              <a:effectLst>
                <a:outerShdw blurRad="38100" dist="38100" dir="2700000" algn="tl">
                  <a:srgbClr val="000000">
                    <a:alpha val="43137"/>
                  </a:srgbClr>
                </a:outerShdw>
              </a:effectLst>
              <a:latin typeface="Arial" panose="020B0604020202020204" pitchFamily="34" charset="0"/>
            </a:endParaRPr>
          </a:p>
          <a:p>
            <a:pPr lvl="0" algn="l" rtl="0" eaLnBrk="0" fontAlgn="base" hangingPunct="0">
              <a:lnSpc>
                <a:spcPct val="150000"/>
              </a:lnSpc>
              <a:spcBef>
                <a:spcPct val="0"/>
              </a:spcBef>
              <a:spcAft>
                <a:spcPct val="0"/>
              </a:spcAft>
              <a:buFontTx/>
              <a:buChar char="•"/>
            </a:pPr>
            <a:r>
              <a:rPr lang="en-US" sz="2400">
                <a:effectLst>
                  <a:outerShdw blurRad="38100" dist="38100" dir="2700000" algn="tl">
                    <a:srgbClr val="000000">
                      <a:alpha val="43137"/>
                    </a:srgbClr>
                  </a:outerShdw>
                </a:effectLst>
              </a:rPr>
              <a:t>Perceus</a:t>
            </a:r>
            <a:r>
              <a:rPr lang="he-IL" altLang="he-IL" sz="2400">
                <a:effectLst>
                  <a:outerShdw blurRad="38100" dist="38100" dir="2700000" algn="tl">
                    <a:srgbClr val="000000">
                      <a:alpha val="43137"/>
                    </a:srgbClr>
                  </a:outerShdw>
                </a:effectLst>
              </a:rPr>
              <a:t> reference counting </a:t>
            </a:r>
            <a:r>
              <a:rPr lang="en-US" altLang="he-IL" sz="2400">
                <a:effectLst>
                  <a:outerShdw blurRad="38100" dist="38100" dir="2700000" algn="tl">
                    <a:srgbClr val="000000">
                      <a:alpha val="43137"/>
                    </a:srgbClr>
                  </a:outerShdw>
                </a:effectLst>
              </a:rPr>
              <a:t> - D</a:t>
            </a:r>
            <a:r>
              <a:rPr lang="he-IL" altLang="he-IL" sz="2400">
                <a:effectLst>
                  <a:outerShdw blurRad="38100" dist="38100" dir="2700000" algn="tl">
                    <a:srgbClr val="000000">
                      <a:alpha val="43137"/>
                    </a:srgbClr>
                  </a:outerShdw>
                </a:effectLst>
              </a:rPr>
              <a:t>eallocation when count hits zero</a:t>
            </a:r>
          </a:p>
          <a:p>
            <a:pPr lvl="0" algn="l" rtl="0" eaLnBrk="0" fontAlgn="base" hangingPunct="0">
              <a:lnSpc>
                <a:spcPct val="150000"/>
              </a:lnSpc>
              <a:spcBef>
                <a:spcPct val="0"/>
              </a:spcBef>
              <a:spcAft>
                <a:spcPct val="0"/>
              </a:spcAft>
              <a:buFontTx/>
              <a:buChar char="•"/>
            </a:pPr>
            <a:r>
              <a:rPr lang="en-US" sz="2400">
                <a:effectLst>
                  <a:outerShdw blurRad="38100" dist="38100" dir="2700000" algn="tl">
                    <a:srgbClr val="000000">
                      <a:alpha val="43137"/>
                    </a:srgbClr>
                  </a:outerShdw>
                </a:effectLst>
              </a:rPr>
              <a:t>The compiler knows during compilation when it needs to increase or decrease the reference count, and only adds that code when it's really needed</a:t>
            </a:r>
            <a:endParaRPr lang="he-IL" sz="2400">
              <a:effectLst>
                <a:outerShdw blurRad="38100" dist="38100" dir="2700000" algn="tl">
                  <a:srgbClr val="000000">
                    <a:alpha val="43137"/>
                  </a:srgbClr>
                </a:outerShdw>
              </a:effectLst>
            </a:endParaRPr>
          </a:p>
          <a:p>
            <a:pPr lvl="0" algn="l" rtl="0" eaLnBrk="0" fontAlgn="base" hangingPunct="0">
              <a:lnSpc>
                <a:spcPct val="150000"/>
              </a:lnSpc>
              <a:spcBef>
                <a:spcPct val="0"/>
              </a:spcBef>
              <a:spcAft>
                <a:spcPct val="0"/>
              </a:spcAft>
              <a:buFontTx/>
              <a:buChar char="•"/>
            </a:pPr>
            <a:r>
              <a:rPr lang="en-US" altLang="he-IL" sz="2400">
                <a:effectLst>
                  <a:outerShdw blurRad="38100" dist="38100" dir="2700000" algn="tl">
                    <a:srgbClr val="000000">
                      <a:alpha val="43137"/>
                    </a:srgbClr>
                  </a:outerShdw>
                </a:effectLst>
              </a:rPr>
              <a:t>REUSE-</a:t>
            </a:r>
            <a:r>
              <a:rPr lang="he-IL" altLang="he-IL" sz="2400">
                <a:effectLst>
                  <a:outerShdw blurRad="38100" dist="38100" dir="2700000" algn="tl">
                    <a:srgbClr val="000000">
                      <a:alpha val="43137"/>
                    </a:srgbClr>
                  </a:outerShdw>
                </a:effectLst>
              </a:rPr>
              <a:t>Safe mutation when object is uniquely owned</a:t>
            </a:r>
          </a:p>
        </p:txBody>
      </p:sp>
    </p:spTree>
    <p:extLst>
      <p:ext uri="{BB962C8B-B14F-4D97-AF65-F5344CB8AC3E}">
        <p14:creationId xmlns:p14="http://schemas.microsoft.com/office/powerpoint/2010/main" val="4122029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2313D253-3B44-4509-8885-90BC2BD1952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512040" y="687198"/>
            <a:ext cx="3840480" cy="646331"/>
          </a:xfrm>
          <a:prstGeom prst="rect">
            <a:avLst/>
          </a:prstGeom>
        </p:spPr>
        <p:txBody>
          <a:bodyPr wrap="square">
            <a:spAutoFit/>
          </a:bodyPr>
          <a:lstStyle/>
          <a:p>
            <a:pPr lvl="0" eaLnBrk="0" fontAlgn="base" hangingPunct="0">
              <a:spcBef>
                <a:spcPct val="0"/>
              </a:spcBef>
              <a:spcAft>
                <a:spcPct val="0"/>
              </a:spcAft>
            </a:pPr>
            <a:r>
              <a:rPr lang="he-IL" altLang="he-IL">
                <a:latin typeface="Arial" panose="020B0604020202020204" pitchFamily="34" charset="0"/>
              </a:rPr>
              <a:t>האופרטורים הבסיסיים- בדומה לשפות אחרות...</a:t>
            </a:r>
          </a:p>
        </p:txBody>
      </p:sp>
      <p:sp>
        <p:nvSpPr>
          <p:cNvPr id="2" name="מלבן 1">
            <a:extLst>
              <a:ext uri="{FF2B5EF4-FFF2-40B4-BE49-F238E27FC236}">
                <a16:creationId xmlns:a16="http://schemas.microsoft.com/office/drawing/2014/main" id="{89C98843-1584-42C5-9C89-A34831ED8DBE}"/>
              </a:ext>
            </a:extLst>
          </p:cNvPr>
          <p:cNvSpPr/>
          <p:nvPr/>
        </p:nvSpPr>
        <p:spPr>
          <a:xfrm>
            <a:off x="5142436" y="128808"/>
            <a:ext cx="1851021" cy="584775"/>
          </a:xfrm>
          <a:prstGeom prst="rect">
            <a:avLst/>
          </a:prstGeom>
        </p:spPr>
        <p:txBody>
          <a:bodyPr wrap="none">
            <a:spAutoFit/>
          </a:bodyPr>
          <a:lstStyle/>
          <a:p>
            <a:r>
              <a:rPr lang="en-US" sz="3200">
                <a:effectLst>
                  <a:outerShdw blurRad="38100" dist="38100" dir="2700000" algn="tl">
                    <a:srgbClr val="000000">
                      <a:alpha val="43137"/>
                    </a:srgbClr>
                  </a:outerShdw>
                </a:effectLst>
              </a:rPr>
              <a:t>Operators</a:t>
            </a:r>
            <a:endParaRPr lang="he-IL" sz="3200">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31835097-7F04-423C-960F-78C305856909}"/>
              </a:ext>
            </a:extLst>
          </p:cNvPr>
          <p:cNvSpPr/>
          <p:nvPr/>
        </p:nvSpPr>
        <p:spPr>
          <a:xfrm>
            <a:off x="652040" y="1257852"/>
            <a:ext cx="4313499" cy="4154984"/>
          </a:xfrm>
          <a:prstGeom prst="rect">
            <a:avLst/>
          </a:prstGeom>
        </p:spPr>
        <p:txBody>
          <a:bodyPr wrap="square">
            <a:spAutoFit/>
          </a:bodyPr>
          <a:lstStyle/>
          <a:p>
            <a:pPr algn="l"/>
            <a:r>
              <a:rPr lang="en-US" sz="2400">
                <a:solidFill>
                  <a:schemeClr val="tx1">
                    <a:lumMod val="95000"/>
                    <a:lumOff val="5000"/>
                  </a:schemeClr>
                </a:solidFill>
                <a:effectLst>
                  <a:outerShdw blurRad="38100" dist="38100" dir="2700000" algn="tl">
                    <a:srgbClr val="000000">
                      <a:alpha val="43137"/>
                    </a:srgbClr>
                  </a:outerShdw>
                </a:effectLst>
              </a:rPr>
              <a:t>Basics:</a:t>
            </a:r>
            <a:endParaRPr lang="he-IL" sz="2400">
              <a:solidFill>
                <a:schemeClr val="tx1">
                  <a:lumMod val="95000"/>
                  <a:lumOff val="5000"/>
                </a:schemeClr>
              </a:solidFill>
              <a:effectLst>
                <a:outerShdw blurRad="38100" dist="38100" dir="2700000" algn="tl">
                  <a:srgbClr val="000000">
                    <a:alpha val="43137"/>
                  </a:srgbClr>
                </a:outerShdw>
              </a:effectLst>
            </a:endParaRP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Arithmetic</a:t>
            </a:r>
          </a:p>
          <a:p>
            <a:pPr algn="l"/>
            <a:r>
              <a:rPr lang="en-US" sz="2000">
                <a:solidFill>
                  <a:schemeClr val="tx1">
                    <a:lumMod val="95000"/>
                    <a:lumOff val="5000"/>
                  </a:schemeClr>
                </a:solidFill>
                <a:effectLst>
                  <a:outerShdw blurRad="38100" dist="38100" dir="2700000" algn="tl">
                    <a:srgbClr val="000000">
                      <a:alpha val="43137"/>
                    </a:srgbClr>
                  </a:outerShdw>
                </a:effectLst>
              </a:rPr>
              <a:t>5 + 3, 10 - 2, 4 * 3, 8 / 2, 7 % 3</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Comparison </a:t>
            </a:r>
            <a:r>
              <a:rPr lang="en-US" sz="2000">
                <a:solidFill>
                  <a:schemeClr val="tx1">
                    <a:lumMod val="95000"/>
                    <a:lumOff val="5000"/>
                  </a:schemeClr>
                </a:solidFill>
                <a:effectLst>
                  <a:outerShdw blurRad="38100" dist="38100" dir="2700000" algn="tl">
                    <a:srgbClr val="000000">
                      <a:alpha val="43137"/>
                    </a:srgbClr>
                  </a:outerShdw>
                </a:effectLst>
              </a:rPr>
              <a:t> </a:t>
            </a:r>
          </a:p>
          <a:p>
            <a:pPr algn="l"/>
            <a:r>
              <a:rPr lang="en-US" sz="2000">
                <a:solidFill>
                  <a:schemeClr val="tx1">
                    <a:lumMod val="95000"/>
                    <a:lumOff val="5000"/>
                  </a:schemeClr>
                </a:solidFill>
                <a:effectLst>
                  <a:outerShdw blurRad="38100" dist="38100" dir="2700000" algn="tl">
                    <a:srgbClr val="000000">
                      <a:alpha val="43137"/>
                    </a:srgbClr>
                  </a:outerShdw>
                </a:effectLst>
              </a:rPr>
              <a:t>x == y, x != y, x &lt; y, x &gt;= y</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Logical</a:t>
            </a:r>
          </a:p>
          <a:p>
            <a:pPr algn="l"/>
            <a:r>
              <a:rPr lang="en-US" sz="2000">
                <a:solidFill>
                  <a:schemeClr val="tx1">
                    <a:lumMod val="95000"/>
                    <a:lumOff val="5000"/>
                  </a:schemeClr>
                </a:solidFill>
                <a:effectLst>
                  <a:outerShdw blurRad="38100" dist="38100" dir="2700000" algn="tl">
                    <a:srgbClr val="000000">
                      <a:alpha val="43137"/>
                    </a:srgbClr>
                  </a:outerShdw>
                </a:effectLst>
              </a:rPr>
              <a:t>true &amp;&amp; false, true || false, !true</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Strings &amp; Lists</a:t>
            </a:r>
          </a:p>
          <a:p>
            <a:pPr algn="l"/>
            <a:r>
              <a:rPr lang="en-US" sz="2000">
                <a:solidFill>
                  <a:schemeClr val="tx1">
                    <a:lumMod val="95000"/>
                    <a:lumOff val="5000"/>
                  </a:schemeClr>
                </a:solidFill>
                <a:effectLst>
                  <a:outerShdw blurRad="38100" dist="38100" dir="2700000" algn="tl">
                    <a:srgbClr val="000000">
                      <a:alpha val="43137"/>
                    </a:srgbClr>
                  </a:outerShdw>
                </a:effectLst>
              </a:rPr>
              <a:t>"hi" ++ " there", [1,2] ++ [3,4]</a:t>
            </a:r>
            <a:endParaRPr lang="en-US" sz="2000" b="0">
              <a:solidFill>
                <a:schemeClr val="tx1">
                  <a:lumMod val="95000"/>
                  <a:lumOff val="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186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תמונה 7">
            <a:extLst>
              <a:ext uri="{FF2B5EF4-FFF2-40B4-BE49-F238E27FC236}">
                <a16:creationId xmlns:a16="http://schemas.microsoft.com/office/drawing/2014/main" id="{07C70E3A-16AE-4D5C-902D-BE635E651B1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512040" y="687199"/>
            <a:ext cx="6096000" cy="1323439"/>
          </a:xfrm>
          <a:prstGeom prst="rect">
            <a:avLst/>
          </a:prstGeom>
        </p:spPr>
        <p:txBody>
          <a:bodyPr>
            <a:spAutoFit/>
          </a:bodyPr>
          <a:lstStyle/>
          <a:p>
            <a:pPr lvl="0" eaLnBrk="0" fontAlgn="base" hangingPunct="0">
              <a:spcBef>
                <a:spcPct val="0"/>
              </a:spcBef>
              <a:spcAft>
                <a:spcPct val="0"/>
              </a:spcAft>
            </a:pPr>
            <a:r>
              <a:rPr lang="he-IL" altLang="he-IL" sz="2000">
                <a:latin typeface="Arial" panose="020B0604020202020204" pitchFamily="34" charset="0"/>
              </a:rPr>
              <a:t>בקוקה יש אפשרות להגדיר אופרטור חדש כמו בדוגמא פה הגדרנו אופרטור משלנו-</a:t>
            </a:r>
          </a:p>
          <a:p>
            <a:pPr lvl="0" eaLnBrk="0" fontAlgn="base" hangingPunct="0">
              <a:spcBef>
                <a:spcPct val="0"/>
              </a:spcBef>
              <a:spcAft>
                <a:spcPct val="0"/>
              </a:spcAft>
            </a:pPr>
            <a:r>
              <a:rPr lang="he-IL" altLang="he-IL" sz="2000">
                <a:latin typeface="Arial" panose="020B0604020202020204" pitchFamily="34" charset="0"/>
              </a:rPr>
              <a:t>וכן אפשר לעשות העמסת אופרטורים כמו שעשינו עבור הפלוס של </a:t>
            </a:r>
            <a:r>
              <a:rPr lang="en-US" altLang="he-IL" sz="2000">
                <a:latin typeface="Arial" panose="020B0604020202020204" pitchFamily="34" charset="0"/>
              </a:rPr>
              <a:t>pair</a:t>
            </a:r>
            <a:endParaRPr lang="he-IL" altLang="he-IL" sz="2000">
              <a:latin typeface="Arial" panose="020B0604020202020204" pitchFamily="34" charset="0"/>
            </a:endParaRPr>
          </a:p>
        </p:txBody>
      </p:sp>
      <p:sp>
        <p:nvSpPr>
          <p:cNvPr id="5" name="מלבן 4">
            <a:extLst>
              <a:ext uri="{FF2B5EF4-FFF2-40B4-BE49-F238E27FC236}">
                <a16:creationId xmlns:a16="http://schemas.microsoft.com/office/drawing/2014/main" id="{22ADEE1D-B0CE-4C0F-A23E-2137A68DAF01}"/>
              </a:ext>
            </a:extLst>
          </p:cNvPr>
          <p:cNvSpPr/>
          <p:nvPr/>
        </p:nvSpPr>
        <p:spPr>
          <a:xfrm>
            <a:off x="501819" y="871865"/>
            <a:ext cx="6096000" cy="3108543"/>
          </a:xfrm>
          <a:prstGeom prst="rect">
            <a:avLst/>
          </a:prstGeom>
        </p:spPr>
        <p:txBody>
          <a:bodyPr>
            <a:spAutoFit/>
          </a:bodyPr>
          <a:lstStyle/>
          <a:p>
            <a:pPr algn="l"/>
            <a:r>
              <a:rPr lang="en-US" sz="2400">
                <a:solidFill>
                  <a:schemeClr val="tx1">
                    <a:lumMod val="95000"/>
                    <a:lumOff val="5000"/>
                  </a:schemeClr>
                </a:solidFill>
                <a:effectLst>
                  <a:outerShdw blurRad="38100" dist="38100" dir="2700000" algn="tl">
                    <a:srgbClr val="000000">
                      <a:alpha val="43137"/>
                    </a:srgbClr>
                  </a:outerShdw>
                </a:effectLst>
              </a:rPr>
              <a:t>Complex:</a:t>
            </a:r>
          </a:p>
          <a:p>
            <a:pPr algn="l"/>
            <a:r>
              <a:rPr lang="en-US" sz="2400">
                <a:solidFill>
                  <a:schemeClr val="tx1">
                    <a:lumMod val="95000"/>
                    <a:lumOff val="5000"/>
                  </a:schemeClr>
                </a:solidFill>
                <a:effectLst>
                  <a:outerShdw blurRad="38100" dist="38100" dir="2700000" algn="tl">
                    <a:srgbClr val="000000">
                      <a:alpha val="43137"/>
                    </a:srgbClr>
                  </a:outerShdw>
                </a:effectLst>
              </a:rPr>
              <a:t>Define new operator (*+*) -</a:t>
            </a:r>
            <a:endParaRPr lang="he-IL" sz="2400">
              <a:solidFill>
                <a:schemeClr val="tx1">
                  <a:lumMod val="95000"/>
                  <a:lumOff val="5000"/>
                </a:schemeClr>
              </a:solidFill>
              <a:effectLst>
                <a:outerShdw blurRad="38100" dist="38100" dir="2700000" algn="tl">
                  <a:srgbClr val="000000">
                    <a:alpha val="43137"/>
                  </a:srgbClr>
                </a:outerShdw>
              </a:effectLst>
            </a:endParaRPr>
          </a:p>
          <a:p>
            <a:pPr algn="l"/>
            <a:endParaRPr lang="en-US" sz="2400">
              <a:solidFill>
                <a:schemeClr val="tx1">
                  <a:lumMod val="95000"/>
                  <a:lumOff val="5000"/>
                </a:schemeClr>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(*+*)(x : int, y : int) : int</a:t>
            </a:r>
          </a:p>
          <a:p>
            <a:pPr algn="l"/>
            <a:r>
              <a:rPr lang="en-US" sz="2000">
                <a:effectLst>
                  <a:outerShdw blurRad="38100" dist="38100" dir="2700000" algn="tl">
                    <a:srgbClr val="000000">
                      <a:alpha val="43137"/>
                    </a:srgbClr>
                  </a:outerShdw>
                </a:effectLst>
              </a:rPr>
              <a:t>  x * x + y * y</a:t>
            </a:r>
          </a:p>
          <a:p>
            <a:pPr algn="l"/>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println(3 *+* 4)    </a:t>
            </a:r>
            <a:r>
              <a:rPr lang="en-US" sz="2000">
                <a:solidFill>
                  <a:srgbClr val="009A46"/>
                </a:solidFill>
                <a:effectLst>
                  <a:outerShdw blurRad="38100" dist="38100" dir="2700000" algn="tl">
                    <a:srgbClr val="000000">
                      <a:alpha val="43137"/>
                    </a:srgbClr>
                  </a:outerShdw>
                </a:effectLst>
              </a:rPr>
              <a:t>// output- 3*3+4*4=9+16=25</a:t>
            </a:r>
          </a:p>
          <a:p>
            <a:pPr algn="l"/>
            <a:r>
              <a:rPr lang="en-US" sz="2000">
                <a:effectLst>
                  <a:outerShdw blurRad="38100" dist="38100" dir="2700000" algn="tl">
                    <a:srgbClr val="000000">
                      <a:alpha val="43137"/>
                    </a:srgbClr>
                  </a:outerShdw>
                </a:effectLst>
              </a:rPr>
              <a:t>        </a:t>
            </a:r>
            <a:endParaRPr lang="en-US" sz="2400">
              <a:solidFill>
                <a:srgbClr val="009A46"/>
              </a:solidFill>
              <a:effectLst>
                <a:outerShdw blurRad="38100" dist="38100" dir="2700000" algn="tl">
                  <a:srgbClr val="000000">
                    <a:alpha val="43137"/>
                  </a:srgbClr>
                </a:outerShdw>
              </a:effectLst>
            </a:endParaRPr>
          </a:p>
          <a:p>
            <a:pPr algn="l"/>
            <a:endParaRPr lang="en-US" sz="2400">
              <a:solidFill>
                <a:schemeClr val="tx1">
                  <a:lumMod val="95000"/>
                  <a:lumOff val="5000"/>
                </a:schemeClr>
              </a:solidFill>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F123FF34-542F-4571-9219-168B12A17E0A}"/>
              </a:ext>
            </a:extLst>
          </p:cNvPr>
          <p:cNvSpPr/>
          <p:nvPr/>
        </p:nvSpPr>
        <p:spPr>
          <a:xfrm>
            <a:off x="3628692" y="2164526"/>
            <a:ext cx="1901226" cy="523220"/>
          </a:xfrm>
          <a:prstGeom prst="rect">
            <a:avLst/>
          </a:prstGeom>
        </p:spPr>
        <p:txBody>
          <a:bodyPr wrap="none">
            <a:spAutoFit/>
          </a:bodyPr>
          <a:lstStyle/>
          <a:p>
            <a:r>
              <a:rPr lang="en-US" sz="2800" b="1">
                <a:solidFill>
                  <a:srgbClr val="8A2E6B"/>
                </a:solidFill>
              </a:rPr>
              <a:t>That's cool!</a:t>
            </a:r>
            <a:endParaRPr lang="he-IL" sz="2800" b="1">
              <a:solidFill>
                <a:srgbClr val="8A2E6B"/>
              </a:solidFill>
            </a:endParaRPr>
          </a:p>
        </p:txBody>
      </p:sp>
      <p:sp>
        <p:nvSpPr>
          <p:cNvPr id="2" name="מלבן 1">
            <a:extLst>
              <a:ext uri="{FF2B5EF4-FFF2-40B4-BE49-F238E27FC236}">
                <a16:creationId xmlns:a16="http://schemas.microsoft.com/office/drawing/2014/main" id="{4AB2409A-F541-4AD1-9FCA-E086D1B5EC3C}"/>
              </a:ext>
            </a:extLst>
          </p:cNvPr>
          <p:cNvSpPr/>
          <p:nvPr/>
        </p:nvSpPr>
        <p:spPr>
          <a:xfrm>
            <a:off x="5972978" y="871865"/>
            <a:ext cx="6219021" cy="4770537"/>
          </a:xfrm>
          <a:prstGeom prst="rect">
            <a:avLst/>
          </a:prstGeom>
        </p:spPr>
        <p:txBody>
          <a:bodyPr wrap="square">
            <a:spAutoFit/>
          </a:bodyPr>
          <a:lstStyle/>
          <a:p>
            <a:pPr algn="l"/>
            <a:r>
              <a:rPr lang="en-US" sz="2400">
                <a:effectLst>
                  <a:outerShdw blurRad="38100" dist="38100" dir="2700000" algn="tl">
                    <a:srgbClr val="000000">
                      <a:alpha val="43137"/>
                    </a:srgbClr>
                  </a:outerShdw>
                </a:effectLst>
              </a:rPr>
              <a:t>Operator Overloading:</a:t>
            </a:r>
            <a:r>
              <a:rPr lang="en-US" sz="2400">
                <a:solidFill>
                  <a:srgbClr val="009A46"/>
                </a:solidFill>
                <a:effectLst>
                  <a:outerShdw blurRad="38100" dist="38100" dir="2700000" algn="tl">
                    <a:srgbClr val="000000">
                      <a:alpha val="43137"/>
                    </a:srgbClr>
                  </a:outerShdw>
                </a:effectLst>
              </a:rPr>
              <a:t> </a:t>
            </a:r>
            <a:endParaRPr lang="he-IL" sz="2400">
              <a:solidFill>
                <a:srgbClr val="009A46"/>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struct pair</a:t>
            </a:r>
          </a:p>
          <a:p>
            <a:pPr algn="l"/>
            <a:r>
              <a:rPr lang="en-US" sz="2000">
                <a:effectLst>
                  <a:outerShdw blurRad="38100" dist="38100" dir="2700000" algn="tl">
                    <a:srgbClr val="000000">
                      <a:alpha val="43137"/>
                    </a:srgbClr>
                  </a:outerShdw>
                </a:effectLst>
              </a:rPr>
              <a:t>  first : int</a:t>
            </a:r>
          </a:p>
          <a:p>
            <a:pPr algn="l"/>
            <a:r>
              <a:rPr lang="en-US" sz="2000">
                <a:effectLst>
                  <a:outerShdw blurRad="38100" dist="38100" dir="2700000" algn="tl">
                    <a:srgbClr val="000000">
                      <a:alpha val="43137"/>
                    </a:srgbClr>
                  </a:outerShdw>
                </a:effectLst>
              </a:rPr>
              <a:t>  second : int</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(+)(a : pair, b : pair) : pair</a:t>
            </a:r>
          </a:p>
          <a:p>
            <a:pPr algn="l"/>
            <a:r>
              <a:rPr lang="en-US" sz="2000">
                <a:effectLst>
                  <a:outerShdw blurRad="38100" dist="38100" dir="2700000" algn="tl">
                    <a:srgbClr val="000000">
                      <a:alpha val="43137"/>
                    </a:srgbClr>
                  </a:outerShdw>
                </a:effectLst>
              </a:rPr>
              <a:t>  Pair(a.first + b.first, a.second + b.second)</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val p1 = Pair(1, 2)</a:t>
            </a:r>
          </a:p>
          <a:p>
            <a:pPr algn="l"/>
            <a:r>
              <a:rPr lang="en-US" sz="2000">
                <a:effectLst>
                  <a:outerShdw blurRad="38100" dist="38100" dir="2700000" algn="tl">
                    <a:srgbClr val="000000">
                      <a:alpha val="43137"/>
                    </a:srgbClr>
                  </a:outerShdw>
                </a:effectLst>
              </a:rPr>
              <a:t>val p2 = Pair(3, 4)</a:t>
            </a:r>
          </a:p>
          <a:p>
            <a:pPr algn="l"/>
            <a:r>
              <a:rPr lang="en-US" sz="2000">
                <a:effectLst>
                  <a:outerShdw blurRad="38100" dist="38100" dir="2700000" algn="tl">
                    <a:srgbClr val="000000">
                      <a:alpha val="43137"/>
                    </a:srgbClr>
                  </a:outerShdw>
                </a:effectLst>
              </a:rPr>
              <a:t>val result = p1 + p2     </a:t>
            </a:r>
            <a:r>
              <a:rPr lang="en-US" sz="2000">
                <a:solidFill>
                  <a:srgbClr val="009A46"/>
                </a:solidFill>
                <a:effectLst>
                  <a:outerShdw blurRad="38100" dist="38100" dir="2700000" algn="tl">
                    <a:srgbClr val="000000">
                      <a:alpha val="43137"/>
                    </a:srgbClr>
                  </a:outerShdw>
                </a:effectLst>
              </a:rPr>
              <a:t>// Pair(4, 6)</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println(result.first.show ++ ", " ++ result.second.show)  </a:t>
            </a:r>
          </a:p>
          <a:p>
            <a:pPr algn="l"/>
            <a:r>
              <a:rPr lang="en-US" sz="2000">
                <a:solidFill>
                  <a:srgbClr val="009A46"/>
                </a:solidFill>
                <a:effectLst>
                  <a:outerShdw blurRad="38100" dist="38100" dir="2700000" algn="tl">
                    <a:srgbClr val="000000">
                      <a:alpha val="43137"/>
                    </a:srgbClr>
                  </a:outerShdw>
                </a:effectLst>
              </a:rPr>
              <a:t>// "4, 6" </a:t>
            </a:r>
            <a:r>
              <a:rPr lang="en-US">
                <a:solidFill>
                  <a:srgbClr val="009A46"/>
                </a:solidFill>
                <a:effectLst>
                  <a:outerShdw blurRad="38100" dist="38100" dir="2700000" algn="tl">
                    <a:srgbClr val="000000">
                      <a:alpha val="43137"/>
                    </a:srgbClr>
                  </a:outerShdw>
                </a:effectLst>
              </a:rPr>
              <a:t> </a:t>
            </a:r>
            <a:r>
              <a:rPr lang="en-US">
                <a:effectLst>
                  <a:outerShdw blurRad="38100" dist="38100" dir="2700000" algn="tl">
                    <a:srgbClr val="000000">
                      <a:alpha val="43137"/>
                    </a:srgbClr>
                  </a:outerShdw>
                </a:effectLst>
              </a:rPr>
              <a:t>    </a:t>
            </a:r>
            <a:endParaRPr lang="he-IL"/>
          </a:p>
        </p:txBody>
      </p:sp>
      <p:sp>
        <p:nvSpPr>
          <p:cNvPr id="7" name="מלבן 6">
            <a:extLst>
              <a:ext uri="{FF2B5EF4-FFF2-40B4-BE49-F238E27FC236}">
                <a16:creationId xmlns:a16="http://schemas.microsoft.com/office/drawing/2014/main" id="{39DAD2D5-DDCB-463D-9AF8-FD9C9BE34582}"/>
              </a:ext>
            </a:extLst>
          </p:cNvPr>
          <p:cNvSpPr/>
          <p:nvPr/>
        </p:nvSpPr>
        <p:spPr>
          <a:xfrm>
            <a:off x="5142436" y="128808"/>
            <a:ext cx="1851021" cy="584775"/>
          </a:xfrm>
          <a:prstGeom prst="rect">
            <a:avLst/>
          </a:prstGeom>
        </p:spPr>
        <p:txBody>
          <a:bodyPr wrap="none">
            <a:spAutoFit/>
          </a:bodyPr>
          <a:lstStyle/>
          <a:p>
            <a:r>
              <a:rPr lang="en-US" sz="3200">
                <a:effectLst>
                  <a:outerShdw blurRad="38100" dist="38100" dir="2700000" algn="tl">
                    <a:srgbClr val="000000">
                      <a:alpha val="43137"/>
                    </a:srgbClr>
                  </a:outerShdw>
                </a:effectLst>
              </a:rPr>
              <a:t>Operators</a:t>
            </a:r>
            <a:endParaRPr lang="he-IL" sz="320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995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par>
                                <p:cTn id="8" presetID="26"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435">
                                          <p:stCondLst>
                                            <p:cond delay="0"/>
                                          </p:stCondLst>
                                        </p:cTn>
                                        <p:tgtEl>
                                          <p:spTgt spid="6"/>
                                        </p:tgtEl>
                                      </p:cBhvr>
                                    </p:animEffect>
                                    <p:anim calcmode="lin" valueType="num">
                                      <p:cBhvr>
                                        <p:cTn id="11" dur="1367"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2"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3"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14"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15"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16" dur="20">
                                          <p:stCondLst>
                                            <p:cond delay="487"/>
                                          </p:stCondLst>
                                        </p:cTn>
                                        <p:tgtEl>
                                          <p:spTgt spid="6"/>
                                        </p:tgtEl>
                                      </p:cBhvr>
                                      <p:to x="100000" y="60000"/>
                                    </p:animScale>
                                    <p:animScale>
                                      <p:cBhvr>
                                        <p:cTn id="17" dur="124" decel="50000">
                                          <p:stCondLst>
                                            <p:cond delay="507"/>
                                          </p:stCondLst>
                                        </p:cTn>
                                        <p:tgtEl>
                                          <p:spTgt spid="6"/>
                                        </p:tgtEl>
                                      </p:cBhvr>
                                      <p:to x="100000" y="100000"/>
                                    </p:animScale>
                                    <p:animScale>
                                      <p:cBhvr>
                                        <p:cTn id="18" dur="20">
                                          <p:stCondLst>
                                            <p:cond delay="984"/>
                                          </p:stCondLst>
                                        </p:cTn>
                                        <p:tgtEl>
                                          <p:spTgt spid="6"/>
                                        </p:tgtEl>
                                      </p:cBhvr>
                                      <p:to x="100000" y="80000"/>
                                    </p:animScale>
                                    <p:animScale>
                                      <p:cBhvr>
                                        <p:cTn id="19" dur="124" decel="50000">
                                          <p:stCondLst>
                                            <p:cond delay="1004"/>
                                          </p:stCondLst>
                                        </p:cTn>
                                        <p:tgtEl>
                                          <p:spTgt spid="6"/>
                                        </p:tgtEl>
                                      </p:cBhvr>
                                      <p:to x="100000" y="100000"/>
                                    </p:animScale>
                                    <p:animScale>
                                      <p:cBhvr>
                                        <p:cTn id="20" dur="20">
                                          <p:stCondLst>
                                            <p:cond delay="1231"/>
                                          </p:stCondLst>
                                        </p:cTn>
                                        <p:tgtEl>
                                          <p:spTgt spid="6"/>
                                        </p:tgtEl>
                                      </p:cBhvr>
                                      <p:to x="100000" y="90000"/>
                                    </p:animScale>
                                    <p:animScale>
                                      <p:cBhvr>
                                        <p:cTn id="21" dur="124" decel="50000">
                                          <p:stCondLst>
                                            <p:cond delay="1251"/>
                                          </p:stCondLst>
                                        </p:cTn>
                                        <p:tgtEl>
                                          <p:spTgt spid="6"/>
                                        </p:tgtEl>
                                      </p:cBhvr>
                                      <p:to x="100000" y="100000"/>
                                    </p:animScale>
                                    <p:animScale>
                                      <p:cBhvr>
                                        <p:cTn id="22" dur="20">
                                          <p:stCondLst>
                                            <p:cond delay="1356"/>
                                          </p:stCondLst>
                                        </p:cTn>
                                        <p:tgtEl>
                                          <p:spTgt spid="6"/>
                                        </p:tgtEl>
                                      </p:cBhvr>
                                      <p:to x="100000" y="95000"/>
                                    </p:animScale>
                                    <p:animScale>
                                      <p:cBhvr>
                                        <p:cTn id="23" dur="124" decel="50000">
                                          <p:stCondLst>
                                            <p:cond delay="1376"/>
                                          </p:stCondLst>
                                        </p:cTn>
                                        <p:tgtEl>
                                          <p:spTgt spid="6"/>
                                        </p:tgtEl>
                                      </p:cBhvr>
                                      <p:to x="100000" y="100000"/>
                                    </p:animScale>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5620758A-A8F1-4F24-8852-8E5E2B5B24B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54F00057-8FD6-4761-B25E-80D475FC8767}"/>
              </a:ext>
            </a:extLst>
          </p:cNvPr>
          <p:cNvSpPr/>
          <p:nvPr/>
        </p:nvSpPr>
        <p:spPr>
          <a:xfrm>
            <a:off x="12451080" y="257175"/>
            <a:ext cx="6096000" cy="3416320"/>
          </a:xfrm>
          <a:prstGeom prst="rect">
            <a:avLst/>
          </a:prstGeom>
        </p:spPr>
        <p:txBody>
          <a:bodyPr>
            <a:spAutoFit/>
          </a:bodyPr>
          <a:lstStyle/>
          <a:p>
            <a:r>
              <a:rPr lang="he-IL" b="1"/>
              <a:t>פונקציה טהורה מקיימת שני תנאים:</a:t>
            </a:r>
          </a:p>
          <a:p>
            <a:pPr>
              <a:buFont typeface="+mj-lt"/>
              <a:buAutoNum type="arabicPeriod"/>
            </a:pPr>
            <a:r>
              <a:rPr lang="he-IL" b="1"/>
              <a:t>אין </a:t>
            </a:r>
            <a:r>
              <a:rPr lang="en-US" b="1"/>
              <a:t>Side Effects</a:t>
            </a:r>
            <a:r>
              <a:rPr lang="en-US"/>
              <a:t> – </a:t>
            </a:r>
            <a:r>
              <a:rPr lang="he-IL"/>
              <a:t> הפונקציה </a:t>
            </a:r>
            <a:r>
              <a:rPr lang="he-IL" b="1"/>
              <a:t>לא משנה שום דבר מחוץ לעצמה</a:t>
            </a:r>
            <a:r>
              <a:rPr lang="he-IL"/>
              <a:t>:</a:t>
            </a:r>
          </a:p>
          <a:p>
            <a:pPr marL="742950" lvl="1" indent="-285750">
              <a:buFont typeface="+mj-lt"/>
              <a:buAutoNum type="arabicPeriod"/>
            </a:pPr>
            <a:r>
              <a:rPr lang="he-IL"/>
              <a:t>לא כותבת לקובץ</a:t>
            </a:r>
          </a:p>
          <a:p>
            <a:pPr marL="742950" lvl="1" indent="-285750">
              <a:buFont typeface="+mj-lt"/>
              <a:buAutoNum type="arabicPeriod"/>
            </a:pPr>
            <a:r>
              <a:rPr lang="he-IL"/>
              <a:t>לא מדפיסה למסך</a:t>
            </a:r>
          </a:p>
          <a:p>
            <a:pPr marL="742950" lvl="1" indent="-285750">
              <a:buFont typeface="+mj-lt"/>
              <a:buAutoNum type="arabicPeriod"/>
            </a:pPr>
            <a:r>
              <a:rPr lang="he-IL"/>
              <a:t>לא משנה משתנים גלובליים</a:t>
            </a:r>
          </a:p>
          <a:p>
            <a:pPr marL="742950" lvl="1" indent="-285750">
              <a:buFont typeface="+mj-lt"/>
              <a:buAutoNum type="arabicPeriod"/>
            </a:pPr>
            <a:r>
              <a:rPr lang="he-IL"/>
              <a:t>לא קוראת שעה מהמערכת</a:t>
            </a:r>
          </a:p>
          <a:p>
            <a:pPr marL="742950" lvl="1" indent="-285750">
              <a:buFont typeface="+mj-lt"/>
              <a:buAutoNum type="arabicPeriod"/>
            </a:pPr>
            <a:r>
              <a:rPr lang="he-IL"/>
              <a:t>לא בונה מספר רנדומלי</a:t>
            </a:r>
          </a:p>
          <a:p>
            <a:pPr>
              <a:buFont typeface="+mj-lt"/>
              <a:buAutoNum type="arabicPeriod"/>
            </a:pPr>
            <a:r>
              <a:rPr lang="en-US" b="1"/>
              <a:t> Deterministic</a:t>
            </a:r>
            <a:r>
              <a:rPr lang="en-US"/>
              <a:t> </a:t>
            </a:r>
            <a:r>
              <a:rPr lang="he-IL"/>
              <a:t>אותה קלטים תמיד יתנו אותו פלט:</a:t>
            </a:r>
          </a:p>
          <a:p>
            <a:pPr marL="742950" lvl="1" indent="-285750">
              <a:buFont typeface="+mj-lt"/>
              <a:buAutoNum type="arabicPeriod"/>
            </a:pPr>
            <a:r>
              <a:rPr lang="he-IL"/>
              <a:t>אם תקראי לה שוב עם אותם ערכים – תקבלי בדיוק את אותה תוצאה, תמיד.</a:t>
            </a:r>
          </a:p>
          <a:p>
            <a:r>
              <a:rPr lang="he-IL"/>
              <a:t>בקוקה אפשר להבחין בין פונקציה טהורה ללא טהורה לפי האפקטים (אע"פ שאפשר לכתוב גם בלי אפקטים.)</a:t>
            </a:r>
          </a:p>
        </p:txBody>
      </p:sp>
      <p:sp>
        <p:nvSpPr>
          <p:cNvPr id="5" name="TextBox 4">
            <a:extLst>
              <a:ext uri="{FF2B5EF4-FFF2-40B4-BE49-F238E27FC236}">
                <a16:creationId xmlns:a16="http://schemas.microsoft.com/office/drawing/2014/main" id="{1A2847DA-2C51-4423-8807-5CD38DA2A2B6}"/>
              </a:ext>
            </a:extLst>
          </p:cNvPr>
          <p:cNvSpPr txBox="1"/>
          <p:nvPr/>
        </p:nvSpPr>
        <p:spPr>
          <a:xfrm>
            <a:off x="4812030" y="84164"/>
            <a:ext cx="2567940" cy="584775"/>
          </a:xfrm>
          <a:prstGeom prst="rect">
            <a:avLst/>
          </a:prstGeom>
          <a:noFill/>
        </p:spPr>
        <p:txBody>
          <a:bodyPr wrap="square" rtlCol="1">
            <a:spAutoFit/>
          </a:bodyPr>
          <a:lstStyle/>
          <a:p>
            <a:r>
              <a:rPr lang="en-US" sz="3200">
                <a:effectLst>
                  <a:outerShdw blurRad="38100" dist="38100" dir="2700000" algn="tl">
                    <a:srgbClr val="000000">
                      <a:alpha val="43137"/>
                    </a:srgbClr>
                  </a:outerShdw>
                </a:effectLst>
              </a:rPr>
              <a:t>Pure function</a:t>
            </a:r>
            <a:endParaRPr lang="he-IL" sz="3200">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4DC98B50-BF4C-4E30-AF0D-CD0A4199B757}"/>
              </a:ext>
            </a:extLst>
          </p:cNvPr>
          <p:cNvSpPr/>
          <p:nvPr/>
        </p:nvSpPr>
        <p:spPr>
          <a:xfrm>
            <a:off x="880110" y="1640593"/>
            <a:ext cx="6096000" cy="2862322"/>
          </a:xfrm>
          <a:prstGeom prst="rect">
            <a:avLst/>
          </a:prstGeom>
        </p:spPr>
        <p:txBody>
          <a:bodyPr>
            <a:spAutoFit/>
          </a:bodyPr>
          <a:lstStyle/>
          <a:p>
            <a:pPr algn="l"/>
            <a:r>
              <a:rPr lang="en-US" sz="2000">
                <a:solidFill>
                  <a:schemeClr val="tx1">
                    <a:lumMod val="95000"/>
                    <a:lumOff val="5000"/>
                  </a:schemeClr>
                </a:solidFill>
                <a:effectLst>
                  <a:outerShdw blurRad="38100" dist="38100" dir="2700000" algn="tl">
                    <a:srgbClr val="000000">
                      <a:alpha val="43137"/>
                    </a:srgbClr>
                  </a:outerShdw>
                </a:effectLst>
              </a:rPr>
              <a:t>fun square(n : int) : int         </a:t>
            </a:r>
          </a:p>
          <a:p>
            <a:pPr algn="l"/>
            <a:r>
              <a:rPr lang="en-US" sz="2000">
                <a:solidFill>
                  <a:schemeClr val="tx1">
                    <a:lumMod val="95000"/>
                    <a:lumOff val="5000"/>
                  </a:schemeClr>
                </a:solidFill>
                <a:effectLst>
                  <a:outerShdw blurRad="38100" dist="38100" dir="2700000" algn="tl">
                    <a:srgbClr val="000000">
                      <a:alpha val="43137"/>
                    </a:srgbClr>
                  </a:outerShdw>
                </a:effectLst>
              </a:rPr>
              <a:t>  n * n</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fun main()</a:t>
            </a:r>
          </a:p>
          <a:p>
            <a:pPr algn="l"/>
            <a:r>
              <a:rPr lang="en-US" sz="2000">
                <a:solidFill>
                  <a:schemeClr val="tx1">
                    <a:lumMod val="95000"/>
                    <a:lumOff val="5000"/>
                  </a:schemeClr>
                </a:solidFill>
                <a:effectLst>
                  <a:outerShdw blurRad="38100" dist="38100" dir="2700000" algn="tl">
                    <a:srgbClr val="000000">
                      <a:alpha val="43137"/>
                    </a:srgbClr>
                  </a:outerShdw>
                </a:effectLst>
              </a:rPr>
              <a:t>  println(square(3))</a:t>
            </a:r>
          </a:p>
          <a:p>
            <a:pPr algn="l"/>
            <a:r>
              <a:rPr lang="en-US" sz="2000">
                <a:solidFill>
                  <a:schemeClr val="tx1">
                    <a:lumMod val="95000"/>
                    <a:lumOff val="5000"/>
                  </a:schemeClr>
                </a:solidFill>
                <a:effectLst>
                  <a:outerShdw blurRad="38100" dist="38100" dir="2700000" algn="tl">
                    <a:srgbClr val="000000">
                      <a:alpha val="43137"/>
                    </a:srgbClr>
                  </a:outerShdw>
                </a:effectLst>
              </a:rPr>
              <a:t>  println(square(3))</a:t>
            </a:r>
            <a:endParaRPr lang="he-IL" sz="2000">
              <a:solidFill>
                <a:schemeClr val="tx1">
                  <a:lumMod val="95000"/>
                  <a:lumOff val="5000"/>
                </a:schemeClr>
              </a:solidFill>
              <a:effectLst>
                <a:outerShdw blurRad="38100" dist="38100" dir="2700000" algn="tl">
                  <a:srgbClr val="000000">
                    <a:alpha val="43137"/>
                  </a:srgbClr>
                </a:outerShdw>
              </a:effectLst>
            </a:endParaRPr>
          </a:p>
          <a:p>
            <a:pPr algn="l"/>
            <a:endParaRPr lang="he-IL" sz="2000">
              <a:solidFill>
                <a:schemeClr val="tx1">
                  <a:lumMod val="95000"/>
                  <a:lumOff val="5000"/>
                </a:schemeClr>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Output:</a:t>
            </a:r>
          </a:p>
          <a:p>
            <a:pPr algn="l"/>
            <a:endParaRPr lang="en-US" sz="2000" b="0">
              <a:solidFill>
                <a:schemeClr val="tx1">
                  <a:lumMod val="95000"/>
                  <a:lumOff val="5000"/>
                </a:schemeClr>
              </a:solidFill>
              <a:effectLst>
                <a:outerShdw blurRad="38100" dist="38100" dir="2700000" algn="tl">
                  <a:srgbClr val="000000">
                    <a:alpha val="43137"/>
                  </a:srgbClr>
                </a:outerShdw>
              </a:effectLst>
            </a:endParaRPr>
          </a:p>
        </p:txBody>
      </p:sp>
      <p:pic>
        <p:nvPicPr>
          <p:cNvPr id="8" name="תמונה 7">
            <a:extLst>
              <a:ext uri="{FF2B5EF4-FFF2-40B4-BE49-F238E27FC236}">
                <a16:creationId xmlns:a16="http://schemas.microsoft.com/office/drawing/2014/main" id="{C1F81D5F-15FD-4C38-8486-9E502655F8C3}"/>
              </a:ext>
            </a:extLst>
          </p:cNvPr>
          <p:cNvPicPr>
            <a:picLocks noChangeAspect="1"/>
          </p:cNvPicPr>
          <p:nvPr/>
        </p:nvPicPr>
        <p:blipFill>
          <a:blip r:embed="rId4"/>
          <a:stretch>
            <a:fillRect/>
          </a:stretch>
        </p:blipFill>
        <p:spPr>
          <a:xfrm>
            <a:off x="1417319" y="4389445"/>
            <a:ext cx="868681" cy="827962"/>
          </a:xfrm>
          <a:prstGeom prst="rect">
            <a:avLst/>
          </a:prstGeom>
        </p:spPr>
      </p:pic>
      <p:sp>
        <p:nvSpPr>
          <p:cNvPr id="10" name="מלבן 9">
            <a:extLst>
              <a:ext uri="{FF2B5EF4-FFF2-40B4-BE49-F238E27FC236}">
                <a16:creationId xmlns:a16="http://schemas.microsoft.com/office/drawing/2014/main" id="{2CF89541-6EF9-4889-A719-9BF2E268B6DC}"/>
              </a:ext>
            </a:extLst>
          </p:cNvPr>
          <p:cNvSpPr/>
          <p:nvPr/>
        </p:nvSpPr>
        <p:spPr>
          <a:xfrm>
            <a:off x="4655820" y="1640593"/>
            <a:ext cx="8161020" cy="2246769"/>
          </a:xfrm>
          <a:prstGeom prst="rect">
            <a:avLst/>
          </a:prstGeom>
        </p:spPr>
        <p:txBody>
          <a:bodyPr wrap="square">
            <a:spAutoFit/>
          </a:bodyPr>
          <a:lstStyle/>
          <a:p>
            <a:pPr algn="l"/>
            <a:r>
              <a:rPr lang="en-US" sz="2000">
                <a:solidFill>
                  <a:schemeClr val="tx1">
                    <a:lumMod val="95000"/>
                    <a:lumOff val="5000"/>
                  </a:schemeClr>
                </a:solidFill>
                <a:effectLst>
                  <a:outerShdw blurRad="38100" dist="38100" dir="2700000" algn="tl">
                    <a:srgbClr val="000000">
                      <a:alpha val="43137"/>
                    </a:srgbClr>
                  </a:outerShdw>
                </a:effectLst>
              </a:rPr>
              <a:t>fun print_and_add(x : int, y : int) : console int  </a:t>
            </a:r>
            <a:r>
              <a:rPr lang="en-US" sz="2000">
                <a:solidFill>
                  <a:srgbClr val="009A46"/>
                </a:solidFill>
                <a:effectLst>
                  <a:outerShdw blurRad="38100" dist="38100" dir="2700000" algn="tl">
                    <a:srgbClr val="000000">
                      <a:alpha val="43137"/>
                    </a:srgbClr>
                  </a:outerShdw>
                </a:effectLst>
              </a:rPr>
              <a:t>// console effect</a:t>
            </a:r>
          </a:p>
          <a:p>
            <a:pPr algn="l"/>
            <a:r>
              <a:rPr lang="en-US" sz="2000">
                <a:solidFill>
                  <a:schemeClr val="tx1">
                    <a:lumMod val="95000"/>
                    <a:lumOff val="5000"/>
                  </a:schemeClr>
                </a:solidFill>
                <a:effectLst>
                  <a:outerShdw blurRad="38100" dist="38100" dir="2700000" algn="tl">
                    <a:srgbClr val="000000">
                      <a:alpha val="43137"/>
                    </a:srgbClr>
                  </a:outerShdw>
                </a:effectLst>
              </a:rPr>
              <a:t>  println("calculating...")         </a:t>
            </a:r>
            <a:r>
              <a:rPr lang="en-US" sz="2000">
                <a:solidFill>
                  <a:srgbClr val="009A46"/>
                </a:solidFill>
                <a:effectLst>
                  <a:outerShdw blurRad="38100" dist="38100" dir="2700000" algn="tl">
                    <a:srgbClr val="000000">
                      <a:alpha val="43137"/>
                    </a:srgbClr>
                  </a:outerShdw>
                </a:effectLst>
              </a:rPr>
              <a:t>// side effect!</a:t>
            </a:r>
          </a:p>
          <a:p>
            <a:pPr algn="l"/>
            <a:r>
              <a:rPr lang="en-US" sz="2000">
                <a:solidFill>
                  <a:schemeClr val="tx1">
                    <a:lumMod val="95000"/>
                    <a:lumOff val="5000"/>
                  </a:schemeClr>
                </a:solidFill>
                <a:effectLst>
                  <a:outerShdw blurRad="38100" dist="38100" dir="2700000" algn="tl">
                    <a:srgbClr val="000000">
                      <a:alpha val="43137"/>
                    </a:srgbClr>
                  </a:outerShdw>
                </a:effectLst>
              </a:rPr>
              <a:t>  x + y</a:t>
            </a:r>
            <a:endParaRPr lang="he-IL" sz="2000">
              <a:solidFill>
                <a:schemeClr val="tx1">
                  <a:lumMod val="95000"/>
                  <a:lumOff val="5000"/>
                </a:schemeClr>
              </a:solidFill>
              <a:effectLst>
                <a:outerShdw blurRad="38100" dist="38100" dir="2700000" algn="tl">
                  <a:srgbClr val="000000">
                    <a:alpha val="43137"/>
                  </a:srgbClr>
                </a:outerShdw>
              </a:effectLst>
            </a:endParaRPr>
          </a:p>
          <a:p>
            <a:pPr algn="l"/>
            <a:endParaRPr lang="he-IL" sz="2000" b="0">
              <a:solidFill>
                <a:schemeClr val="tx1">
                  <a:lumMod val="95000"/>
                  <a:lumOff val="5000"/>
                </a:schemeClr>
              </a:solidFill>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save_data(text : string) : io ()</a:t>
            </a:r>
          </a:p>
          <a:p>
            <a:pPr algn="l"/>
            <a:r>
              <a:rPr lang="en-US" sz="2000">
                <a:effectLst>
                  <a:outerShdw blurRad="38100" dist="38100" dir="2700000" algn="tl">
                    <a:srgbClr val="000000">
                      <a:alpha val="43137"/>
                    </a:srgbClr>
                  </a:outerShdw>
                </a:effectLst>
              </a:rPr>
              <a:t>  write-text-file("data.txt", text)   </a:t>
            </a:r>
            <a:r>
              <a:rPr lang="en-US" sz="2000">
                <a:solidFill>
                  <a:srgbClr val="009A46"/>
                </a:solidFill>
                <a:effectLst>
                  <a:outerShdw blurRad="38100" dist="38100" dir="2700000" algn="tl">
                    <a:srgbClr val="000000">
                      <a:alpha val="43137"/>
                    </a:srgbClr>
                  </a:outerShdw>
                </a:effectLst>
              </a:rPr>
              <a:t> // side effect</a:t>
            </a:r>
            <a:endParaRPr lang="en-US" sz="2000">
              <a:effectLst>
                <a:outerShdw blurRad="38100" dist="38100" dir="2700000" algn="tl">
                  <a:srgbClr val="000000">
                    <a:alpha val="43137"/>
                  </a:srgbClr>
                </a:outerShdw>
              </a:effectLst>
            </a:endParaRPr>
          </a:p>
          <a:p>
            <a:pPr algn="l"/>
            <a:endParaRPr lang="en-US" sz="2000" b="0">
              <a:solidFill>
                <a:schemeClr val="tx1">
                  <a:lumMod val="95000"/>
                  <a:lumOff val="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5251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A35BC2AF-5E0D-4B19-8527-A1A4D74BAEA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512040" y="715056"/>
            <a:ext cx="6096000" cy="2585323"/>
          </a:xfrm>
          <a:prstGeom prst="rect">
            <a:avLst/>
          </a:prstGeom>
        </p:spPr>
        <p:txBody>
          <a:bodyPr>
            <a:spAutoFit/>
          </a:bodyPr>
          <a:lstStyle/>
          <a:p>
            <a:pPr lvl="0" eaLnBrk="0" fontAlgn="base" hangingPunct="0">
              <a:spcBef>
                <a:spcPct val="0"/>
              </a:spcBef>
              <a:spcAft>
                <a:spcPct val="0"/>
              </a:spcAft>
            </a:pPr>
            <a:r>
              <a:rPr lang="he-IL" altLang="he-IL">
                <a:latin typeface="Arial" panose="020B0604020202020204" pitchFamily="34" charset="0"/>
              </a:rPr>
              <a:t>קוקה היא שפה פונקציונלית ולכן אין בה מצביעים מסורתיים. אבל כן יש</a:t>
            </a:r>
            <a:r>
              <a:rPr lang="en-US" altLang="he-IL">
                <a:latin typeface="Arial" panose="020B0604020202020204" pitchFamily="34" charset="0"/>
              </a:rPr>
              <a:t> ref </a:t>
            </a:r>
            <a:r>
              <a:rPr lang="he-IL" altLang="he-IL">
                <a:latin typeface="Arial" panose="020B0604020202020204" pitchFamily="34" charset="0"/>
              </a:rPr>
              <a:t>– </a:t>
            </a:r>
            <a:r>
              <a:rPr lang="en-US" altLang="he-IL">
                <a:latin typeface="Arial" panose="020B0604020202020204" pitchFamily="34" charset="0"/>
              </a:rPr>
              <a:t>derefernece</a:t>
            </a:r>
            <a:endParaRPr lang="he-IL" altLang="he-IL">
              <a:latin typeface="Arial" panose="020B0604020202020204" pitchFamily="34" charset="0"/>
            </a:endParaRPr>
          </a:p>
          <a:p>
            <a:pPr lvl="0" eaLnBrk="0" fontAlgn="base" hangingPunct="0">
              <a:spcBef>
                <a:spcPct val="0"/>
              </a:spcBef>
              <a:spcAft>
                <a:spcPct val="0"/>
              </a:spcAft>
            </a:pPr>
            <a:r>
              <a:rPr lang="en-US"/>
              <a:t> Dereference </a:t>
            </a:r>
            <a:r>
              <a:rPr lang="he-IL"/>
              <a:t>זו פעולה שמאפשרת לנו לגשת לערך שנמצא בכתובת שאליה מצביע מצביע</a:t>
            </a:r>
          </a:p>
          <a:p>
            <a:pPr eaLnBrk="0" fontAlgn="base" hangingPunct="0">
              <a:spcBef>
                <a:spcPct val="0"/>
              </a:spcBef>
              <a:spcAft>
                <a:spcPct val="0"/>
              </a:spcAft>
            </a:pPr>
            <a:r>
              <a:rPr lang="he-IL" altLang="he-IL">
                <a:latin typeface="Arial Unicode MS"/>
              </a:rPr>
              <a:t>ref(10)</a:t>
            </a:r>
            <a:r>
              <a:rPr lang="he-IL" altLang="he-IL"/>
              <a:t> אומר: </a:t>
            </a:r>
            <a:r>
              <a:rPr lang="he-IL" altLang="he-IL" b="1">
                <a:latin typeface="Arial" panose="020B0604020202020204" pitchFamily="34" charset="0"/>
              </a:rPr>
              <a:t>"צור תא זיכרון שבו נשמור את 10"</a:t>
            </a:r>
            <a:r>
              <a:rPr lang="he-IL" altLang="he-IL">
                <a:latin typeface="Arial" panose="020B0604020202020204" pitchFamily="34" charset="0"/>
              </a:rPr>
              <a:t> ותחזירי לי משתנה (</a:t>
            </a:r>
            <a:r>
              <a:rPr lang="he-IL" altLang="he-IL">
                <a:latin typeface="Arial Unicode MS"/>
              </a:rPr>
              <a:t>x</a:t>
            </a:r>
            <a:r>
              <a:rPr lang="he-IL" altLang="he-IL"/>
              <a:t>) שמצביע אליו. </a:t>
            </a:r>
          </a:p>
          <a:p>
            <a:pPr eaLnBrk="0" fontAlgn="base" hangingPunct="0">
              <a:spcBef>
                <a:spcPct val="0"/>
              </a:spcBef>
              <a:spcAft>
                <a:spcPct val="0"/>
              </a:spcAft>
            </a:pPr>
            <a:r>
              <a:rPr lang="he-IL"/>
              <a:t>אבל! בניגוד ל־</a:t>
            </a:r>
            <a:r>
              <a:rPr lang="en-US"/>
              <a:t>C/C++ – </a:t>
            </a:r>
            <a:r>
              <a:rPr lang="he-IL"/>
              <a:t> אין </a:t>
            </a:r>
            <a:r>
              <a:rPr lang="he-IL" b="1"/>
              <a:t>גישה ישירה לכתובת בזיכרון</a:t>
            </a:r>
            <a:r>
              <a:rPr lang="he-IL"/>
              <a:t>.</a:t>
            </a:r>
            <a:endParaRPr lang="he-IL" altLang="he-IL">
              <a:latin typeface="Arial" panose="020B0604020202020204" pitchFamily="34" charset="0"/>
            </a:endParaRPr>
          </a:p>
          <a:p>
            <a:pPr lvl="0" eaLnBrk="0" fontAlgn="base" hangingPunct="0">
              <a:spcBef>
                <a:spcPct val="0"/>
              </a:spcBef>
              <a:spcAft>
                <a:spcPct val="0"/>
              </a:spcAft>
            </a:pPr>
            <a:endParaRPr lang="he-IL"/>
          </a:p>
          <a:p>
            <a:pPr lvl="0" eaLnBrk="0" fontAlgn="base" hangingPunct="0">
              <a:spcBef>
                <a:spcPct val="0"/>
              </a:spcBef>
              <a:spcAft>
                <a:spcPct val="0"/>
              </a:spcAft>
            </a:pPr>
            <a:endParaRPr lang="he-IL" altLang="he-IL">
              <a:latin typeface="Arial" panose="020B0604020202020204" pitchFamily="34" charset="0"/>
            </a:endParaRPr>
          </a:p>
        </p:txBody>
      </p:sp>
      <p:sp>
        <p:nvSpPr>
          <p:cNvPr id="5" name="TextBox 4">
            <a:extLst>
              <a:ext uri="{FF2B5EF4-FFF2-40B4-BE49-F238E27FC236}">
                <a16:creationId xmlns:a16="http://schemas.microsoft.com/office/drawing/2014/main" id="{EDA55C13-B4BB-426E-B362-16AD6FD207E3}"/>
              </a:ext>
            </a:extLst>
          </p:cNvPr>
          <p:cNvSpPr txBox="1"/>
          <p:nvPr/>
        </p:nvSpPr>
        <p:spPr>
          <a:xfrm>
            <a:off x="4090355" y="151822"/>
            <a:ext cx="3833812" cy="584775"/>
          </a:xfrm>
          <a:prstGeom prst="rect">
            <a:avLst/>
          </a:prstGeom>
          <a:noFill/>
        </p:spPr>
        <p:txBody>
          <a:bodyPr wrap="square" rtlCol="1">
            <a:spAutoFit/>
          </a:bodyPr>
          <a:lstStyle/>
          <a:p>
            <a:r>
              <a:rPr lang="en-US" sz="3200">
                <a:effectLst>
                  <a:outerShdw blurRad="38100" dist="38100" dir="2700000" algn="tl">
                    <a:srgbClr val="000000">
                      <a:alpha val="43137"/>
                    </a:srgbClr>
                  </a:outerShdw>
                </a:effectLst>
              </a:rPr>
              <a:t>Pointers - reference</a:t>
            </a:r>
            <a:endParaRPr lang="he-IL" sz="3200">
              <a:effectLst>
                <a:outerShdw blurRad="38100" dist="38100" dir="2700000" algn="tl">
                  <a:srgbClr val="000000">
                    <a:alpha val="43137"/>
                  </a:srgbClr>
                </a:outerShdw>
              </a:effectLst>
            </a:endParaRPr>
          </a:p>
        </p:txBody>
      </p:sp>
      <p:sp>
        <p:nvSpPr>
          <p:cNvPr id="2" name="מלבן 1">
            <a:extLst>
              <a:ext uri="{FF2B5EF4-FFF2-40B4-BE49-F238E27FC236}">
                <a16:creationId xmlns:a16="http://schemas.microsoft.com/office/drawing/2014/main" id="{BF2246E3-2E15-496F-9615-A7FDE893DC15}"/>
              </a:ext>
            </a:extLst>
          </p:cNvPr>
          <p:cNvSpPr/>
          <p:nvPr/>
        </p:nvSpPr>
        <p:spPr>
          <a:xfrm>
            <a:off x="609600" y="1010364"/>
            <a:ext cx="6096000" cy="4401205"/>
          </a:xfrm>
          <a:prstGeom prst="rect">
            <a:avLst/>
          </a:prstGeom>
        </p:spPr>
        <p:txBody>
          <a:bodyPr>
            <a:spAutoFit/>
          </a:bodyPr>
          <a:lstStyle/>
          <a:p>
            <a:pPr algn="l" rtl="0"/>
            <a:r>
              <a:rPr lang="en-US" sz="2000">
                <a:solidFill>
                  <a:schemeClr val="tx1">
                    <a:lumMod val="95000"/>
                    <a:lumOff val="5000"/>
                  </a:schemeClr>
                </a:solidFill>
                <a:effectLst>
                  <a:outerShdw blurRad="38100" dist="38100" dir="2700000" algn="tl">
                    <a:srgbClr val="000000">
                      <a:alpha val="43137"/>
                    </a:srgbClr>
                  </a:outerShdw>
                </a:effectLst>
              </a:rPr>
              <a:t>fun double_ref(p : ref&lt;</a:t>
            </a:r>
            <a:r>
              <a:rPr lang="en-US" sz="2000" i="1">
                <a:solidFill>
                  <a:schemeClr val="tx1">
                    <a:lumMod val="95000"/>
                    <a:lumOff val="5000"/>
                  </a:schemeClr>
                </a:solidFill>
                <a:effectLst>
                  <a:outerShdw blurRad="38100" dist="38100" dir="2700000" algn="tl">
                    <a:srgbClr val="000000">
                      <a:alpha val="43137"/>
                    </a:srgbClr>
                  </a:outerShdw>
                </a:effectLst>
              </a:rPr>
              <a:t>h</a:t>
            </a:r>
            <a:r>
              <a:rPr lang="en-US" sz="2000">
                <a:solidFill>
                  <a:schemeClr val="tx1">
                    <a:lumMod val="95000"/>
                    <a:lumOff val="5000"/>
                  </a:schemeClr>
                </a:solidFill>
                <a:effectLst>
                  <a:outerShdw blurRad="38100" dist="38100" dir="2700000" algn="tl">
                    <a:srgbClr val="000000">
                      <a:alpha val="43137"/>
                    </a:srgbClr>
                  </a:outerShdw>
                </a:effectLst>
              </a:rPr>
              <a:t>,int&gt;) :  </a:t>
            </a:r>
          </a:p>
          <a:p>
            <a:pPr algn="l" rtl="0"/>
            <a:r>
              <a:rPr lang="en-US" sz="2000">
                <a:solidFill>
                  <a:schemeClr val="tx1">
                    <a:lumMod val="95000"/>
                    <a:lumOff val="5000"/>
                  </a:schemeClr>
                </a:solidFill>
                <a:effectLst>
                  <a:outerShdw blurRad="38100" dist="38100" dir="2700000" algn="tl">
                    <a:srgbClr val="000000">
                      <a:alpha val="43137"/>
                    </a:srgbClr>
                  </a:outerShdw>
                </a:effectLst>
              </a:rPr>
              <a:t>   p := !p * 2</a:t>
            </a:r>
          </a:p>
          <a:p>
            <a:pPr algn="l" rtl="0"/>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fun main()</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p>
          <a:p>
            <a:pPr algn="l" rtl="0"/>
            <a:r>
              <a:rPr lang="en-US" sz="2000">
                <a:solidFill>
                  <a:schemeClr val="tx1">
                    <a:lumMod val="95000"/>
                    <a:lumOff val="5000"/>
                  </a:schemeClr>
                </a:solidFill>
                <a:effectLst>
                  <a:outerShdw blurRad="38100" dist="38100" dir="2700000" algn="tl">
                    <a:srgbClr val="000000">
                      <a:alpha val="43137"/>
                    </a:srgbClr>
                  </a:outerShdw>
                </a:effectLst>
              </a:rPr>
              <a:t>  val ptr = ref(5)</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r>
              <a:rPr lang="en-US" sz="2000">
                <a:solidFill>
                  <a:schemeClr val="tx1">
                    <a:lumMod val="85000"/>
                    <a:lumOff val="15000"/>
                  </a:schemeClr>
                </a:solidFill>
                <a:effectLst>
                  <a:outerShdw blurRad="38100" dist="38100" dir="2700000" algn="tl">
                    <a:srgbClr val="000000">
                      <a:alpha val="43137"/>
                    </a:srgbClr>
                  </a:outerShdw>
                </a:effectLst>
              </a:rPr>
              <a:t>val x = !ptr </a:t>
            </a:r>
            <a:r>
              <a:rPr lang="en-US" sz="2000">
                <a:solidFill>
                  <a:srgbClr val="009A46"/>
                </a:solidFill>
                <a:effectLst>
                  <a:outerShdw blurRad="38100" dist="38100" dir="2700000" algn="tl">
                    <a:srgbClr val="000000">
                      <a:alpha val="43137"/>
                    </a:srgbClr>
                  </a:outerShdw>
                </a:effectLst>
              </a:rPr>
              <a:t>  //read value- like *ptr in c++</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p>
          <a:p>
            <a:pPr algn="l" rtl="0"/>
            <a:r>
              <a:rPr lang="en-US" sz="2000">
                <a:solidFill>
                  <a:schemeClr val="tx1">
                    <a:lumMod val="95000"/>
                    <a:lumOff val="5000"/>
                  </a:schemeClr>
                </a:solidFill>
                <a:effectLst>
                  <a:outerShdw blurRad="38100" dist="38100" dir="2700000" algn="tl">
                    <a:srgbClr val="000000">
                      <a:alpha val="43137"/>
                    </a:srgbClr>
                  </a:outerShdw>
                </a:effectLst>
              </a:rPr>
              <a:t>  ptr := 10   </a:t>
            </a:r>
            <a:r>
              <a:rPr lang="en-US" sz="2000">
                <a:solidFill>
                  <a:srgbClr val="009A46"/>
                </a:solidFill>
                <a:effectLst>
                  <a:outerShdw blurRad="38100" dist="38100" dir="2700000" algn="tl">
                    <a:srgbClr val="000000">
                      <a:alpha val="43137"/>
                    </a:srgbClr>
                  </a:outerShdw>
                </a:effectLst>
              </a:rPr>
              <a:t>// Write new value</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p>
          <a:p>
            <a:pPr algn="l" rtl="0"/>
            <a:r>
              <a:rPr lang="en-US" sz="2000">
                <a:solidFill>
                  <a:schemeClr val="tx1">
                    <a:lumMod val="95000"/>
                    <a:lumOff val="5000"/>
                  </a:schemeClr>
                </a:solidFill>
                <a:effectLst>
                  <a:outerShdw blurRad="38100" dist="38100" dir="2700000" algn="tl">
                    <a:srgbClr val="000000">
                      <a:alpha val="43137"/>
                    </a:srgbClr>
                  </a:outerShdw>
                </a:effectLst>
              </a:rPr>
              <a:t>  double_ref(ptr)</a:t>
            </a:r>
          </a:p>
          <a:p>
            <a:pPr algn="l" rtl="0"/>
            <a:r>
              <a:rPr lang="en-US" sz="2000">
                <a:solidFill>
                  <a:schemeClr val="tx1">
                    <a:lumMod val="95000"/>
                    <a:lumOff val="5000"/>
                  </a:schemeClr>
                </a:solidFill>
                <a:effectLst>
                  <a:outerShdw blurRad="38100" dist="38100" dir="2700000" algn="tl">
                    <a:srgbClr val="000000">
                      <a:alpha val="43137"/>
                    </a:srgbClr>
                  </a:outerShdw>
                </a:effectLst>
              </a:rPr>
              <a:t> </a:t>
            </a:r>
          </a:p>
          <a:p>
            <a:pPr algn="l" rtl="0"/>
            <a:r>
              <a:rPr lang="en-US" sz="2000">
                <a:solidFill>
                  <a:schemeClr val="tx1">
                    <a:lumMod val="95000"/>
                    <a:lumOff val="5000"/>
                  </a:schemeClr>
                </a:solidFill>
                <a:effectLst>
                  <a:outerShdw blurRad="38100" dist="38100" dir="2700000" algn="tl">
                    <a:srgbClr val="000000">
                      <a:alpha val="43137"/>
                    </a:srgbClr>
                  </a:outerShdw>
                </a:effectLst>
              </a:rPr>
              <a:t>  println((!ptr).show) </a:t>
            </a:r>
            <a:r>
              <a:rPr lang="en-US" sz="2000">
                <a:solidFill>
                  <a:srgbClr val="009A46"/>
                </a:solidFill>
                <a:effectLst>
                  <a:outerShdw blurRad="38100" dist="38100" dir="2700000" algn="tl">
                    <a:srgbClr val="000000">
                      <a:alpha val="43137"/>
                    </a:srgbClr>
                  </a:outerShdw>
                </a:effectLst>
              </a:rPr>
              <a:t>  //output- 20</a:t>
            </a:r>
            <a:endParaRPr lang="en-US" sz="2000" b="0">
              <a:solidFill>
                <a:srgbClr val="009A46"/>
              </a:solidFill>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FA0CF551-6C2F-4E29-9957-23F04ADBAC09}"/>
              </a:ext>
            </a:extLst>
          </p:cNvPr>
          <p:cNvSpPr/>
          <p:nvPr/>
        </p:nvSpPr>
        <p:spPr>
          <a:xfrm>
            <a:off x="7143412" y="4069508"/>
            <a:ext cx="1514451" cy="115067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u="sng">
                <a:solidFill>
                  <a:schemeClr val="tx1"/>
                </a:solidFill>
              </a:rPr>
              <a:t>ptr:</a:t>
            </a:r>
          </a:p>
          <a:p>
            <a:pPr algn="ctr"/>
            <a:r>
              <a:rPr lang="en-US" sz="2400">
                <a:solidFill>
                  <a:schemeClr val="tx1"/>
                </a:solidFill>
              </a:rPr>
              <a:t>0X100</a:t>
            </a:r>
            <a:endParaRPr lang="he-IL" sz="2400">
              <a:solidFill>
                <a:schemeClr val="tx1"/>
              </a:solidFill>
            </a:endParaRPr>
          </a:p>
        </p:txBody>
      </p:sp>
      <p:sp>
        <p:nvSpPr>
          <p:cNvPr id="7" name="מלבן 6">
            <a:extLst>
              <a:ext uri="{FF2B5EF4-FFF2-40B4-BE49-F238E27FC236}">
                <a16:creationId xmlns:a16="http://schemas.microsoft.com/office/drawing/2014/main" id="{E2DCB0E4-8455-4B16-82FA-2B86018A4DF0}"/>
              </a:ext>
            </a:extLst>
          </p:cNvPr>
          <p:cNvSpPr/>
          <p:nvPr/>
        </p:nvSpPr>
        <p:spPr>
          <a:xfrm>
            <a:off x="7143412" y="2060294"/>
            <a:ext cx="1514451" cy="1150672"/>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a:solidFill>
                  <a:schemeClr val="tx1"/>
                </a:solidFill>
              </a:rPr>
              <a:t>20</a:t>
            </a:r>
            <a:endParaRPr lang="he-IL" sz="2400">
              <a:solidFill>
                <a:schemeClr val="tx1"/>
              </a:solidFill>
            </a:endParaRPr>
          </a:p>
        </p:txBody>
      </p:sp>
      <p:cxnSp>
        <p:nvCxnSpPr>
          <p:cNvPr id="9" name="מחבר חץ ישר 8">
            <a:extLst>
              <a:ext uri="{FF2B5EF4-FFF2-40B4-BE49-F238E27FC236}">
                <a16:creationId xmlns:a16="http://schemas.microsoft.com/office/drawing/2014/main" id="{6F765210-FD5B-4F2F-A190-D6055E8A629B}"/>
              </a:ext>
            </a:extLst>
          </p:cNvPr>
          <p:cNvCxnSpPr>
            <a:cxnSpLocks/>
            <a:stCxn id="6" idx="0"/>
          </p:cNvCxnSpPr>
          <p:nvPr/>
        </p:nvCxnSpPr>
        <p:spPr>
          <a:xfrm flipV="1">
            <a:off x="7900638" y="3210968"/>
            <a:ext cx="0" cy="858540"/>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מלבן 9">
            <a:extLst>
              <a:ext uri="{FF2B5EF4-FFF2-40B4-BE49-F238E27FC236}">
                <a16:creationId xmlns:a16="http://schemas.microsoft.com/office/drawing/2014/main" id="{2C1674F4-17A1-4915-92FA-DFED225D2D47}"/>
              </a:ext>
            </a:extLst>
          </p:cNvPr>
          <p:cNvSpPr/>
          <p:nvPr/>
        </p:nvSpPr>
        <p:spPr>
          <a:xfrm>
            <a:off x="6107149" y="2434609"/>
            <a:ext cx="772968" cy="369332"/>
          </a:xfrm>
          <a:prstGeom prst="rect">
            <a:avLst/>
          </a:prstGeom>
        </p:spPr>
        <p:txBody>
          <a:bodyPr wrap="none">
            <a:spAutoFit/>
          </a:bodyPr>
          <a:lstStyle/>
          <a:p>
            <a:pPr algn="ctr"/>
            <a:r>
              <a:rPr lang="en-US"/>
              <a:t>0X100</a:t>
            </a:r>
            <a:endParaRPr lang="he-IL"/>
          </a:p>
        </p:txBody>
      </p:sp>
      <p:sp>
        <p:nvSpPr>
          <p:cNvPr id="13" name="מלבן 12">
            <a:extLst>
              <a:ext uri="{FF2B5EF4-FFF2-40B4-BE49-F238E27FC236}">
                <a16:creationId xmlns:a16="http://schemas.microsoft.com/office/drawing/2014/main" id="{4D2449D6-7261-4633-ABDF-32F9199E8504}"/>
              </a:ext>
            </a:extLst>
          </p:cNvPr>
          <p:cNvSpPr/>
          <p:nvPr/>
        </p:nvSpPr>
        <p:spPr>
          <a:xfrm>
            <a:off x="9139785" y="1127525"/>
            <a:ext cx="2377440" cy="1631216"/>
          </a:xfrm>
          <a:prstGeom prst="rect">
            <a:avLst/>
          </a:prstGeom>
        </p:spPr>
        <p:txBody>
          <a:bodyPr wrap="square">
            <a:spAutoFit/>
          </a:bodyPr>
          <a:lstStyle/>
          <a:p>
            <a:pPr algn="ctr"/>
            <a:r>
              <a:rPr lang="en-US" sz="2000">
                <a:effectLst>
                  <a:outerShdw blurRad="38100" dist="38100" dir="2700000" algn="tl">
                    <a:srgbClr val="000000">
                      <a:alpha val="43137"/>
                    </a:srgbClr>
                  </a:outerShdw>
                </a:effectLst>
              </a:rPr>
              <a:t>A safe pointer that allows access to the value it points to, but not to its memory address.</a:t>
            </a:r>
            <a:endParaRPr lang="he-IL" sz="2000">
              <a:effectLst>
                <a:outerShdw blurRad="38100" dist="38100" dir="2700000" algn="tl">
                  <a:srgbClr val="000000">
                    <a:alpha val="43137"/>
                  </a:srgbClr>
                </a:outerShdw>
              </a:effectLst>
            </a:endParaRPr>
          </a:p>
        </p:txBody>
      </p:sp>
      <p:sp>
        <p:nvSpPr>
          <p:cNvPr id="14" name="אליפסה 13">
            <a:extLst>
              <a:ext uri="{FF2B5EF4-FFF2-40B4-BE49-F238E27FC236}">
                <a16:creationId xmlns:a16="http://schemas.microsoft.com/office/drawing/2014/main" id="{8475980D-45B2-4260-A136-D63BCAE986B9}"/>
              </a:ext>
            </a:extLst>
          </p:cNvPr>
          <p:cNvSpPr/>
          <p:nvPr/>
        </p:nvSpPr>
        <p:spPr>
          <a:xfrm>
            <a:off x="6007261" y="2199190"/>
            <a:ext cx="1018379" cy="902825"/>
          </a:xfrm>
          <a:prstGeom prst="ellipse">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6" name="מחבר ישר 15">
            <a:extLst>
              <a:ext uri="{FF2B5EF4-FFF2-40B4-BE49-F238E27FC236}">
                <a16:creationId xmlns:a16="http://schemas.microsoft.com/office/drawing/2014/main" id="{625CAC59-FABE-46E6-A0AA-B3D5F080B6C4}"/>
              </a:ext>
            </a:extLst>
          </p:cNvPr>
          <p:cNvCxnSpPr>
            <a:cxnSpLocks/>
          </p:cNvCxnSpPr>
          <p:nvPr/>
        </p:nvCxnSpPr>
        <p:spPr>
          <a:xfrm>
            <a:off x="5847664" y="1979971"/>
            <a:ext cx="1221224" cy="1341261"/>
          </a:xfrm>
          <a:prstGeom prst="line">
            <a:avLst/>
          </a:prstGeom>
          <a:ln w="19050">
            <a:solidFill>
              <a:srgbClr val="CC0000"/>
            </a:solidFill>
          </a:ln>
        </p:spPr>
        <p:style>
          <a:lnRef idx="1">
            <a:schemeClr val="accent1"/>
          </a:lnRef>
          <a:fillRef idx="0">
            <a:schemeClr val="accent1"/>
          </a:fillRef>
          <a:effectRef idx="0">
            <a:schemeClr val="accent1"/>
          </a:effectRef>
          <a:fontRef idx="minor">
            <a:schemeClr val="tx1"/>
          </a:fontRef>
        </p:style>
      </p:cxnSp>
      <p:cxnSp>
        <p:nvCxnSpPr>
          <p:cNvPr id="18" name="מחבר ישר 17">
            <a:extLst>
              <a:ext uri="{FF2B5EF4-FFF2-40B4-BE49-F238E27FC236}">
                <a16:creationId xmlns:a16="http://schemas.microsoft.com/office/drawing/2014/main" id="{217DA1E9-C677-4911-A71B-369488E9B008}"/>
              </a:ext>
            </a:extLst>
          </p:cNvPr>
          <p:cNvCxnSpPr>
            <a:cxnSpLocks/>
          </p:cNvCxnSpPr>
          <p:nvPr/>
        </p:nvCxnSpPr>
        <p:spPr>
          <a:xfrm flipH="1">
            <a:off x="5847664" y="1997894"/>
            <a:ext cx="1258487" cy="1302485"/>
          </a:xfrm>
          <a:prstGeom prst="line">
            <a:avLst/>
          </a:prstGeom>
          <a:ln w="19050">
            <a:solidFill>
              <a:srgbClr val="CC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25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93C4BD95-C96B-4307-980F-43EB022E2A3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5" name="TextBox 4">
            <a:extLst>
              <a:ext uri="{FF2B5EF4-FFF2-40B4-BE49-F238E27FC236}">
                <a16:creationId xmlns:a16="http://schemas.microsoft.com/office/drawing/2014/main" id="{FCEDC99C-3A27-4BFC-8EDE-4D7CE2E9CF3F}"/>
              </a:ext>
            </a:extLst>
          </p:cNvPr>
          <p:cNvSpPr txBox="1"/>
          <p:nvPr/>
        </p:nvSpPr>
        <p:spPr>
          <a:xfrm>
            <a:off x="4764912" y="149453"/>
            <a:ext cx="2662176" cy="584775"/>
          </a:xfrm>
          <a:prstGeom prst="rect">
            <a:avLst/>
          </a:prstGeom>
          <a:noFill/>
        </p:spPr>
        <p:txBody>
          <a:bodyPr wrap="square" rtlCol="1">
            <a:spAutoFit/>
          </a:bodyPr>
          <a:lstStyle/>
          <a:p>
            <a:r>
              <a:rPr lang="en-US" sz="3200">
                <a:effectLst>
                  <a:outerShdw blurRad="38100" dist="38100" dir="2700000" algn="tl">
                    <a:srgbClr val="000000">
                      <a:alpha val="43137"/>
                    </a:srgbClr>
                  </a:outerShdw>
                </a:effectLst>
              </a:rPr>
              <a:t>Polymorphism</a:t>
            </a:r>
            <a:endParaRPr lang="he-IL" sz="3200">
              <a:effectLst>
                <a:outerShdw blurRad="38100" dist="38100" dir="2700000" algn="tl">
                  <a:srgbClr val="000000">
                    <a:alpha val="43137"/>
                  </a:srgbClr>
                </a:outerShdw>
              </a:effectLst>
            </a:endParaRPr>
          </a:p>
        </p:txBody>
      </p:sp>
      <p:sp>
        <p:nvSpPr>
          <p:cNvPr id="2" name="מלבן 1">
            <a:extLst>
              <a:ext uri="{FF2B5EF4-FFF2-40B4-BE49-F238E27FC236}">
                <a16:creationId xmlns:a16="http://schemas.microsoft.com/office/drawing/2014/main" id="{8100C439-6F79-4892-B792-9C9C4E008492}"/>
              </a:ext>
            </a:extLst>
          </p:cNvPr>
          <p:cNvSpPr/>
          <p:nvPr/>
        </p:nvSpPr>
        <p:spPr>
          <a:xfrm>
            <a:off x="12820890" y="734228"/>
            <a:ext cx="4019309" cy="5693866"/>
          </a:xfrm>
          <a:prstGeom prst="rect">
            <a:avLst/>
          </a:prstGeom>
        </p:spPr>
        <p:txBody>
          <a:bodyPr wrap="square">
            <a:spAutoFit/>
          </a:bodyPr>
          <a:lstStyle/>
          <a:p>
            <a:r>
              <a:rPr lang="he-IL" sz="1400"/>
              <a:t>פולימורפיזם (מיוונית: "ריבוי צורות") הוא עיקרון בתכנות שבו אותו שם של פעולה או פונקציה יכול לפעול בצורות שונות – בהתאם להקשר, לטיפוס הנתונים או למחלקה שאליה הוא שייך.</a:t>
            </a:r>
          </a:p>
          <a:p>
            <a:r>
              <a:rPr lang="he-IL" sz="1400"/>
              <a:t>פולימורפיזם מאפשר לכתוב קוד גנרי, כללי וגמיש, שמסוגל לעבוד עם טיפוסים שונים או אובייקטים שונים מבלי לשנות את הלוגיקה של הקוד.</a:t>
            </a:r>
          </a:p>
          <a:p>
            <a:r>
              <a:rPr lang="he-IL" sz="1400"/>
              <a:t>פורמלית:</a:t>
            </a:r>
          </a:p>
          <a:p>
            <a:r>
              <a:rPr lang="he-IL" altLang="he-IL" sz="1400">
                <a:latin typeface="Arial" panose="020B0604020202020204" pitchFamily="34" charset="0"/>
              </a:rPr>
              <a:t>פולימורפיזם הוא תכונה של שפה שמאפשרת לישות אחת (כמו פונקציה או מתודה) להתנהג באופן שונה עם סוגי נתונים שונים, תוך שימוש באותו ממשק.</a:t>
            </a:r>
          </a:p>
          <a:p>
            <a:pPr lvl="0" eaLnBrk="0" fontAlgn="base" hangingPunct="0">
              <a:spcBef>
                <a:spcPct val="0"/>
              </a:spcBef>
              <a:spcAft>
                <a:spcPct val="0"/>
              </a:spcAft>
              <a:buFontTx/>
              <a:buChar char="•"/>
            </a:pPr>
            <a:endParaRPr lang="he-IL" altLang="he-IL" sz="1400">
              <a:latin typeface="Arial" panose="020B0604020202020204" pitchFamily="34" charset="0"/>
            </a:endParaRPr>
          </a:p>
          <a:p>
            <a:pPr lvl="0" eaLnBrk="0" fontAlgn="base" hangingPunct="0">
              <a:spcBef>
                <a:spcPct val="0"/>
              </a:spcBef>
              <a:spcAft>
                <a:spcPct val="0"/>
              </a:spcAft>
              <a:buFontTx/>
              <a:buChar char="•"/>
            </a:pPr>
            <a:r>
              <a:rPr lang="he-IL" altLang="he-IL" sz="1400">
                <a:latin typeface="Arial" panose="020B0604020202020204" pitchFamily="34" charset="0"/>
              </a:rPr>
              <a:t>בשפת Koka משתמשים במשתני טיפוס (Type Variables), כמו </a:t>
            </a:r>
            <a:r>
              <a:rPr lang="he-IL" altLang="he-IL" sz="1400">
                <a:latin typeface="Arial Unicode MS"/>
              </a:rPr>
              <a:t>a</a:t>
            </a:r>
            <a:r>
              <a:rPr lang="he-IL" altLang="he-IL" sz="1400"/>
              <a:t>, </a:t>
            </a:r>
            <a:r>
              <a:rPr lang="he-IL" altLang="he-IL" sz="1400">
                <a:latin typeface="Arial Unicode MS"/>
              </a:rPr>
              <a:t>b</a:t>
            </a:r>
            <a:r>
              <a:rPr lang="he-IL" altLang="he-IL" sz="1400"/>
              <a:t>, </a:t>
            </a:r>
            <a:r>
              <a:rPr lang="he-IL" altLang="he-IL" sz="1400">
                <a:latin typeface="Arial Unicode MS"/>
              </a:rPr>
              <a:t>t</a:t>
            </a:r>
            <a:r>
              <a:rPr lang="he-IL" altLang="he-IL" sz="1400"/>
              <a:t>, כדי לייצג טיפוסים גנריים.</a:t>
            </a:r>
            <a:endParaRPr lang="he-IL" altLang="he-IL" sz="1400">
              <a:latin typeface="Arial" panose="020B0604020202020204" pitchFamily="34" charset="0"/>
            </a:endParaRPr>
          </a:p>
          <a:p>
            <a:pPr lvl="0" eaLnBrk="0" fontAlgn="base" hangingPunct="0">
              <a:spcBef>
                <a:spcPct val="0"/>
              </a:spcBef>
              <a:spcAft>
                <a:spcPct val="0"/>
              </a:spcAft>
              <a:buFontTx/>
              <a:buChar char="•"/>
            </a:pPr>
            <a:r>
              <a:rPr lang="he-IL" altLang="he-IL" sz="1400">
                <a:latin typeface="Arial" panose="020B0604020202020204" pitchFamily="34" charset="0"/>
              </a:rPr>
              <a:t>הקומפיילר עושה Type Inference — הוא מבין לבד איזה טיפוס צריך להכניס לפי ההקשר, בלי צורך לציין זאת במפורש.</a:t>
            </a:r>
          </a:p>
          <a:p>
            <a:pPr lvl="0" eaLnBrk="0" fontAlgn="base" hangingPunct="0">
              <a:spcBef>
                <a:spcPct val="0"/>
              </a:spcBef>
              <a:spcAft>
                <a:spcPct val="0"/>
              </a:spcAft>
              <a:buFontTx/>
              <a:buChar char="•"/>
            </a:pPr>
            <a:r>
              <a:rPr lang="he-IL" altLang="he-IL" sz="1400">
                <a:latin typeface="Arial" panose="020B0604020202020204" pitchFamily="34" charset="0"/>
              </a:rPr>
              <a:t>דוגמא מספר 1: ה</a:t>
            </a:r>
            <a:r>
              <a:rPr lang="he-IL" altLang="he-IL" sz="1400"/>
              <a:t>פונקציה</a:t>
            </a:r>
            <a:r>
              <a:rPr lang="he-IL" sz="1400"/>
              <a:t> </a:t>
            </a:r>
            <a:r>
              <a:rPr lang="he-IL" sz="1400" b="1"/>
              <a:t>לא מוגבלת לסוג טיפוס מסוים</a:t>
            </a:r>
            <a:r>
              <a:rPr lang="he-IL" sz="1400"/>
              <a:t> – היא יכולה לעבוד עם כל טיפוס שהוא, כל עוד משתמשים באותו טיפוס בקלט ובפלט.</a:t>
            </a:r>
          </a:p>
          <a:p>
            <a:pPr lvl="0" eaLnBrk="0" fontAlgn="base" hangingPunct="0">
              <a:spcBef>
                <a:spcPct val="0"/>
              </a:spcBef>
              <a:spcAft>
                <a:spcPct val="0"/>
              </a:spcAft>
              <a:buFontTx/>
              <a:buChar char="•"/>
            </a:pPr>
            <a:r>
              <a:rPr lang="he-IL" altLang="he-IL" sz="1400">
                <a:latin typeface="Arial" panose="020B0604020202020204" pitchFamily="34" charset="0"/>
              </a:rPr>
              <a:t>יש שימוש בגנריות ואפקטים יכולים גם כן להיות גנריים.</a:t>
            </a:r>
          </a:p>
          <a:p>
            <a:pPr lvl="0" eaLnBrk="0" fontAlgn="base" hangingPunct="0">
              <a:spcBef>
                <a:spcPct val="0"/>
              </a:spcBef>
              <a:spcAft>
                <a:spcPct val="0"/>
              </a:spcAft>
              <a:buFontTx/>
              <a:buChar char="•"/>
            </a:pPr>
            <a:r>
              <a:rPr lang="he-IL" altLang="he-IL" sz="1400">
                <a:latin typeface="Arial" panose="020B0604020202020204" pitchFamily="34" charset="0"/>
              </a:rPr>
              <a:t>אפשר לעשות העמסת פונקציות עם לייבלים שמציינים את הסוג.</a:t>
            </a:r>
          </a:p>
          <a:p>
            <a:endParaRPr lang="he-IL" sz="1400"/>
          </a:p>
          <a:p>
            <a:endParaRPr lang="he-IL" sz="1400"/>
          </a:p>
          <a:p>
            <a:endParaRPr lang="he-IL" sz="1400"/>
          </a:p>
        </p:txBody>
      </p:sp>
      <p:sp>
        <p:nvSpPr>
          <p:cNvPr id="14" name="מלבן 13">
            <a:extLst>
              <a:ext uri="{FF2B5EF4-FFF2-40B4-BE49-F238E27FC236}">
                <a16:creationId xmlns:a16="http://schemas.microsoft.com/office/drawing/2014/main" id="{D63815F3-09AC-495E-8F0C-85DE57C0D196}"/>
              </a:ext>
            </a:extLst>
          </p:cNvPr>
          <p:cNvSpPr/>
          <p:nvPr/>
        </p:nvSpPr>
        <p:spPr>
          <a:xfrm>
            <a:off x="240600" y="863255"/>
            <a:ext cx="6984812" cy="4770537"/>
          </a:xfrm>
          <a:prstGeom prst="rect">
            <a:avLst/>
          </a:prstGeom>
        </p:spPr>
        <p:txBody>
          <a:bodyPr wrap="square">
            <a:spAutoFit/>
          </a:bodyPr>
          <a:lstStyle/>
          <a:p>
            <a:pPr algn="l"/>
            <a:r>
              <a:rPr lang="en-US" sz="2400" b="1">
                <a:solidFill>
                  <a:schemeClr val="tx1">
                    <a:lumMod val="95000"/>
                    <a:lumOff val="5000"/>
                  </a:schemeClr>
                </a:solidFill>
                <a:effectLst>
                  <a:outerShdw blurRad="38100" dist="38100" dir="2700000" algn="tl">
                    <a:srgbClr val="000000">
                      <a:alpha val="43137"/>
                    </a:srgbClr>
                  </a:outerShdw>
                </a:effectLst>
              </a:rPr>
              <a:t>Generics:</a:t>
            </a:r>
          </a:p>
          <a:p>
            <a:pPr algn="l"/>
            <a:r>
              <a:rPr lang="en-US" sz="2000">
                <a:effectLst>
                  <a:outerShdw blurRad="38100" dist="38100" dir="2700000" algn="tl">
                    <a:srgbClr val="000000">
                      <a:alpha val="43137"/>
                    </a:srgbClr>
                  </a:outerShdw>
                </a:effectLst>
              </a:rPr>
              <a:t>fun identity(x : </a:t>
            </a:r>
            <a:r>
              <a:rPr lang="en-US" sz="2000" i="1">
                <a:effectLst>
                  <a:outerShdw blurRad="38100" dist="38100" dir="2700000" algn="tl">
                    <a:srgbClr val="000000">
                      <a:alpha val="43137"/>
                    </a:srgbClr>
                  </a:outerShdw>
                </a:effectLst>
              </a:rPr>
              <a:t>a</a:t>
            </a:r>
            <a:r>
              <a:rPr lang="en-US" sz="2000">
                <a:effectLst>
                  <a:outerShdw blurRad="38100" dist="38100" dir="2700000" algn="tl">
                    <a:srgbClr val="000000">
                      <a:alpha val="43137"/>
                    </a:srgbClr>
                  </a:outerShdw>
                </a:effectLst>
              </a:rPr>
              <a:t>) : </a:t>
            </a:r>
            <a:r>
              <a:rPr lang="en-US" sz="2000" i="1">
                <a:effectLst>
                  <a:outerShdw blurRad="38100" dist="38100" dir="2700000" algn="tl">
                    <a:srgbClr val="000000">
                      <a:alpha val="43137"/>
                    </a:srgbClr>
                  </a:outerShdw>
                </a:effectLst>
              </a:rPr>
              <a:t>a</a:t>
            </a:r>
            <a:endParaRPr lang="en-US"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  x</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apply(x : </a:t>
            </a:r>
            <a:r>
              <a:rPr lang="en-US" sz="2000" i="1">
                <a:effectLst>
                  <a:outerShdw blurRad="38100" dist="38100" dir="2700000" algn="tl">
                    <a:srgbClr val="000000">
                      <a:alpha val="43137"/>
                    </a:srgbClr>
                  </a:outerShdw>
                </a:effectLst>
              </a:rPr>
              <a:t>a</a:t>
            </a:r>
            <a:r>
              <a:rPr lang="en-US" sz="2000">
                <a:effectLst>
                  <a:outerShdw blurRad="38100" dist="38100" dir="2700000" algn="tl">
                    <a:srgbClr val="000000">
                      <a:alpha val="43137"/>
                    </a:srgbClr>
                  </a:outerShdw>
                </a:effectLst>
              </a:rPr>
              <a:t>, f : </a:t>
            </a:r>
            <a:r>
              <a:rPr lang="en-US" sz="2000" i="1">
                <a:effectLst>
                  <a:outerShdw blurRad="38100" dist="38100" dir="2700000" algn="tl">
                    <a:srgbClr val="000000">
                      <a:alpha val="43137"/>
                    </a:srgbClr>
                  </a:outerShdw>
                </a:effectLst>
              </a:rPr>
              <a:t>a</a:t>
            </a:r>
            <a:r>
              <a:rPr lang="en-US" sz="2000">
                <a:effectLst>
                  <a:outerShdw blurRad="38100" dist="38100" dir="2700000" algn="tl">
                    <a:srgbClr val="000000">
                      <a:alpha val="43137"/>
                    </a:srgbClr>
                  </a:outerShdw>
                </a:effectLst>
              </a:rPr>
              <a:t> -&gt; </a:t>
            </a:r>
            <a:r>
              <a:rPr lang="en-US" sz="2000" i="1">
                <a:effectLst>
                  <a:outerShdw blurRad="38100" dist="38100" dir="2700000" algn="tl">
                    <a:srgbClr val="000000">
                      <a:alpha val="43137"/>
                    </a:srgbClr>
                  </a:outerShdw>
                </a:effectLst>
              </a:rPr>
              <a:t>e</a:t>
            </a:r>
            <a:r>
              <a:rPr lang="en-US" sz="2000">
                <a:effectLst>
                  <a:outerShdw blurRad="38100" dist="38100" dir="2700000" algn="tl">
                    <a:srgbClr val="000000">
                      <a:alpha val="43137"/>
                    </a:srgbClr>
                  </a:outerShdw>
                </a:effectLst>
              </a:rPr>
              <a:t> </a:t>
            </a:r>
            <a:r>
              <a:rPr lang="en-US" sz="2000" i="1">
                <a:effectLst>
                  <a:outerShdw blurRad="38100" dist="38100" dir="2700000" algn="tl">
                    <a:srgbClr val="000000">
                      <a:alpha val="43137"/>
                    </a:srgbClr>
                  </a:outerShdw>
                </a:effectLst>
              </a:rPr>
              <a:t>b</a:t>
            </a:r>
            <a:r>
              <a:rPr lang="en-US" sz="2000">
                <a:effectLst>
                  <a:outerShdw blurRad="38100" dist="38100" dir="2700000" algn="tl">
                    <a:srgbClr val="000000">
                      <a:alpha val="43137"/>
                    </a:srgbClr>
                  </a:outerShdw>
                </a:effectLst>
              </a:rPr>
              <a:t>) : </a:t>
            </a:r>
            <a:r>
              <a:rPr lang="en-US" sz="2000" i="1">
                <a:effectLst>
                  <a:outerShdw blurRad="38100" dist="38100" dir="2700000" algn="tl">
                    <a:srgbClr val="000000">
                      <a:alpha val="43137"/>
                    </a:srgbClr>
                  </a:outerShdw>
                </a:effectLst>
              </a:rPr>
              <a:t>e</a:t>
            </a:r>
            <a:r>
              <a:rPr lang="en-US" sz="2000">
                <a:effectLst>
                  <a:outerShdw blurRad="38100" dist="38100" dir="2700000" algn="tl">
                    <a:srgbClr val="000000">
                      <a:alpha val="43137"/>
                    </a:srgbClr>
                  </a:outerShdw>
                </a:effectLst>
              </a:rPr>
              <a:t> </a:t>
            </a:r>
            <a:r>
              <a:rPr lang="en-US" sz="2000" i="1">
                <a:effectLst>
                  <a:outerShdw blurRad="38100" dist="38100" dir="2700000" algn="tl">
                    <a:srgbClr val="000000">
                      <a:alpha val="43137"/>
                    </a:srgbClr>
                  </a:outerShdw>
                </a:effectLst>
              </a:rPr>
              <a:t>b   </a:t>
            </a:r>
            <a:r>
              <a:rPr lang="en-US" sz="2000">
                <a:solidFill>
                  <a:srgbClr val="009A46"/>
                </a:solidFill>
                <a:effectLst>
                  <a:outerShdw blurRad="38100" dist="38100" dir="2700000" algn="tl">
                    <a:srgbClr val="000000">
                      <a:alpha val="43137"/>
                    </a:srgbClr>
                  </a:outerShdw>
                </a:effectLst>
              </a:rPr>
              <a:t>//b with the e effect </a:t>
            </a:r>
          </a:p>
          <a:p>
            <a:pPr algn="l"/>
            <a:r>
              <a:rPr lang="en-US" sz="2000">
                <a:effectLst>
                  <a:outerShdw blurRad="38100" dist="38100" dir="2700000" algn="tl">
                    <a:srgbClr val="000000">
                      <a:alpha val="43137"/>
                    </a:srgbClr>
                  </a:outerShdw>
                </a:effectLst>
              </a:rPr>
              <a:t>  f(x)</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val num = identity(42)</a:t>
            </a:r>
          </a:p>
          <a:p>
            <a:pPr algn="l"/>
            <a:r>
              <a:rPr lang="en-US" sz="2000">
                <a:effectLst>
                  <a:outerShdw blurRad="38100" dist="38100" dir="2700000" algn="tl">
                    <a:srgbClr val="000000">
                      <a:alpha val="43137"/>
                    </a:srgbClr>
                  </a:outerShdw>
                </a:effectLst>
              </a:rPr>
              <a:t>  val text = identity("hello")</a:t>
            </a:r>
          </a:p>
          <a:p>
            <a:pPr algn="l"/>
            <a:r>
              <a:rPr lang="en-US" sz="2000">
                <a:effectLst>
                  <a:outerShdw blurRad="38100" dist="38100" dir="2700000" algn="tl">
                    <a:srgbClr val="000000">
                      <a:alpha val="43137"/>
                    </a:srgbClr>
                  </a:outerShdw>
                </a:effectLst>
              </a:rPr>
              <a:t>  val doubled = apply(5, fn(x) x * 2)</a:t>
            </a:r>
          </a:p>
          <a:p>
            <a:pPr algn="l"/>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println(num.show ++ " " ++ text ++ " " ++ doubled.show)</a:t>
            </a:r>
          </a:p>
          <a:p>
            <a:pPr algn="l"/>
            <a:br>
              <a:rPr lang="en-US" sz="2000">
                <a:solidFill>
                  <a:schemeClr val="tx1">
                    <a:lumMod val="95000"/>
                    <a:lumOff val="5000"/>
                  </a:schemeClr>
                </a:solidFill>
                <a:effectLst>
                  <a:outerShdw blurRad="38100" dist="38100" dir="2700000" algn="tl">
                    <a:srgbClr val="000000">
                      <a:alpha val="43137"/>
                    </a:srgbClr>
                  </a:outerShdw>
                </a:effectLst>
              </a:rPr>
            </a:br>
            <a:endParaRPr lang="en-US" sz="2000" b="0">
              <a:solidFill>
                <a:schemeClr val="tx1">
                  <a:lumMod val="95000"/>
                  <a:lumOff val="5000"/>
                </a:schemeClr>
              </a:solidFill>
              <a:effectLst>
                <a:outerShdw blurRad="38100" dist="38100" dir="2700000" algn="tl">
                  <a:srgbClr val="000000">
                    <a:alpha val="43137"/>
                  </a:srgbClr>
                </a:outerShdw>
              </a:effectLst>
            </a:endParaRPr>
          </a:p>
        </p:txBody>
      </p:sp>
      <p:sp>
        <p:nvSpPr>
          <p:cNvPr id="16" name="מלבן 15">
            <a:extLst>
              <a:ext uri="{FF2B5EF4-FFF2-40B4-BE49-F238E27FC236}">
                <a16:creationId xmlns:a16="http://schemas.microsoft.com/office/drawing/2014/main" id="{7260B7DC-2B62-4424-8418-4F33ADEB01F4}"/>
              </a:ext>
            </a:extLst>
          </p:cNvPr>
          <p:cNvSpPr/>
          <p:nvPr/>
        </p:nvSpPr>
        <p:spPr>
          <a:xfrm>
            <a:off x="6620569" y="868574"/>
            <a:ext cx="6535838" cy="4770537"/>
          </a:xfrm>
          <a:prstGeom prst="rect">
            <a:avLst/>
          </a:prstGeom>
        </p:spPr>
        <p:txBody>
          <a:bodyPr wrap="square">
            <a:spAutoFit/>
          </a:bodyPr>
          <a:lstStyle/>
          <a:p>
            <a:pPr algn="l"/>
            <a:r>
              <a:rPr lang="en-US" sz="2400" b="1">
                <a:effectLst>
                  <a:outerShdw blurRad="38100" dist="38100" dir="2700000" algn="tl">
                    <a:srgbClr val="000000">
                      <a:alpha val="43137"/>
                    </a:srgbClr>
                  </a:outerShdw>
                </a:effectLst>
              </a:rPr>
              <a:t>Function Overloading (with lables only):</a:t>
            </a:r>
            <a:r>
              <a:rPr lang="he-IL" sz="2400" b="1">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fun int/print-value(x: int): console ()</a:t>
            </a:r>
          </a:p>
          <a:p>
            <a:pPr algn="l"/>
            <a:r>
              <a:rPr lang="en-US" sz="2000">
                <a:effectLst>
                  <a:outerShdw blurRad="38100" dist="38100" dir="2700000" algn="tl">
                    <a:srgbClr val="000000">
                      <a:alpha val="43137"/>
                    </a:srgbClr>
                  </a:outerShdw>
                </a:effectLst>
              </a:rPr>
              <a:t>  println("Integer: " ++ x.show)</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string/print-value(x: string): console ()</a:t>
            </a:r>
          </a:p>
          <a:p>
            <a:pPr algn="l"/>
            <a:r>
              <a:rPr lang="en-US" sz="2000">
                <a:effectLst>
                  <a:outerShdw blurRad="38100" dist="38100" dir="2700000" algn="tl">
                    <a:srgbClr val="000000">
                      <a:alpha val="43137"/>
                    </a:srgbClr>
                  </a:outerShdw>
                </a:effectLst>
              </a:rPr>
              <a:t>  println("String: " ++ x)</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bool/print-value(x: bool): console ()</a:t>
            </a:r>
          </a:p>
          <a:p>
            <a:pPr algn="l"/>
            <a:r>
              <a:rPr lang="en-US" sz="2000">
                <a:effectLst>
                  <a:outerShdw blurRad="38100" dist="38100" dir="2700000" algn="tl">
                    <a:srgbClr val="000000">
                      <a:alpha val="43137"/>
                    </a:srgbClr>
                  </a:outerShdw>
                </a:effectLst>
              </a:rPr>
              <a:t>  println("Boolean: " ++ x.show)</a:t>
            </a:r>
          </a:p>
          <a:p>
            <a:pPr algn="l"/>
            <a:endParaRPr lang="en-US" sz="2000">
              <a:effectLst>
                <a:outerShdw blurRad="38100" dist="38100" dir="2700000" algn="tl">
                  <a:srgbClr val="000000">
                    <a:alpha val="43137"/>
                  </a:srgbClr>
                </a:outerShdw>
              </a:effectLst>
            </a:endParaRPr>
          </a:p>
          <a:p>
            <a:pPr algn="l"/>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print-value(42)        </a:t>
            </a:r>
          </a:p>
          <a:p>
            <a:pPr algn="l"/>
            <a:r>
              <a:rPr lang="en-US" sz="2000">
                <a:effectLst>
                  <a:outerShdw blurRad="38100" dist="38100" dir="2700000" algn="tl">
                    <a:srgbClr val="000000">
                      <a:alpha val="43137"/>
                    </a:srgbClr>
                  </a:outerShdw>
                </a:effectLst>
              </a:rPr>
              <a:t>  print-value("Koka")     </a:t>
            </a:r>
          </a:p>
          <a:p>
            <a:pPr algn="l"/>
            <a:r>
              <a:rPr lang="en-US" sz="2000">
                <a:effectLst>
                  <a:outerShdw blurRad="38100" dist="38100" dir="2700000" algn="tl">
                    <a:srgbClr val="000000">
                      <a:alpha val="43137"/>
                    </a:srgbClr>
                  </a:outerShdw>
                </a:effectLst>
              </a:rPr>
              <a:t>  print-value(True)    </a:t>
            </a:r>
          </a:p>
          <a:p>
            <a:pPr algn="l"/>
            <a:endParaRPr lang="en-US" sz="2000" b="0">
              <a:solidFill>
                <a:schemeClr val="tx1">
                  <a:lumMod val="95000"/>
                  <a:lumOff val="5000"/>
                </a:schemeClr>
              </a:solidFill>
              <a:effectLst>
                <a:outerShdw blurRad="38100" dist="38100" dir="2700000" algn="tl">
                  <a:srgbClr val="000000">
                    <a:alpha val="43137"/>
                  </a:srgbClr>
                </a:outerShdw>
              </a:effectLst>
            </a:endParaRPr>
          </a:p>
        </p:txBody>
      </p:sp>
      <p:pic>
        <p:nvPicPr>
          <p:cNvPr id="18" name="תמונה 17">
            <a:extLst>
              <a:ext uri="{FF2B5EF4-FFF2-40B4-BE49-F238E27FC236}">
                <a16:creationId xmlns:a16="http://schemas.microsoft.com/office/drawing/2014/main" id="{DDC0C372-64D9-4FC2-9836-4610DE6A4D13}"/>
              </a:ext>
            </a:extLst>
          </p:cNvPr>
          <p:cNvPicPr>
            <a:picLocks noChangeAspect="1"/>
          </p:cNvPicPr>
          <p:nvPr/>
        </p:nvPicPr>
        <p:blipFill>
          <a:blip r:embed="rId4"/>
          <a:stretch>
            <a:fillRect/>
          </a:stretch>
        </p:blipFill>
        <p:spPr>
          <a:xfrm>
            <a:off x="1653761" y="5228849"/>
            <a:ext cx="2424386" cy="544608"/>
          </a:xfrm>
          <a:prstGeom prst="rect">
            <a:avLst/>
          </a:prstGeom>
        </p:spPr>
      </p:pic>
      <p:pic>
        <p:nvPicPr>
          <p:cNvPr id="19" name="תמונה 18">
            <a:extLst>
              <a:ext uri="{FF2B5EF4-FFF2-40B4-BE49-F238E27FC236}">
                <a16:creationId xmlns:a16="http://schemas.microsoft.com/office/drawing/2014/main" id="{F32B586D-41B7-4657-8ABF-862CA4233A80}"/>
              </a:ext>
            </a:extLst>
          </p:cNvPr>
          <p:cNvPicPr>
            <a:picLocks noChangeAspect="1"/>
          </p:cNvPicPr>
          <p:nvPr/>
        </p:nvPicPr>
        <p:blipFill>
          <a:blip r:embed="rId5"/>
          <a:stretch>
            <a:fillRect/>
          </a:stretch>
        </p:blipFill>
        <p:spPr>
          <a:xfrm>
            <a:off x="7466012" y="5553114"/>
            <a:ext cx="1679433" cy="1039649"/>
          </a:xfrm>
          <a:prstGeom prst="rect">
            <a:avLst/>
          </a:prstGeom>
        </p:spPr>
      </p:pic>
    </p:spTree>
    <p:extLst>
      <p:ext uri="{BB962C8B-B14F-4D97-AF65-F5344CB8AC3E}">
        <p14:creationId xmlns:p14="http://schemas.microsoft.com/office/powerpoint/2010/main" val="78347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7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7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7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80A19462-3BA3-4963-A13D-C9C9F68656C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7" name="מלבן 6">
            <a:extLst>
              <a:ext uri="{FF2B5EF4-FFF2-40B4-BE49-F238E27FC236}">
                <a16:creationId xmlns:a16="http://schemas.microsoft.com/office/drawing/2014/main" id="{A53641B4-C62E-40C7-A38F-8AD0E1B9C984}"/>
              </a:ext>
            </a:extLst>
          </p:cNvPr>
          <p:cNvSpPr/>
          <p:nvPr/>
        </p:nvSpPr>
        <p:spPr>
          <a:xfrm>
            <a:off x="12313824" y="-99881"/>
            <a:ext cx="5432827" cy="1354217"/>
          </a:xfrm>
          <a:prstGeom prst="rect">
            <a:avLst/>
          </a:prstGeom>
        </p:spPr>
        <p:txBody>
          <a:bodyPr wrap="square">
            <a:spAutoFit/>
          </a:bodyPr>
          <a:lstStyle/>
          <a:p>
            <a:pPr lvl="0" eaLnBrk="0" fontAlgn="base" hangingPunct="0">
              <a:spcBef>
                <a:spcPct val="0"/>
              </a:spcBef>
              <a:spcAft>
                <a:spcPct val="0"/>
              </a:spcAft>
            </a:pPr>
            <a:r>
              <a:rPr lang="he-IL" altLang="he-IL" sz="1600">
                <a:latin typeface="Arial" panose="020B0604020202020204" pitchFamily="34" charset="0"/>
              </a:rPr>
              <a:t> קוקה תומכת במודולים לארגון קוד והסתרת מידע.</a:t>
            </a:r>
          </a:p>
          <a:p>
            <a:pPr eaLnBrk="0" fontAlgn="base" hangingPunct="0">
              <a:spcBef>
                <a:spcPct val="0"/>
              </a:spcBef>
              <a:spcAft>
                <a:spcPct val="0"/>
              </a:spcAft>
            </a:pPr>
            <a:r>
              <a:rPr lang="he-IL" altLang="he-IL" sz="1600">
                <a:latin typeface="Arial" panose="020B0604020202020204" pitchFamily="34" charset="0"/>
              </a:rPr>
              <a:t>בדוגמא פה הקוד מחולק ל2 מודולים שונים- הגישה לפונקציות מהמודול השני היא באמצעות שם המודל/ (</a:t>
            </a:r>
            <a:r>
              <a:rPr lang="en-US"/>
              <a:t>safe/</a:t>
            </a:r>
            <a:r>
              <a:rPr lang="he-IL" altLang="he-IL" sz="1600">
                <a:latin typeface="Arial" panose="020B0604020202020204" pitchFamily="34" charset="0"/>
              </a:rPr>
              <a:t>)</a:t>
            </a:r>
          </a:p>
          <a:p>
            <a:pPr eaLnBrk="0" fontAlgn="base" hangingPunct="0">
              <a:spcBef>
                <a:spcPct val="0"/>
              </a:spcBef>
              <a:spcAft>
                <a:spcPct val="0"/>
              </a:spcAft>
            </a:pPr>
            <a:r>
              <a:rPr lang="he-IL" altLang="he-IL" sz="1600">
                <a:latin typeface="Arial" panose="020B0604020202020204" pitchFamily="34" charset="0"/>
              </a:rPr>
              <a:t>אפשר לגשת ישירות רק לפונקציות שהן ציבוריות- ברירת המחדל של פונקציות היא שהן פרטיות.</a:t>
            </a:r>
          </a:p>
        </p:txBody>
      </p:sp>
      <p:sp>
        <p:nvSpPr>
          <p:cNvPr id="8" name="מלבן 7">
            <a:extLst>
              <a:ext uri="{FF2B5EF4-FFF2-40B4-BE49-F238E27FC236}">
                <a16:creationId xmlns:a16="http://schemas.microsoft.com/office/drawing/2014/main" id="{34D224B9-4B65-4EA1-8744-702F15EC2454}"/>
              </a:ext>
            </a:extLst>
          </p:cNvPr>
          <p:cNvSpPr/>
          <p:nvPr/>
        </p:nvSpPr>
        <p:spPr>
          <a:xfrm>
            <a:off x="796599" y="1059312"/>
            <a:ext cx="5432827" cy="5632311"/>
          </a:xfrm>
          <a:prstGeom prst="rect">
            <a:avLst/>
          </a:prstGeom>
        </p:spPr>
        <p:txBody>
          <a:bodyPr wrap="square">
            <a:spAutoFit/>
          </a:bodyPr>
          <a:lstStyle/>
          <a:p>
            <a:pPr algn="l"/>
            <a:r>
              <a:rPr lang="en-US" sz="2000">
                <a:solidFill>
                  <a:srgbClr val="009A46"/>
                </a:solidFill>
                <a:effectLst>
                  <a:outerShdw blurRad="38100" dist="38100" dir="2700000" algn="tl">
                    <a:srgbClr val="000000">
                      <a:alpha val="43137"/>
                    </a:srgbClr>
                  </a:outerShdw>
                </a:effectLst>
              </a:rPr>
              <a:t>// safe.kk</a:t>
            </a:r>
          </a:p>
          <a:p>
            <a:pPr algn="l"/>
            <a:r>
              <a:rPr lang="en-US" sz="2000">
                <a:solidFill>
                  <a:schemeClr val="tx1">
                    <a:lumMod val="95000"/>
                    <a:lumOff val="5000"/>
                  </a:schemeClr>
                </a:solidFill>
                <a:effectLst>
                  <a:outerShdw blurRad="38100" dist="38100" dir="2700000" algn="tl">
                    <a:srgbClr val="000000">
                      <a:alpha val="43137"/>
                    </a:srgbClr>
                  </a:outerShdw>
                </a:effectLst>
              </a:rPr>
              <a:t>module safe</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abstract struct box </a:t>
            </a:r>
            <a:r>
              <a:rPr lang="en-US" sz="2000">
                <a:solidFill>
                  <a:srgbClr val="009900"/>
                </a:solidFill>
                <a:effectLst>
                  <a:outerShdw blurRad="38100" dist="38100" dir="2700000" algn="tl">
                    <a:srgbClr val="000000">
                      <a:alpha val="43137"/>
                    </a:srgbClr>
                  </a:outerShdw>
                </a:effectLst>
              </a:rPr>
              <a:t>//in this way- secret is private</a:t>
            </a:r>
          </a:p>
          <a:p>
            <a:pPr algn="l"/>
            <a:r>
              <a:rPr lang="en-US" sz="2000">
                <a:solidFill>
                  <a:schemeClr val="tx1">
                    <a:lumMod val="95000"/>
                    <a:lumOff val="5000"/>
                  </a:schemeClr>
                </a:solidFill>
                <a:effectLst>
                  <a:outerShdw blurRad="38100" dist="38100" dir="2700000" algn="tl">
                    <a:srgbClr val="000000">
                      <a:alpha val="43137"/>
                    </a:srgbClr>
                  </a:outerShdw>
                </a:effectLst>
              </a:rPr>
              <a:t>  secret: string</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Private - hidden</a:t>
            </a:r>
          </a:p>
          <a:p>
            <a:pPr algn="l"/>
            <a:r>
              <a:rPr lang="en-US" sz="2000">
                <a:solidFill>
                  <a:schemeClr val="tx1">
                    <a:lumMod val="95000"/>
                    <a:lumOff val="5000"/>
                  </a:schemeClr>
                </a:solidFill>
                <a:effectLst>
                  <a:outerShdw blurRad="38100" dist="38100" dir="2700000" algn="tl">
                    <a:srgbClr val="000000">
                      <a:alpha val="43137"/>
                    </a:srgbClr>
                  </a:outerShdw>
                </a:effectLst>
              </a:rPr>
              <a:t>fun check(box: box, guess: string): bool</a:t>
            </a:r>
          </a:p>
          <a:p>
            <a:pPr algn="l"/>
            <a:r>
              <a:rPr lang="en-US" sz="2000">
                <a:solidFill>
                  <a:schemeClr val="tx1">
                    <a:lumMod val="95000"/>
                    <a:lumOff val="5000"/>
                  </a:schemeClr>
                </a:solidFill>
                <a:effectLst>
                  <a:outerShdw blurRad="38100" dist="38100" dir="2700000" algn="tl">
                    <a:srgbClr val="000000">
                      <a:alpha val="43137"/>
                    </a:srgbClr>
                  </a:outerShdw>
                </a:effectLst>
              </a:rPr>
              <a:t>  box.secret == guess</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rgbClr val="009A46"/>
                </a:solidFill>
                <a:effectLst>
                  <a:outerShdw blurRad="38100" dist="38100" dir="2700000" algn="tl">
                    <a:srgbClr val="000000">
                      <a:alpha val="43137"/>
                    </a:srgbClr>
                  </a:outerShdw>
                </a:effectLst>
              </a:rPr>
              <a:t>// Public </a:t>
            </a:r>
          </a:p>
          <a:p>
            <a:pPr algn="l"/>
            <a:r>
              <a:rPr lang="en-US" sz="2000">
                <a:solidFill>
                  <a:schemeClr val="tx1">
                    <a:lumMod val="95000"/>
                    <a:lumOff val="5000"/>
                  </a:schemeClr>
                </a:solidFill>
                <a:effectLst>
                  <a:outerShdw blurRad="38100" dist="38100" dir="2700000" algn="tl">
                    <a:srgbClr val="000000">
                      <a:alpha val="43137"/>
                    </a:srgbClr>
                  </a:outerShdw>
                </a:effectLst>
              </a:rPr>
              <a:t>pub fun make-box(secret: string): box</a:t>
            </a:r>
          </a:p>
          <a:p>
            <a:pPr algn="l"/>
            <a:r>
              <a:rPr lang="en-US" sz="2000">
                <a:solidFill>
                  <a:schemeClr val="tx1">
                    <a:lumMod val="95000"/>
                    <a:lumOff val="5000"/>
                  </a:schemeClr>
                </a:solidFill>
                <a:effectLst>
                  <a:outerShdw blurRad="38100" dist="38100" dir="2700000" algn="tl">
                    <a:srgbClr val="000000">
                      <a:alpha val="43137"/>
                    </a:srgbClr>
                  </a:outerShdw>
                </a:effectLst>
              </a:rPr>
              <a:t>  Box(secret)</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pub fun open(box: box, guess: string): string</a:t>
            </a:r>
          </a:p>
          <a:p>
            <a:pPr algn="l"/>
            <a:r>
              <a:rPr lang="en-US" sz="2000">
                <a:solidFill>
                  <a:schemeClr val="tx1">
                    <a:lumMod val="95000"/>
                    <a:lumOff val="5000"/>
                  </a:schemeClr>
                </a:solidFill>
                <a:effectLst>
                  <a:outerShdw blurRad="38100" dist="38100" dir="2700000" algn="tl">
                    <a:srgbClr val="000000">
                      <a:alpha val="43137"/>
                    </a:srgbClr>
                  </a:outerShdw>
                </a:effectLst>
              </a:rPr>
              <a:t>  if check(box, guess) then "Open!" else "Locked!"</a:t>
            </a:r>
          </a:p>
          <a:p>
            <a:pPr algn="l"/>
            <a:br>
              <a:rPr lang="en-US" sz="2000">
                <a:solidFill>
                  <a:schemeClr val="tx1">
                    <a:lumMod val="95000"/>
                    <a:lumOff val="5000"/>
                  </a:schemeClr>
                </a:solidFill>
                <a:effectLst>
                  <a:outerShdw blurRad="38100" dist="38100" dir="2700000" algn="tl">
                    <a:srgbClr val="000000">
                      <a:alpha val="43137"/>
                    </a:srgbClr>
                  </a:outerShdw>
                </a:effectLst>
              </a:rPr>
            </a:br>
            <a:endParaRPr lang="en-US" sz="2000">
              <a:solidFill>
                <a:schemeClr val="tx1">
                  <a:lumMod val="95000"/>
                  <a:lumOff val="5000"/>
                </a:schemeClr>
              </a:solidFill>
              <a:effectLst>
                <a:outerShdw blurRad="38100" dist="38100" dir="2700000" algn="tl">
                  <a:srgbClr val="000000">
                    <a:alpha val="43137"/>
                  </a:srgbClr>
                </a:outerShdw>
              </a:effectLst>
            </a:endParaRPr>
          </a:p>
        </p:txBody>
      </p:sp>
      <p:sp>
        <p:nvSpPr>
          <p:cNvPr id="3" name="מלבן 2">
            <a:extLst>
              <a:ext uri="{FF2B5EF4-FFF2-40B4-BE49-F238E27FC236}">
                <a16:creationId xmlns:a16="http://schemas.microsoft.com/office/drawing/2014/main" id="{41439188-16F7-4E57-8A8C-C2237D5C38BE}"/>
              </a:ext>
            </a:extLst>
          </p:cNvPr>
          <p:cNvSpPr/>
          <p:nvPr/>
        </p:nvSpPr>
        <p:spPr>
          <a:xfrm>
            <a:off x="6096000" y="1059312"/>
            <a:ext cx="6096000" cy="2554545"/>
          </a:xfrm>
          <a:prstGeom prst="rect">
            <a:avLst/>
          </a:prstGeom>
        </p:spPr>
        <p:txBody>
          <a:bodyPr>
            <a:spAutoFit/>
          </a:bodyPr>
          <a:lstStyle/>
          <a:p>
            <a:pPr algn="l"/>
            <a:r>
              <a:rPr lang="en-US" sz="2000">
                <a:solidFill>
                  <a:srgbClr val="009A46"/>
                </a:solidFill>
                <a:effectLst>
                  <a:outerShdw blurRad="38100" dist="38100" dir="2700000" algn="tl">
                    <a:srgbClr val="000000">
                      <a:alpha val="43137"/>
                    </a:srgbClr>
                  </a:outerShdw>
                </a:effectLst>
              </a:rPr>
              <a:t>// main.kk</a:t>
            </a:r>
          </a:p>
          <a:p>
            <a:pPr algn="l"/>
            <a:r>
              <a:rPr lang="en-US" sz="2000">
                <a:solidFill>
                  <a:schemeClr val="tx1">
                    <a:lumMod val="95000"/>
                    <a:lumOff val="5000"/>
                  </a:schemeClr>
                </a:solidFill>
                <a:effectLst>
                  <a:outerShdw blurRad="38100" dist="38100" dir="2700000" algn="tl">
                    <a:srgbClr val="000000">
                      <a:alpha val="43137"/>
                    </a:srgbClr>
                  </a:outerShdw>
                </a:effectLst>
              </a:rPr>
              <a:t>import safe</a:t>
            </a:r>
          </a:p>
          <a:p>
            <a:pPr algn="l"/>
            <a:br>
              <a:rPr lang="en-US" sz="2000">
                <a:solidFill>
                  <a:schemeClr val="tx1">
                    <a:lumMod val="95000"/>
                    <a:lumOff val="5000"/>
                  </a:schemeClr>
                </a:solidFill>
                <a:effectLst>
                  <a:outerShdw blurRad="38100" dist="38100" dir="2700000" algn="tl">
                    <a:srgbClr val="000000">
                      <a:alpha val="43137"/>
                    </a:srgbClr>
                  </a:outerShdw>
                </a:effectLst>
              </a:rPr>
            </a:br>
            <a:r>
              <a:rPr lang="en-US" sz="2000">
                <a:solidFill>
                  <a:schemeClr val="tx1">
                    <a:lumMod val="95000"/>
                    <a:lumOff val="5000"/>
                  </a:schemeClr>
                </a:solidFill>
                <a:effectLst>
                  <a:outerShdw blurRad="38100" dist="38100" dir="2700000" algn="tl">
                    <a:srgbClr val="000000">
                      <a:alpha val="43137"/>
                    </a:srgbClr>
                  </a:outerShdw>
                </a:effectLst>
              </a:rPr>
              <a:t>fun main()</a:t>
            </a:r>
          </a:p>
          <a:p>
            <a:pPr algn="l"/>
            <a:r>
              <a:rPr lang="en-US" sz="2000">
                <a:solidFill>
                  <a:schemeClr val="tx1">
                    <a:lumMod val="95000"/>
                    <a:lumOff val="5000"/>
                  </a:schemeClr>
                </a:solidFill>
                <a:effectLst>
                  <a:outerShdw blurRad="38100" dist="38100" dir="2700000" algn="tl">
                    <a:srgbClr val="000000">
                      <a:alpha val="43137"/>
                    </a:srgbClr>
                  </a:outerShdw>
                </a:effectLst>
              </a:rPr>
              <a:t>  val b = safe/make-box("123")</a:t>
            </a:r>
          </a:p>
          <a:p>
            <a:pPr algn="l"/>
            <a:r>
              <a:rPr lang="en-US" sz="2000">
                <a:solidFill>
                  <a:schemeClr val="tx1">
                    <a:lumMod val="95000"/>
                    <a:lumOff val="5000"/>
                  </a:schemeClr>
                </a:solidFill>
                <a:effectLst>
                  <a:outerShdw blurRad="38100" dist="38100" dir="2700000" algn="tl">
                    <a:srgbClr val="000000">
                      <a:alpha val="43137"/>
                    </a:srgbClr>
                  </a:outerShdw>
                </a:effectLst>
              </a:rPr>
              <a:t>  println(safe/open(b, "wrong"))    </a:t>
            </a:r>
            <a:r>
              <a:rPr lang="en-US" sz="2000">
                <a:solidFill>
                  <a:srgbClr val="009A46"/>
                </a:solidFill>
                <a:effectLst>
                  <a:outerShdw blurRad="38100" dist="38100" dir="2700000" algn="tl">
                    <a:srgbClr val="000000">
                      <a:alpha val="43137"/>
                    </a:srgbClr>
                  </a:outerShdw>
                </a:effectLst>
              </a:rPr>
              <a:t>// Locked!</a:t>
            </a:r>
          </a:p>
          <a:p>
            <a:pPr algn="l"/>
            <a:r>
              <a:rPr lang="en-US" sz="2000">
                <a:solidFill>
                  <a:schemeClr val="tx1">
                    <a:lumMod val="95000"/>
                    <a:lumOff val="5000"/>
                  </a:schemeClr>
                </a:solidFill>
                <a:effectLst>
                  <a:outerShdw blurRad="38100" dist="38100" dir="2700000" algn="tl">
                    <a:srgbClr val="000000">
                      <a:alpha val="43137"/>
                    </a:srgbClr>
                  </a:outerShdw>
                </a:effectLst>
              </a:rPr>
              <a:t>  println(safe/open(b, "123"))    </a:t>
            </a:r>
            <a:r>
              <a:rPr lang="en-US" sz="2000">
                <a:solidFill>
                  <a:srgbClr val="009A46"/>
                </a:solidFill>
                <a:effectLst>
                  <a:outerShdw blurRad="38100" dist="38100" dir="2700000" algn="tl">
                    <a:srgbClr val="000000">
                      <a:alpha val="43137"/>
                    </a:srgbClr>
                  </a:outerShdw>
                </a:effectLst>
              </a:rPr>
              <a:t>// Open!</a:t>
            </a:r>
          </a:p>
          <a:p>
            <a:pPr algn="l"/>
            <a:r>
              <a:rPr lang="en-US" sz="2000">
                <a:solidFill>
                  <a:schemeClr val="tx1">
                    <a:lumMod val="95000"/>
                    <a:lumOff val="5000"/>
                  </a:schemeClr>
                </a:solidFill>
                <a:effectLst>
                  <a:outerShdw blurRad="38100" dist="38100" dir="2700000" algn="tl">
                    <a:srgbClr val="000000">
                      <a:alpha val="43137"/>
                    </a:srgbClr>
                  </a:outerShdw>
                </a:effectLst>
              </a:rPr>
              <a:t>  println(safe/ check(b, "123"))     </a:t>
            </a:r>
            <a:r>
              <a:rPr lang="en-US" sz="2000">
                <a:solidFill>
                  <a:srgbClr val="009A46"/>
                </a:solidFill>
                <a:effectLst>
                  <a:outerShdw blurRad="38100" dist="38100" dir="2700000" algn="tl">
                    <a:srgbClr val="000000">
                      <a:alpha val="43137"/>
                    </a:srgbClr>
                  </a:outerShdw>
                </a:effectLst>
              </a:rPr>
              <a:t>// Error - hidden!</a:t>
            </a:r>
          </a:p>
        </p:txBody>
      </p:sp>
      <p:sp>
        <p:nvSpPr>
          <p:cNvPr id="9" name="TextBox 8">
            <a:extLst>
              <a:ext uri="{FF2B5EF4-FFF2-40B4-BE49-F238E27FC236}">
                <a16:creationId xmlns:a16="http://schemas.microsoft.com/office/drawing/2014/main" id="{977632F3-D262-4337-8A49-D962C6A1FAB3}"/>
              </a:ext>
            </a:extLst>
          </p:cNvPr>
          <p:cNvSpPr txBox="1"/>
          <p:nvPr/>
        </p:nvSpPr>
        <p:spPr>
          <a:xfrm>
            <a:off x="4764912" y="149453"/>
            <a:ext cx="2662176" cy="584775"/>
          </a:xfrm>
          <a:prstGeom prst="rect">
            <a:avLst/>
          </a:prstGeom>
          <a:noFill/>
        </p:spPr>
        <p:txBody>
          <a:bodyPr wrap="square" rtlCol="1">
            <a:spAutoFit/>
          </a:bodyPr>
          <a:lstStyle/>
          <a:p>
            <a:r>
              <a:rPr lang="en-US" sz="3200">
                <a:effectLst>
                  <a:outerShdw blurRad="38100" dist="38100" dir="2700000" algn="tl">
                    <a:srgbClr val="000000">
                      <a:alpha val="43137"/>
                    </a:srgbClr>
                  </a:outerShdw>
                </a:effectLst>
              </a:rPr>
              <a:t>Encapsulation</a:t>
            </a:r>
            <a:endParaRPr lang="he-IL" sz="3200">
              <a:effectLst>
                <a:outerShdw blurRad="38100" dist="38100" dir="2700000" algn="tl">
                  <a:srgbClr val="000000">
                    <a:alpha val="43137"/>
                  </a:srgbClr>
                </a:outerShdw>
              </a:effectLst>
            </a:endParaRPr>
          </a:p>
        </p:txBody>
      </p:sp>
      <p:sp>
        <p:nvSpPr>
          <p:cNvPr id="11" name="מלבן 10">
            <a:extLst>
              <a:ext uri="{FF2B5EF4-FFF2-40B4-BE49-F238E27FC236}">
                <a16:creationId xmlns:a16="http://schemas.microsoft.com/office/drawing/2014/main" id="{1546461E-E4DD-48C7-877B-4625F81A3D7C}"/>
              </a:ext>
            </a:extLst>
          </p:cNvPr>
          <p:cNvSpPr/>
          <p:nvPr/>
        </p:nvSpPr>
        <p:spPr>
          <a:xfrm>
            <a:off x="12559389" y="1254336"/>
            <a:ext cx="5187262" cy="5262979"/>
          </a:xfrm>
          <a:prstGeom prst="rect">
            <a:avLst/>
          </a:prstGeom>
        </p:spPr>
        <p:txBody>
          <a:bodyPr wrap="square">
            <a:spAutoFit/>
          </a:bodyPr>
          <a:lstStyle/>
          <a:p>
            <a:r>
              <a:rPr lang="he-IL" sz="1600" b="1"/>
              <a:t>הכמסה -</a:t>
            </a:r>
            <a:r>
              <a:rPr lang="en-US" sz="1600" b="1"/>
              <a:t>Encapsulation</a:t>
            </a:r>
            <a:r>
              <a:rPr lang="en-US" sz="1600"/>
              <a:t> </a:t>
            </a:r>
            <a:r>
              <a:rPr lang="he-IL" sz="1600"/>
              <a:t> היא עיקרון בתכנות מונחה עצמים שמסתיר את המימוש הפנימי של אובייקט או טיפוס ומאפשר גישה רק דרך ממשק מבוקר, בדרך כלל פונקציות ציבוריות. זה מגן על הנתונים, שומר על בקרה על החשיפה ומאפשר לשנות את המימוש בלי לפגוע בקוד החיצוני.</a:t>
            </a:r>
          </a:p>
          <a:p>
            <a:r>
              <a:rPr lang="he-IL" sz="1600"/>
              <a:t>שפת</a:t>
            </a:r>
            <a:r>
              <a:rPr lang="en-US" sz="1600"/>
              <a:t>Koka </a:t>
            </a:r>
            <a:r>
              <a:rPr lang="he-IL" sz="1600"/>
              <a:t> תומכת בהכמסה, אך לא באופן מלא כמו בשפות </a:t>
            </a:r>
            <a:r>
              <a:rPr lang="en-US" sz="1600"/>
              <a:t>OOP. </a:t>
            </a:r>
            <a:r>
              <a:rPr lang="he-IL" sz="1600"/>
              <a:t> </a:t>
            </a:r>
          </a:p>
          <a:p>
            <a:r>
              <a:rPr lang="he-IL" sz="1600"/>
              <a:t>היא משתמשת בכלים פונקציונליים להסתיר מידע ולשלוט בגישה, אך אין בה מחלקות עם שדות פרטיים.</a:t>
            </a:r>
          </a:p>
          <a:p>
            <a:r>
              <a:rPr lang="he-IL" sz="1600"/>
              <a:t>הכמסה בקוקה מתבצעת דרך:</a:t>
            </a:r>
          </a:p>
          <a:p>
            <a:r>
              <a:rPr lang="he-IL" sz="1600" b="1"/>
              <a:t>טיפוסים אטומים</a:t>
            </a:r>
            <a:r>
              <a:rPr lang="he-IL" sz="1600"/>
              <a:t> </a:t>
            </a:r>
            <a:r>
              <a:rPr lang="en-US" sz="1600"/>
              <a:t>Opaque types </a:t>
            </a:r>
            <a:r>
              <a:rPr lang="he-IL" sz="1600"/>
              <a:t>- שמסתירים את המבנה הפנימי.</a:t>
            </a:r>
          </a:p>
          <a:p>
            <a:r>
              <a:rPr lang="he-IL" sz="1600" b="1"/>
              <a:t>מודולים עם בקרת גישה</a:t>
            </a:r>
            <a:r>
              <a:rPr lang="he-IL" sz="1600"/>
              <a:t> </a:t>
            </a:r>
            <a:r>
              <a:rPr lang="en-US" sz="1600"/>
              <a:t>public/private </a:t>
            </a:r>
            <a:r>
              <a:rPr lang="he-IL" sz="1600"/>
              <a:t> - לשליטה על החשיפה.</a:t>
            </a:r>
          </a:p>
          <a:p>
            <a:r>
              <a:rPr lang="he-IL" sz="1600" b="1"/>
              <a:t>מבני נתונים בלתי־משתנים</a:t>
            </a:r>
            <a:r>
              <a:rPr lang="he-IL" sz="1600"/>
              <a:t> </a:t>
            </a:r>
            <a:r>
              <a:rPr lang="en-US" sz="1600"/>
              <a:t>Immutable </a:t>
            </a:r>
            <a:r>
              <a:rPr lang="he-IL" sz="1600"/>
              <a:t>- שמונעים שינוי ישיר של ערכים.</a:t>
            </a:r>
          </a:p>
          <a:p>
            <a:r>
              <a:rPr lang="he-IL" sz="1600"/>
              <a:t>עם זאת, התמיכה בקוקה היא חלקית, כי אין מחלקות עם שדות פרטיים, אין שליטה פרטנית על שדות, ואין הכמסה פנימית מורכבת כמו בשפות </a:t>
            </a:r>
            <a:r>
              <a:rPr lang="en-US" sz="1600"/>
              <a:t> OOP</a:t>
            </a:r>
          </a:p>
          <a:p>
            <a:r>
              <a:rPr lang="en-US" sz="1600"/>
              <a:t> </a:t>
            </a:r>
            <a:r>
              <a:rPr lang="he-IL" sz="1600"/>
              <a:t>לכן, הקוד בקוקה נהנה מהכמסה פונקציונלית, אך לא מלאה.</a:t>
            </a:r>
          </a:p>
          <a:p>
            <a:endParaRPr lang="he-IL" sz="1600"/>
          </a:p>
        </p:txBody>
      </p:sp>
    </p:spTree>
    <p:extLst>
      <p:ext uri="{BB962C8B-B14F-4D97-AF65-F5344CB8AC3E}">
        <p14:creationId xmlns:p14="http://schemas.microsoft.com/office/powerpoint/2010/main" val="1713544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714EEA89-46E0-4D4F-9582-F423A195DB9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8100C439-6F79-4892-B792-9C9C4E008492}"/>
              </a:ext>
            </a:extLst>
          </p:cNvPr>
          <p:cNvSpPr/>
          <p:nvPr/>
        </p:nvSpPr>
        <p:spPr>
          <a:xfrm>
            <a:off x="12820890" y="734228"/>
            <a:ext cx="4019309" cy="523220"/>
          </a:xfrm>
          <a:prstGeom prst="rect">
            <a:avLst/>
          </a:prstGeom>
        </p:spPr>
        <p:txBody>
          <a:bodyPr wrap="square">
            <a:spAutoFit/>
          </a:bodyPr>
          <a:lstStyle/>
          <a:p>
            <a:endParaRPr lang="he-IL" sz="1400"/>
          </a:p>
          <a:p>
            <a:endParaRPr lang="he-IL" sz="1400"/>
          </a:p>
        </p:txBody>
      </p:sp>
      <p:sp>
        <p:nvSpPr>
          <p:cNvPr id="7" name="מלבן 6">
            <a:extLst>
              <a:ext uri="{FF2B5EF4-FFF2-40B4-BE49-F238E27FC236}">
                <a16:creationId xmlns:a16="http://schemas.microsoft.com/office/drawing/2014/main" id="{E3C645B8-EB06-4368-9235-42590CF41AF7}"/>
              </a:ext>
            </a:extLst>
          </p:cNvPr>
          <p:cNvSpPr/>
          <p:nvPr/>
        </p:nvSpPr>
        <p:spPr>
          <a:xfrm>
            <a:off x="12782307" y="626507"/>
            <a:ext cx="3429001" cy="830997"/>
          </a:xfrm>
          <a:prstGeom prst="rect">
            <a:avLst/>
          </a:prstGeom>
        </p:spPr>
        <p:txBody>
          <a:bodyPr wrap="square">
            <a:spAutoFit/>
          </a:bodyPr>
          <a:lstStyle/>
          <a:p>
            <a:r>
              <a:rPr lang="he-IL" altLang="he-IL" sz="1600">
                <a:latin typeface="Arial" panose="020B0604020202020204" pitchFamily="34" charset="0"/>
              </a:rPr>
              <a:t>ב־Koka מטפלים בשגיאות באמצעות אפקט </a:t>
            </a:r>
            <a:r>
              <a:rPr lang="he-IL" altLang="he-IL" sz="1600">
                <a:latin typeface="Arial Unicode MS"/>
              </a:rPr>
              <a:t>exn</a:t>
            </a:r>
            <a:r>
              <a:rPr lang="he-IL" altLang="he-IL" sz="1600"/>
              <a:t>. פונקציה שמסומנת עם </a:t>
            </a:r>
            <a:r>
              <a:rPr lang="he-IL" altLang="he-IL" sz="1600">
                <a:latin typeface="Arial Unicode MS"/>
              </a:rPr>
              <a:t>&lt;exn&gt;</a:t>
            </a:r>
            <a:r>
              <a:rPr lang="he-IL" altLang="he-IL" sz="1600"/>
              <a:t> יכולה לזרוק שגיאה. </a:t>
            </a:r>
            <a:endParaRPr lang="he-IL" sz="1600"/>
          </a:p>
        </p:txBody>
      </p:sp>
      <p:sp>
        <p:nvSpPr>
          <p:cNvPr id="8" name="מלבן 7">
            <a:extLst>
              <a:ext uri="{FF2B5EF4-FFF2-40B4-BE49-F238E27FC236}">
                <a16:creationId xmlns:a16="http://schemas.microsoft.com/office/drawing/2014/main" id="{5861BC54-590B-45A5-A69F-3B19590DD8C2}"/>
              </a:ext>
            </a:extLst>
          </p:cNvPr>
          <p:cNvSpPr/>
          <p:nvPr/>
        </p:nvSpPr>
        <p:spPr>
          <a:xfrm>
            <a:off x="5112204" y="149453"/>
            <a:ext cx="1967591" cy="584775"/>
          </a:xfrm>
          <a:prstGeom prst="rect">
            <a:avLst/>
          </a:prstGeom>
        </p:spPr>
        <p:txBody>
          <a:bodyPr wrap="none">
            <a:spAutoFit/>
          </a:bodyPr>
          <a:lstStyle/>
          <a:p>
            <a:r>
              <a:rPr lang="en-US" sz="3200">
                <a:effectLst>
                  <a:outerShdw blurRad="38100" dist="38100" dir="2700000" algn="tl">
                    <a:srgbClr val="000000">
                      <a:alpha val="43137"/>
                    </a:srgbClr>
                  </a:outerShdw>
                </a:effectLst>
              </a:rPr>
              <a:t>exceptions</a:t>
            </a:r>
            <a:endParaRPr lang="he-IL" sz="3200">
              <a:effectLst>
                <a:outerShdw blurRad="38100" dist="38100" dir="2700000" algn="tl">
                  <a:srgbClr val="000000">
                    <a:alpha val="43137"/>
                  </a:srgbClr>
                </a:outerShdw>
              </a:effectLst>
            </a:endParaRPr>
          </a:p>
        </p:txBody>
      </p:sp>
      <p:sp>
        <p:nvSpPr>
          <p:cNvPr id="9" name="מלבן 8">
            <a:extLst>
              <a:ext uri="{FF2B5EF4-FFF2-40B4-BE49-F238E27FC236}">
                <a16:creationId xmlns:a16="http://schemas.microsoft.com/office/drawing/2014/main" id="{E2060902-D574-4E0B-80C7-EB255A2FBE36}"/>
              </a:ext>
            </a:extLst>
          </p:cNvPr>
          <p:cNvSpPr/>
          <p:nvPr/>
        </p:nvSpPr>
        <p:spPr>
          <a:xfrm>
            <a:off x="3442597" y="1280456"/>
            <a:ext cx="5306803" cy="2308324"/>
          </a:xfrm>
          <a:prstGeom prst="rect">
            <a:avLst/>
          </a:prstGeom>
        </p:spPr>
        <p:txBody>
          <a:bodyPr wrap="square">
            <a:spAutoFit/>
          </a:bodyPr>
          <a:lstStyle/>
          <a:p>
            <a:pPr algn="l"/>
            <a:r>
              <a:rPr lang="en-US" sz="2400">
                <a:solidFill>
                  <a:schemeClr val="tx1">
                    <a:lumMod val="95000"/>
                    <a:lumOff val="5000"/>
                  </a:schemeClr>
                </a:solidFill>
                <a:effectLst>
                  <a:outerShdw blurRad="38100" dist="38100" dir="2700000" algn="tl">
                    <a:srgbClr val="000000">
                      <a:alpha val="43137"/>
                    </a:srgbClr>
                  </a:outerShdw>
                </a:effectLst>
              </a:rPr>
              <a:t>fun safe-divide(x: int, y: int): &lt;exn&gt; int</a:t>
            </a:r>
          </a:p>
          <a:p>
            <a:pPr algn="l"/>
            <a:r>
              <a:rPr lang="en-US" sz="2400">
                <a:solidFill>
                  <a:schemeClr val="tx1">
                    <a:lumMod val="95000"/>
                    <a:lumOff val="5000"/>
                  </a:schemeClr>
                </a:solidFill>
                <a:effectLst>
                  <a:outerShdw blurRad="38100" dist="38100" dir="2700000" algn="tl">
                    <a:srgbClr val="000000">
                      <a:alpha val="43137"/>
                    </a:srgbClr>
                  </a:outerShdw>
                </a:effectLst>
              </a:rPr>
              <a:t>  if y == 0 then throw("Division by zero!")</a:t>
            </a:r>
          </a:p>
          <a:p>
            <a:pPr algn="l"/>
            <a:r>
              <a:rPr lang="en-US" sz="2400">
                <a:solidFill>
                  <a:schemeClr val="tx1">
                    <a:lumMod val="95000"/>
                    <a:lumOff val="5000"/>
                  </a:schemeClr>
                </a:solidFill>
                <a:effectLst>
                  <a:outerShdw blurRad="38100" dist="38100" dir="2700000" algn="tl">
                    <a:srgbClr val="000000">
                      <a:alpha val="43137"/>
                    </a:srgbClr>
                  </a:outerShdw>
                </a:effectLst>
              </a:rPr>
              <a:t>  else x / y</a:t>
            </a:r>
          </a:p>
          <a:p>
            <a:pPr algn="l"/>
            <a:br>
              <a:rPr lang="en-US" sz="2400">
                <a:solidFill>
                  <a:schemeClr val="tx1">
                    <a:lumMod val="95000"/>
                    <a:lumOff val="5000"/>
                  </a:schemeClr>
                </a:solidFill>
                <a:effectLst>
                  <a:outerShdw blurRad="38100" dist="38100" dir="2700000" algn="tl">
                    <a:srgbClr val="000000">
                      <a:alpha val="43137"/>
                    </a:srgbClr>
                  </a:outerShdw>
                </a:effectLst>
              </a:rPr>
            </a:br>
            <a:r>
              <a:rPr lang="en-US" sz="2400">
                <a:solidFill>
                  <a:schemeClr val="tx1">
                    <a:lumMod val="95000"/>
                    <a:lumOff val="5000"/>
                  </a:schemeClr>
                </a:solidFill>
                <a:effectLst>
                  <a:outerShdw blurRad="38100" dist="38100" dir="2700000" algn="tl">
                    <a:srgbClr val="000000">
                      <a:alpha val="43137"/>
                    </a:srgbClr>
                  </a:outerShdw>
                </a:effectLst>
              </a:rPr>
              <a:t>fun main()</a:t>
            </a:r>
          </a:p>
          <a:p>
            <a:pPr algn="l"/>
            <a:r>
              <a:rPr lang="en-US" sz="2400">
                <a:solidFill>
                  <a:schemeClr val="tx1">
                    <a:lumMod val="95000"/>
                    <a:lumOff val="5000"/>
                  </a:schemeClr>
                </a:solidFill>
                <a:effectLst>
                  <a:outerShdw blurRad="38100" dist="38100" dir="2700000" algn="tl">
                    <a:srgbClr val="000000">
                      <a:alpha val="43137"/>
                    </a:srgbClr>
                  </a:outerShdw>
                </a:effectLst>
              </a:rPr>
              <a:t>  println(safe-divide(10, 0))</a:t>
            </a:r>
            <a:endParaRPr lang="en-US" sz="2400" b="0">
              <a:solidFill>
                <a:schemeClr val="tx1">
                  <a:lumMod val="95000"/>
                  <a:lumOff val="5000"/>
                </a:schemeClr>
              </a:solidFill>
              <a:effectLst>
                <a:outerShdw blurRad="38100" dist="38100" dir="2700000" algn="tl">
                  <a:srgbClr val="000000">
                    <a:alpha val="43137"/>
                  </a:srgbClr>
                </a:outerShdw>
              </a:effectLst>
            </a:endParaRPr>
          </a:p>
        </p:txBody>
      </p:sp>
      <p:pic>
        <p:nvPicPr>
          <p:cNvPr id="10" name="תמונה 9">
            <a:extLst>
              <a:ext uri="{FF2B5EF4-FFF2-40B4-BE49-F238E27FC236}">
                <a16:creationId xmlns:a16="http://schemas.microsoft.com/office/drawing/2014/main" id="{3B07B9A6-948F-4E1D-8B67-DD6386F8E09D}"/>
              </a:ext>
            </a:extLst>
          </p:cNvPr>
          <p:cNvPicPr>
            <a:picLocks noChangeAspect="1"/>
          </p:cNvPicPr>
          <p:nvPr/>
        </p:nvPicPr>
        <p:blipFill>
          <a:blip r:embed="rId4"/>
          <a:stretch>
            <a:fillRect/>
          </a:stretch>
        </p:blipFill>
        <p:spPr>
          <a:xfrm>
            <a:off x="3442597" y="4135008"/>
            <a:ext cx="5306803" cy="507177"/>
          </a:xfrm>
          <a:prstGeom prst="rect">
            <a:avLst/>
          </a:prstGeom>
        </p:spPr>
      </p:pic>
    </p:spTree>
    <p:extLst>
      <p:ext uri="{BB962C8B-B14F-4D97-AF65-F5344CB8AC3E}">
        <p14:creationId xmlns:p14="http://schemas.microsoft.com/office/powerpoint/2010/main" val="399187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D25A9406-FFF1-4965-B010-481ED5992C6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8100C439-6F79-4892-B792-9C9C4E008492}"/>
              </a:ext>
            </a:extLst>
          </p:cNvPr>
          <p:cNvSpPr/>
          <p:nvPr/>
        </p:nvSpPr>
        <p:spPr>
          <a:xfrm>
            <a:off x="12820890" y="734228"/>
            <a:ext cx="4019309" cy="523220"/>
          </a:xfrm>
          <a:prstGeom prst="rect">
            <a:avLst/>
          </a:prstGeom>
        </p:spPr>
        <p:txBody>
          <a:bodyPr wrap="square">
            <a:spAutoFit/>
          </a:bodyPr>
          <a:lstStyle/>
          <a:p>
            <a:endParaRPr lang="he-IL" sz="1400"/>
          </a:p>
          <a:p>
            <a:endParaRPr lang="he-IL" sz="1400"/>
          </a:p>
        </p:txBody>
      </p:sp>
      <p:sp>
        <p:nvSpPr>
          <p:cNvPr id="7" name="מלבן 6">
            <a:extLst>
              <a:ext uri="{FF2B5EF4-FFF2-40B4-BE49-F238E27FC236}">
                <a16:creationId xmlns:a16="http://schemas.microsoft.com/office/drawing/2014/main" id="{E3C645B8-EB06-4368-9235-42590CF41AF7}"/>
              </a:ext>
            </a:extLst>
          </p:cNvPr>
          <p:cNvSpPr/>
          <p:nvPr/>
        </p:nvSpPr>
        <p:spPr>
          <a:xfrm>
            <a:off x="12361762" y="681727"/>
            <a:ext cx="3062467" cy="830997"/>
          </a:xfrm>
          <a:prstGeom prst="rect">
            <a:avLst/>
          </a:prstGeom>
        </p:spPr>
        <p:txBody>
          <a:bodyPr wrap="square">
            <a:spAutoFit/>
          </a:bodyPr>
          <a:lstStyle/>
          <a:p>
            <a:r>
              <a:rPr lang="he-IL" sz="1600"/>
              <a:t>טיפול בקבצים:</a:t>
            </a:r>
          </a:p>
          <a:p>
            <a:r>
              <a:rPr lang="he-IL" sz="1600"/>
              <a:t>קריאה וכתיבה לקובץ תתבצע לאחר ייבוא המודול-</a:t>
            </a:r>
            <a:r>
              <a:rPr lang="en-US" sz="1600"/>
              <a:t> std/os/file</a:t>
            </a:r>
          </a:p>
        </p:txBody>
      </p:sp>
      <p:sp>
        <p:nvSpPr>
          <p:cNvPr id="8" name="מלבן 7">
            <a:extLst>
              <a:ext uri="{FF2B5EF4-FFF2-40B4-BE49-F238E27FC236}">
                <a16:creationId xmlns:a16="http://schemas.microsoft.com/office/drawing/2014/main" id="{5861BC54-590B-45A5-A69F-3B19590DD8C2}"/>
              </a:ext>
            </a:extLst>
          </p:cNvPr>
          <p:cNvSpPr/>
          <p:nvPr/>
        </p:nvSpPr>
        <p:spPr>
          <a:xfrm>
            <a:off x="5632569" y="130180"/>
            <a:ext cx="926857" cy="584775"/>
          </a:xfrm>
          <a:prstGeom prst="rect">
            <a:avLst/>
          </a:prstGeom>
        </p:spPr>
        <p:txBody>
          <a:bodyPr wrap="none">
            <a:spAutoFit/>
          </a:bodyPr>
          <a:lstStyle/>
          <a:p>
            <a:r>
              <a:rPr lang="en-US" sz="3200">
                <a:effectLst>
                  <a:outerShdw blurRad="38100" dist="38100" dir="2700000" algn="tl">
                    <a:srgbClr val="000000">
                      <a:alpha val="43137"/>
                    </a:srgbClr>
                  </a:outerShdw>
                </a:effectLst>
              </a:rPr>
              <a:t>Files</a:t>
            </a:r>
            <a:endParaRPr lang="he-IL" sz="3200">
              <a:effectLst>
                <a:outerShdw blurRad="38100" dist="38100" dir="2700000" algn="tl">
                  <a:srgbClr val="000000">
                    <a:alpha val="43137"/>
                  </a:srgbClr>
                </a:outerShdw>
              </a:effectLst>
            </a:endParaRPr>
          </a:p>
        </p:txBody>
      </p:sp>
      <p:sp>
        <p:nvSpPr>
          <p:cNvPr id="3" name="מלבן 2">
            <a:extLst>
              <a:ext uri="{FF2B5EF4-FFF2-40B4-BE49-F238E27FC236}">
                <a16:creationId xmlns:a16="http://schemas.microsoft.com/office/drawing/2014/main" id="{13611626-9A50-4B8E-9667-5472440D0B4A}"/>
              </a:ext>
            </a:extLst>
          </p:cNvPr>
          <p:cNvSpPr/>
          <p:nvPr/>
        </p:nvSpPr>
        <p:spPr>
          <a:xfrm>
            <a:off x="394311" y="681727"/>
            <a:ext cx="9083040" cy="5324535"/>
          </a:xfrm>
          <a:prstGeom prst="rect">
            <a:avLst/>
          </a:prstGeom>
        </p:spPr>
        <p:txBody>
          <a:bodyPr wrap="square">
            <a:spAutoFit/>
          </a:bodyPr>
          <a:lstStyle/>
          <a:p>
            <a:pPr algn="l" rtl="0"/>
            <a:r>
              <a:rPr lang="en-US" sz="2000">
                <a:effectLst>
                  <a:outerShdw blurRad="38100" dist="38100" dir="2700000" algn="tl">
                    <a:srgbClr val="000000">
                      <a:alpha val="43137"/>
                    </a:srgbClr>
                  </a:outerShdw>
                </a:effectLst>
              </a:rPr>
              <a:t>import std/os/file</a:t>
            </a:r>
          </a:p>
          <a:p>
            <a:pPr algn="l" rtl="0"/>
            <a:r>
              <a:rPr lang="en-US" sz="2000">
                <a:effectLst>
                  <a:outerShdw blurRad="38100" dist="38100" dir="2700000" algn="tl">
                    <a:srgbClr val="000000">
                      <a:alpha val="43137"/>
                    </a:srgbClr>
                  </a:outerShdw>
                </a:effectLst>
              </a:rPr>
              <a:t>import std/os/path</a:t>
            </a:r>
          </a:p>
          <a:p>
            <a:pPr algn="l" rtl="0"/>
            <a:r>
              <a:rPr lang="en-US" sz="2000">
                <a:effectLst>
                  <a:outerShdw blurRad="38100" dist="38100" dir="2700000" algn="tl">
                    <a:srgbClr val="000000">
                      <a:alpha val="43137"/>
                    </a:srgbClr>
                  </a:outerShdw>
                </a:effectLst>
              </a:rPr>
              <a:t>import std/os/dir</a:t>
            </a:r>
          </a:p>
          <a:p>
            <a:pPr algn="l" rtl="0"/>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organize-notes(): &lt;io,exn&gt; ()</a:t>
            </a:r>
          </a:p>
          <a:p>
            <a:pPr algn="l" rtl="0"/>
            <a:r>
              <a:rPr lang="en-US" sz="2000">
                <a:effectLst>
                  <a:outerShdw blurRad="38100" dist="38100" dir="2700000" algn="tl">
                    <a:srgbClr val="000000">
                      <a:alpha val="43137"/>
                    </a:srgbClr>
                  </a:outerShdw>
                </a:effectLst>
              </a:rPr>
              <a:t>    val content = read-text-file("note.txt".path)</a:t>
            </a:r>
          </a:p>
          <a:p>
            <a:pPr algn="l" rtl="0"/>
            <a:r>
              <a:rPr lang="en-US" sz="2000">
                <a:effectLst>
                  <a:outerShdw blurRad="38100" dist="38100" dir="2700000" algn="tl">
                    <a:srgbClr val="000000">
                      <a:alpha val="43137"/>
                    </a:srgbClr>
                  </a:outerShdw>
                </a:effectLst>
              </a:rPr>
              <a:t>    val txt-files = list-directory(".".path).filter(fn(p) </a:t>
            </a:r>
          </a:p>
          <a:p>
            <a:pPr algn="l" rtl="0"/>
            <a:r>
              <a:rPr lang="en-US" sz="2000">
                <a:effectLst>
                  <a:outerShdw blurRad="38100" dist="38100" dir="2700000" algn="tl">
                    <a:srgbClr val="000000">
                      <a:alpha val="43137"/>
                    </a:srgbClr>
                  </a:outerShdw>
                </a:effectLst>
              </a:rPr>
              <a:t>       p.string.ends-with(".txt").is-just    </a:t>
            </a:r>
            <a:r>
              <a:rPr lang="en-US" sz="2000">
                <a:solidFill>
                  <a:srgbClr val="009A46"/>
                </a:solidFill>
                <a:effectLst>
                  <a:outerShdw blurRad="38100" dist="38100" dir="2700000" algn="tl">
                    <a:srgbClr val="000000">
                      <a:alpha val="43137"/>
                    </a:srgbClr>
                  </a:outerShdw>
                </a:effectLst>
              </a:rPr>
              <a:t>// Find all .txt files </a:t>
            </a:r>
          </a:p>
          <a:p>
            <a:pPr algn="l" rtl="0"/>
            <a:r>
              <a:rPr lang="en-US" sz="2000">
                <a:effectLst>
                  <a:outerShdw blurRad="38100" dist="38100" dir="2700000" algn="tl">
                    <a:srgbClr val="000000">
                      <a:alpha val="43137"/>
                    </a:srgbClr>
                  </a:outerShdw>
                </a:effectLst>
              </a:rPr>
              <a:t>    )</a:t>
            </a:r>
          </a:p>
          <a:p>
            <a:pPr algn="l" rtl="0"/>
            <a:r>
              <a:rPr lang="en-US" sz="2000">
                <a:effectLst>
                  <a:outerShdw blurRad="38100" dist="38100" dir="2700000" algn="tl">
                    <a:srgbClr val="000000">
                      <a:alpha val="43137"/>
                    </a:srgbClr>
                  </a:outerShdw>
                </a:effectLst>
              </a:rPr>
              <a:t>  </a:t>
            </a:r>
          </a:p>
          <a:p>
            <a:pPr algn="l" rtl="0"/>
            <a:r>
              <a:rPr lang="en-US" sz="2000">
                <a:effectLst>
                  <a:outerShdw blurRad="38100" dist="38100" dir="2700000" algn="tl">
                    <a:srgbClr val="000000">
                      <a:alpha val="43137"/>
                    </a:srgbClr>
                  </a:outerShdw>
                </a:effectLst>
              </a:rPr>
              <a:t>  var summary := "Notes Summary:\n"</a:t>
            </a:r>
          </a:p>
          <a:p>
            <a:pPr algn="l" rtl="0"/>
            <a:r>
              <a:rPr lang="en-US" sz="2000">
                <a:effectLst>
                  <a:outerShdw blurRad="38100" dist="38100" dir="2700000" algn="tl">
                    <a:srgbClr val="000000">
                      <a:alpha val="43137"/>
                    </a:srgbClr>
                  </a:outerShdw>
                </a:effectLst>
              </a:rPr>
              <a:t>  txt-files.foreach(fn(file)</a:t>
            </a:r>
          </a:p>
          <a:p>
            <a:pPr algn="l" rtl="0"/>
            <a:r>
              <a:rPr lang="en-US" sz="2000">
                <a:effectLst>
                  <a:outerShdw blurRad="38100" dist="38100" dir="2700000" algn="tl">
                    <a:srgbClr val="000000">
                      <a:alpha val="43137"/>
                    </a:srgbClr>
                  </a:outerShdw>
                </a:effectLst>
              </a:rPr>
              <a:t>     val name = basename(file).split(".")[0]    </a:t>
            </a:r>
            <a:r>
              <a:rPr lang="en-US" sz="2000">
                <a:solidFill>
                  <a:srgbClr val="009A46"/>
                </a:solidFill>
                <a:effectLst>
                  <a:outerShdw blurRad="38100" dist="38100" dir="2700000" algn="tl">
                    <a:srgbClr val="000000">
                      <a:alpha val="43137"/>
                    </a:srgbClr>
                  </a:outerShdw>
                </a:effectLst>
              </a:rPr>
              <a:t>//Extracts the filename</a:t>
            </a:r>
          </a:p>
          <a:p>
            <a:pPr algn="l" rtl="0"/>
            <a:r>
              <a:rPr lang="en-US" sz="2000">
                <a:effectLst>
                  <a:outerShdw blurRad="38100" dist="38100" dir="2700000" algn="tl">
                    <a:srgbClr val="000000">
                      <a:alpha val="43137"/>
                    </a:srgbClr>
                  </a:outerShdw>
                </a:effectLst>
              </a:rPr>
              <a:t>     summary := summary ++ name.show ++ "\n"</a:t>
            </a:r>
          </a:p>
          <a:p>
            <a:pPr algn="l" rtl="0"/>
            <a:r>
              <a:rPr lang="en-US" sz="2000">
                <a:effectLst>
                  <a:outerShdw blurRad="38100" dist="38100" dir="2700000" algn="tl">
                    <a:srgbClr val="000000">
                      <a:alpha val="43137"/>
                    </a:srgbClr>
                  </a:outerShdw>
                </a:effectLst>
              </a:rPr>
              <a:t>  )</a:t>
            </a:r>
          </a:p>
          <a:p>
            <a:pPr algn="l" rtl="0"/>
            <a:r>
              <a:rPr lang="en-US" sz="2000">
                <a:effectLst>
                  <a:outerShdw blurRad="38100" dist="38100" dir="2700000" algn="tl">
                    <a:srgbClr val="000000">
                      <a:alpha val="43137"/>
                    </a:srgbClr>
                  </a:outerShdw>
                </a:effectLst>
              </a:rPr>
              <a:t>  </a:t>
            </a:r>
          </a:p>
          <a:p>
            <a:pPr algn="l" rtl="0"/>
            <a:r>
              <a:rPr lang="en-US" sz="2000">
                <a:effectLst>
                  <a:outerShdw blurRad="38100" dist="38100" dir="2700000" algn="tl">
                    <a:srgbClr val="000000">
                      <a:alpha val="43137"/>
                    </a:srgbClr>
                  </a:outerShdw>
                </a:effectLst>
              </a:rPr>
              <a:t>  write-text-file("organized.txt".path, summary)    </a:t>
            </a:r>
            <a:r>
              <a:rPr lang="en-US" sz="2000">
                <a:solidFill>
                  <a:srgbClr val="009A46"/>
                </a:solidFill>
                <a:effectLst>
                  <a:outerShdw blurRad="38100" dist="38100" dir="2700000" algn="tl">
                    <a:srgbClr val="000000">
                      <a:alpha val="43137"/>
                    </a:srgbClr>
                  </a:outerShdw>
                </a:effectLst>
              </a:rPr>
              <a:t>// Save organized summary</a:t>
            </a:r>
          </a:p>
        </p:txBody>
      </p:sp>
      <p:sp>
        <p:nvSpPr>
          <p:cNvPr id="5" name="מלבן 4">
            <a:extLst>
              <a:ext uri="{FF2B5EF4-FFF2-40B4-BE49-F238E27FC236}">
                <a16:creationId xmlns:a16="http://schemas.microsoft.com/office/drawing/2014/main" id="{16F64F20-0A40-4E0C-9CEB-F3203C47E023}"/>
              </a:ext>
            </a:extLst>
          </p:cNvPr>
          <p:cNvSpPr/>
          <p:nvPr/>
        </p:nvSpPr>
        <p:spPr>
          <a:xfrm>
            <a:off x="7251154" y="681727"/>
            <a:ext cx="3976290" cy="2246769"/>
          </a:xfrm>
          <a:prstGeom prst="rect">
            <a:avLst/>
          </a:prstGeom>
        </p:spPr>
        <p:txBody>
          <a:bodyPr wrap="square">
            <a:spAutoFit/>
          </a:bodyPr>
          <a:lstStyle/>
          <a:p>
            <a:pPr algn="l"/>
            <a:r>
              <a:rPr lang="en-US" sz="2000">
                <a:effectLst>
                  <a:outerShdw blurRad="38100" dist="38100" dir="2700000" algn="tl">
                    <a:srgbClr val="000000">
                      <a:alpha val="43137"/>
                    </a:srgbClr>
                  </a:outerShdw>
                </a:effectLst>
              </a:rPr>
              <a:t>fun main()</a:t>
            </a:r>
          </a:p>
          <a:p>
            <a:pPr algn="l"/>
            <a:r>
              <a:rPr lang="en-US" sz="2000">
                <a:effectLst>
                  <a:outerShdw blurRad="38100" dist="38100" dir="2700000" algn="tl">
                    <a:srgbClr val="000000">
                      <a:alpha val="43137"/>
                    </a:srgbClr>
                  </a:outerShdw>
                </a:effectLst>
              </a:rPr>
              <a:t>  try({</a:t>
            </a:r>
          </a:p>
          <a:p>
            <a:pPr algn="l"/>
            <a:r>
              <a:rPr lang="en-US" sz="2000">
                <a:effectLst>
                  <a:outerShdw blurRad="38100" dist="38100" dir="2700000" algn="tl">
                    <a:srgbClr val="000000">
                      <a:alpha val="43137"/>
                    </a:srgbClr>
                  </a:outerShdw>
                </a:effectLst>
              </a:rPr>
              <a:t>    organize-notes()</a:t>
            </a:r>
          </a:p>
          <a:p>
            <a:pPr algn="l"/>
            <a:r>
              <a:rPr lang="en-US" sz="2000">
                <a:effectLst>
                  <a:outerShdw blurRad="38100" dist="38100" dir="2700000" algn="tl">
                    <a:srgbClr val="000000">
                      <a:alpha val="43137"/>
                    </a:srgbClr>
                  </a:outerShdw>
                </a:effectLst>
              </a:rPr>
              <a:t>    println("Notes organized!")</a:t>
            </a:r>
          </a:p>
          <a:p>
            <a:pPr algn="l"/>
            <a:r>
              <a:rPr lang="en-US" sz="2000">
                <a:effectLst>
                  <a:outerShdw blurRad="38100" dist="38100" dir="2700000" algn="tl">
                    <a:srgbClr val="000000">
                      <a:alpha val="43137"/>
                    </a:srgbClr>
                  </a:outerShdw>
                </a:effectLst>
              </a:rPr>
              <a:t>  }, fn(err) {</a:t>
            </a:r>
          </a:p>
          <a:p>
            <a:pPr algn="l"/>
            <a:r>
              <a:rPr lang="en-US" sz="2000">
                <a:effectLst>
                  <a:outerShdw blurRad="38100" dist="38100" dir="2700000" algn="tl">
                    <a:srgbClr val="000000">
                      <a:alpha val="43137"/>
                    </a:srgbClr>
                  </a:outerShdw>
                </a:effectLst>
              </a:rPr>
              <a:t>    println("Error: " ++ err.message)</a:t>
            </a:r>
          </a:p>
          <a:p>
            <a:pPr algn="l"/>
            <a:r>
              <a:rPr lang="en-US" sz="2000">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1519111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353EA7AB-CA49-4762-BC9F-62855FE73D3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3" name="מלבן 2">
            <a:extLst>
              <a:ext uri="{FF2B5EF4-FFF2-40B4-BE49-F238E27FC236}">
                <a16:creationId xmlns:a16="http://schemas.microsoft.com/office/drawing/2014/main" id="{A92EBEB5-526D-41D3-ADFF-4B0FAB76DCB8}"/>
              </a:ext>
            </a:extLst>
          </p:cNvPr>
          <p:cNvSpPr/>
          <p:nvPr/>
        </p:nvSpPr>
        <p:spPr>
          <a:xfrm>
            <a:off x="12384911" y="687198"/>
            <a:ext cx="5432827" cy="2800767"/>
          </a:xfrm>
          <a:prstGeom prst="rect">
            <a:avLst/>
          </a:prstGeom>
        </p:spPr>
        <p:txBody>
          <a:bodyPr wrap="square">
            <a:spAutoFit/>
          </a:bodyPr>
          <a:lstStyle/>
          <a:p>
            <a:pPr lvl="0" eaLnBrk="0" fontAlgn="base" hangingPunct="0">
              <a:spcBef>
                <a:spcPct val="0"/>
              </a:spcBef>
              <a:spcAft>
                <a:spcPct val="0"/>
              </a:spcAft>
            </a:pPr>
            <a:r>
              <a:rPr lang="he-IL" altLang="he-IL" sz="1600">
                <a:latin typeface="Arial" panose="020B0604020202020204" pitchFamily="34" charset="0"/>
              </a:rPr>
              <a:t> פעולות בסיסיות על מחרוזות:</a:t>
            </a:r>
          </a:p>
          <a:p>
            <a:pPr lvl="0" eaLnBrk="0" fontAlgn="base" hangingPunct="0">
              <a:spcBef>
                <a:spcPct val="0"/>
              </a:spcBef>
              <a:spcAft>
                <a:spcPct val="0"/>
              </a:spcAft>
              <a:buFontTx/>
              <a:buChar char="•"/>
            </a:pPr>
            <a:r>
              <a:rPr lang="he-IL" altLang="he-IL" sz="1600">
                <a:latin typeface="Arial Unicode MS"/>
              </a:rPr>
              <a:t>contains</a:t>
            </a:r>
            <a:r>
              <a:rPr lang="he-IL" altLang="he-IL" sz="1600"/>
              <a:t> - בודק אם מחרוזת מכילה תת-מחרוזת (מחזיר </a:t>
            </a:r>
            <a:r>
              <a:rPr lang="he-IL" altLang="he-IL" sz="1600">
                <a:latin typeface="Arial Unicode MS"/>
              </a:rPr>
              <a:t>true</a:t>
            </a:r>
            <a:r>
              <a:rPr lang="he-IL" altLang="he-IL" sz="1600"/>
              <a:t>/</a:t>
            </a:r>
            <a:r>
              <a:rPr lang="he-IL" altLang="he-IL" sz="1600">
                <a:latin typeface="Arial Unicode MS"/>
              </a:rPr>
              <a:t>false</a:t>
            </a:r>
            <a:r>
              <a:rPr lang="he-IL" altLang="he-IL" sz="1600"/>
              <a:t>)</a:t>
            </a:r>
            <a:r>
              <a:rPr lang="he-IL" altLang="he-IL" sz="1600">
                <a:latin typeface="Arial" panose="020B0604020202020204" pitchFamily="34" charset="0"/>
              </a:rPr>
              <a:t> </a:t>
            </a:r>
          </a:p>
          <a:p>
            <a:pPr lvl="0" eaLnBrk="0" fontAlgn="base" hangingPunct="0">
              <a:spcBef>
                <a:spcPct val="0"/>
              </a:spcBef>
              <a:spcAft>
                <a:spcPct val="0"/>
              </a:spcAft>
              <a:buFontTx/>
              <a:buChar char="•"/>
            </a:pPr>
            <a:r>
              <a:rPr lang="he-IL" altLang="he-IL" sz="1600">
                <a:latin typeface="Arial Unicode MS"/>
              </a:rPr>
              <a:t>starts-with</a:t>
            </a:r>
            <a:r>
              <a:rPr lang="he-IL" altLang="he-IL" sz="1600"/>
              <a:t> - בודק אם מחרוזת מתחילה במילה מסוימת- מחזיר אמת\ שקר</a:t>
            </a:r>
            <a:r>
              <a:rPr lang="he-IL" altLang="he-IL" sz="1600">
                <a:latin typeface="Arial" panose="020B0604020202020204" pitchFamily="34" charset="0"/>
              </a:rPr>
              <a:t> </a:t>
            </a:r>
          </a:p>
          <a:p>
            <a:pPr lvl="0" eaLnBrk="0" fontAlgn="base" hangingPunct="0">
              <a:spcBef>
                <a:spcPct val="0"/>
              </a:spcBef>
              <a:spcAft>
                <a:spcPct val="0"/>
              </a:spcAft>
              <a:buFontTx/>
              <a:buChar char="•"/>
            </a:pPr>
            <a:r>
              <a:rPr lang="he-IL" altLang="he-IL" sz="1600">
                <a:latin typeface="Arial Unicode MS"/>
              </a:rPr>
              <a:t>ends-with</a:t>
            </a:r>
            <a:r>
              <a:rPr lang="he-IL" altLang="he-IL" sz="1600"/>
              <a:t> - בודק אם מחרוזת מסתיימת במילה מסוימת (מחזיר אמת\ שקר)</a:t>
            </a:r>
            <a:r>
              <a:rPr lang="he-IL" altLang="he-IL" sz="1600">
                <a:latin typeface="Arial" panose="020B0604020202020204" pitchFamily="34" charset="0"/>
              </a:rPr>
              <a:t> </a:t>
            </a:r>
          </a:p>
          <a:p>
            <a:pPr lvl="0" eaLnBrk="0" fontAlgn="base" hangingPunct="0">
              <a:spcBef>
                <a:spcPct val="0"/>
              </a:spcBef>
              <a:spcAft>
                <a:spcPct val="0"/>
              </a:spcAft>
              <a:buFontTx/>
              <a:buChar char="•"/>
            </a:pPr>
            <a:r>
              <a:rPr lang="he-IL" altLang="he-IL" sz="1600">
                <a:latin typeface="Arial Unicode MS"/>
              </a:rPr>
              <a:t>split</a:t>
            </a:r>
            <a:r>
              <a:rPr lang="he-IL" altLang="he-IL" sz="1600"/>
              <a:t> - מפצל מחרוזת לפי מפריד כלשהו (פה זה פסיק) לרשימה של חלקים</a:t>
            </a:r>
            <a:r>
              <a:rPr lang="he-IL" altLang="he-IL" sz="1600">
                <a:latin typeface="Arial" panose="020B0604020202020204" pitchFamily="34" charset="0"/>
              </a:rPr>
              <a:t> </a:t>
            </a:r>
          </a:p>
          <a:p>
            <a:pPr lvl="0" eaLnBrk="0" fontAlgn="base" hangingPunct="0">
              <a:spcBef>
                <a:spcPct val="0"/>
              </a:spcBef>
              <a:spcAft>
                <a:spcPct val="0"/>
              </a:spcAft>
              <a:buFontTx/>
              <a:buChar char="•"/>
            </a:pPr>
            <a:r>
              <a:rPr lang="he-IL" altLang="he-IL" sz="1600">
                <a:latin typeface="Arial Unicode MS"/>
              </a:rPr>
              <a:t>replace-all</a:t>
            </a:r>
            <a:r>
              <a:rPr lang="he-IL" altLang="he-IL" sz="1600"/>
              <a:t> - מחליף כל המופעים של מילה במילה אחרת</a:t>
            </a:r>
            <a:r>
              <a:rPr lang="he-IL" altLang="he-IL" sz="1600">
                <a:latin typeface="Arial" panose="020B0604020202020204" pitchFamily="34" charset="0"/>
              </a:rPr>
              <a:t> </a:t>
            </a:r>
          </a:p>
          <a:p>
            <a:pPr lvl="0" eaLnBrk="0" fontAlgn="base" hangingPunct="0">
              <a:spcBef>
                <a:spcPct val="0"/>
              </a:spcBef>
              <a:spcAft>
                <a:spcPct val="0"/>
              </a:spcAft>
            </a:pPr>
            <a:endParaRPr lang="he-IL" altLang="he-IL" sz="1600">
              <a:latin typeface="Arial" panose="020B0604020202020204" pitchFamily="34" charset="0"/>
            </a:endParaRPr>
          </a:p>
        </p:txBody>
      </p:sp>
      <p:sp>
        <p:nvSpPr>
          <p:cNvPr id="5" name="מלבן 4">
            <a:extLst>
              <a:ext uri="{FF2B5EF4-FFF2-40B4-BE49-F238E27FC236}">
                <a16:creationId xmlns:a16="http://schemas.microsoft.com/office/drawing/2014/main" id="{EC3ACDD7-E51F-4E69-B3BD-86278A32F058}"/>
              </a:ext>
            </a:extLst>
          </p:cNvPr>
          <p:cNvSpPr/>
          <p:nvPr/>
        </p:nvSpPr>
        <p:spPr>
          <a:xfrm>
            <a:off x="5436203" y="394811"/>
            <a:ext cx="1319593" cy="584775"/>
          </a:xfrm>
          <a:prstGeom prst="rect">
            <a:avLst/>
          </a:prstGeom>
        </p:spPr>
        <p:txBody>
          <a:bodyPr wrap="none">
            <a:spAutoFit/>
          </a:bodyPr>
          <a:lstStyle/>
          <a:p>
            <a:r>
              <a:rPr lang="en-US" sz="3200">
                <a:effectLst>
                  <a:outerShdw blurRad="38100" dist="38100" dir="2700000" algn="tl">
                    <a:srgbClr val="000000">
                      <a:alpha val="43137"/>
                    </a:srgbClr>
                  </a:outerShdw>
                </a:effectLst>
              </a:rPr>
              <a:t>Strings</a:t>
            </a:r>
            <a:endParaRPr lang="he-IL" sz="3200">
              <a:effectLst>
                <a:outerShdw blurRad="38100" dist="38100" dir="2700000" algn="tl">
                  <a:srgbClr val="000000">
                    <a:alpha val="43137"/>
                  </a:srgbClr>
                </a:outerShdw>
              </a:effectLst>
            </a:endParaRPr>
          </a:p>
        </p:txBody>
      </p:sp>
      <p:sp>
        <p:nvSpPr>
          <p:cNvPr id="6" name="מלבן 5">
            <a:extLst>
              <a:ext uri="{FF2B5EF4-FFF2-40B4-BE49-F238E27FC236}">
                <a16:creationId xmlns:a16="http://schemas.microsoft.com/office/drawing/2014/main" id="{84111141-9690-40D7-988F-62A8E7AD7B3A}"/>
              </a:ext>
            </a:extLst>
          </p:cNvPr>
          <p:cNvSpPr/>
          <p:nvPr/>
        </p:nvSpPr>
        <p:spPr>
          <a:xfrm>
            <a:off x="522636" y="979586"/>
            <a:ext cx="9026478" cy="5324535"/>
          </a:xfrm>
          <a:prstGeom prst="rect">
            <a:avLst/>
          </a:prstGeom>
        </p:spPr>
        <p:txBody>
          <a:bodyPr wrap="square">
            <a:spAutoFit/>
          </a:bodyPr>
          <a:lstStyle/>
          <a:p>
            <a:pPr algn="l"/>
            <a:r>
              <a:rPr lang="en-US" sz="2000">
                <a:effectLst>
                  <a:outerShdw blurRad="38100" dist="38100" dir="2700000" algn="tl">
                    <a:srgbClr val="000000">
                      <a:alpha val="43137"/>
                    </a:srgbClr>
                  </a:outerShdw>
                </a:effectLst>
              </a:rPr>
              <a:t>import std/core</a:t>
            </a:r>
          </a:p>
          <a:p>
            <a:pPr algn="l"/>
            <a:br>
              <a:rPr lang="en-US" sz="2000">
                <a:effectLst>
                  <a:outerShdw blurRad="38100" dist="38100" dir="2700000" algn="tl">
                    <a:srgbClr val="000000">
                      <a:alpha val="43137"/>
                    </a:srgbClr>
                  </a:outerShdw>
                </a:effectLst>
              </a:rPr>
            </a:br>
            <a:r>
              <a:rPr lang="en-US" sz="2000">
                <a:effectLst>
                  <a:outerShdw blurRad="38100" dist="38100" dir="2700000" algn="tl">
                    <a:srgbClr val="000000">
                      <a:alpha val="43137"/>
                    </a:srgbClr>
                  </a:outerShdw>
                </a:effectLst>
              </a:rPr>
              <a:t>fun main()  </a:t>
            </a:r>
          </a:p>
          <a:p>
            <a:pPr algn="l"/>
            <a:r>
              <a:rPr lang="en-US" sz="2000">
                <a:effectLst>
                  <a:outerShdw blurRad="38100" dist="38100" dir="2700000" algn="tl">
                    <a:srgbClr val="000000">
                      <a:alpha val="43137"/>
                    </a:srgbClr>
                  </a:outerShdw>
                </a:effectLst>
              </a:rPr>
              <a:t>  val contains_result = "hello world".contains("world")      </a:t>
            </a:r>
            <a:r>
              <a:rPr lang="en-US" sz="2000">
                <a:solidFill>
                  <a:srgbClr val="009A46"/>
                </a:solidFill>
                <a:effectLst>
                  <a:outerShdw blurRad="38100" dist="38100" dir="2700000" algn="tl">
                    <a:srgbClr val="000000">
                      <a:alpha val="43137"/>
                    </a:srgbClr>
                  </a:outerShdw>
                </a:effectLst>
              </a:rPr>
              <a:t>// true</a:t>
            </a:r>
          </a:p>
          <a:p>
            <a:pPr algn="l"/>
            <a:r>
              <a:rPr lang="en-US" sz="2000">
                <a:effectLst>
                  <a:outerShdw blurRad="38100" dist="38100" dir="2700000" algn="tl">
                    <a:srgbClr val="000000">
                      <a:alpha val="43137"/>
                    </a:srgbClr>
                  </a:outerShdw>
                </a:effectLst>
              </a:rPr>
              <a:t>  println("Contains 'world': " ++ contains_result.show)</a:t>
            </a:r>
          </a:p>
          <a:p>
            <a:pPr algn="l"/>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val starts_result = "hello world".starts-with("hello").is-just    </a:t>
            </a:r>
            <a:r>
              <a:rPr lang="en-US" sz="2000">
                <a:solidFill>
                  <a:srgbClr val="009A46"/>
                </a:solidFill>
                <a:effectLst>
                  <a:outerShdw blurRad="38100" dist="38100" dir="2700000" algn="tl">
                    <a:srgbClr val="000000">
                      <a:alpha val="43137"/>
                    </a:srgbClr>
                  </a:outerShdw>
                </a:effectLst>
              </a:rPr>
              <a:t>// true  </a:t>
            </a:r>
          </a:p>
          <a:p>
            <a:pPr algn="l"/>
            <a:r>
              <a:rPr lang="en-US" sz="2000">
                <a:effectLst>
                  <a:outerShdw blurRad="38100" dist="38100" dir="2700000" algn="tl">
                    <a:srgbClr val="000000">
                      <a:alpha val="43137"/>
                    </a:srgbClr>
                  </a:outerShdw>
                </a:effectLst>
              </a:rPr>
              <a:t>  println("Starts with 'hello': " ++ starts_result.show)</a:t>
            </a:r>
          </a:p>
          <a:p>
            <a:pPr algn="l"/>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val ends_result = "hello world".ends-with("world").is-just    </a:t>
            </a:r>
            <a:r>
              <a:rPr lang="en-US" sz="2000">
                <a:solidFill>
                  <a:srgbClr val="009A46"/>
                </a:solidFill>
                <a:effectLst>
                  <a:outerShdw blurRad="38100" dist="38100" dir="2700000" algn="tl">
                    <a:srgbClr val="000000">
                      <a:alpha val="43137"/>
                    </a:srgbClr>
                  </a:outerShdw>
                </a:effectLst>
              </a:rPr>
              <a:t>  // true</a:t>
            </a:r>
          </a:p>
          <a:p>
            <a:pPr algn="l"/>
            <a:r>
              <a:rPr lang="en-US" sz="2000">
                <a:effectLst>
                  <a:outerShdw blurRad="38100" dist="38100" dir="2700000" algn="tl">
                    <a:srgbClr val="000000">
                      <a:alpha val="43137"/>
                    </a:srgbClr>
                  </a:outerShdw>
                </a:effectLst>
              </a:rPr>
              <a:t>  println("Ends with 'world': " ++ ends_result.show)</a:t>
            </a:r>
          </a:p>
          <a:p>
            <a:pPr algn="l"/>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val split_result = split("a,b,c", ",")        </a:t>
            </a:r>
            <a:r>
              <a:rPr lang="en-US" sz="2000">
                <a:solidFill>
                  <a:srgbClr val="009A46"/>
                </a:solidFill>
                <a:effectLst>
                  <a:outerShdw blurRad="38100" dist="38100" dir="2700000" algn="tl">
                    <a:srgbClr val="000000">
                      <a:alpha val="43137"/>
                    </a:srgbClr>
                  </a:outerShdw>
                </a:effectLst>
              </a:rPr>
              <a:t>// ["a", "b", "c"]</a:t>
            </a:r>
          </a:p>
          <a:p>
            <a:pPr algn="l"/>
            <a:r>
              <a:rPr lang="en-US" sz="2000">
                <a:effectLst>
                  <a:outerShdw blurRad="38100" dist="38100" dir="2700000" algn="tl">
                    <a:srgbClr val="000000">
                      <a:alpha val="43137"/>
                    </a:srgbClr>
                  </a:outerShdw>
                </a:effectLst>
              </a:rPr>
              <a:t>  println("Split result: " ++ split_result.show)</a:t>
            </a:r>
          </a:p>
          <a:p>
            <a:pPr algn="l"/>
            <a:r>
              <a:rPr lang="en-US" sz="2000">
                <a:effectLst>
                  <a:outerShdw blurRad="38100" dist="38100" dir="2700000" algn="tl">
                    <a:srgbClr val="000000">
                      <a:alpha val="43137"/>
                    </a:srgbClr>
                  </a:outerShdw>
                </a:effectLst>
              </a:rPr>
              <a:t>  </a:t>
            </a:r>
          </a:p>
          <a:p>
            <a:pPr algn="l"/>
            <a:r>
              <a:rPr lang="en-US" sz="2000">
                <a:effectLst>
                  <a:outerShdw blurRad="38100" dist="38100" dir="2700000" algn="tl">
                    <a:srgbClr val="000000">
                      <a:alpha val="43137"/>
                    </a:srgbClr>
                  </a:outerShdw>
                </a:effectLst>
              </a:rPr>
              <a:t>  val replace_result = replace-all("hello world", "world", "koka")  </a:t>
            </a:r>
            <a:r>
              <a:rPr lang="en-US" sz="2000">
                <a:solidFill>
                  <a:srgbClr val="009A46"/>
                </a:solidFill>
                <a:effectLst>
                  <a:outerShdw blurRad="38100" dist="38100" dir="2700000" algn="tl">
                    <a:srgbClr val="000000">
                      <a:alpha val="43137"/>
                    </a:srgbClr>
                  </a:outerShdw>
                </a:effectLst>
              </a:rPr>
              <a:t>    // "hello koka"</a:t>
            </a:r>
          </a:p>
          <a:p>
            <a:pPr algn="l"/>
            <a:r>
              <a:rPr lang="en-US" sz="2000">
                <a:effectLst>
                  <a:outerShdw blurRad="38100" dist="38100" dir="2700000" algn="tl">
                    <a:srgbClr val="000000">
                      <a:alpha val="43137"/>
                    </a:srgbClr>
                  </a:outerShdw>
                </a:effectLst>
              </a:rPr>
              <a:t>  println("After replacement: " ++ replace_result)</a:t>
            </a:r>
            <a:endParaRPr lang="en-US" sz="2000" b="0">
              <a:effectLst>
                <a:outerShdw blurRad="38100" dist="38100" dir="2700000" algn="tl">
                  <a:srgbClr val="000000">
                    <a:alpha val="43137"/>
                  </a:srgbClr>
                </a:outerShdw>
              </a:effectLst>
            </a:endParaRPr>
          </a:p>
        </p:txBody>
      </p:sp>
      <p:sp>
        <p:nvSpPr>
          <p:cNvPr id="8" name="מלבן 7">
            <a:extLst>
              <a:ext uri="{FF2B5EF4-FFF2-40B4-BE49-F238E27FC236}">
                <a16:creationId xmlns:a16="http://schemas.microsoft.com/office/drawing/2014/main" id="{7423C080-56AC-4197-8E3C-7137CE82B6B0}"/>
              </a:ext>
            </a:extLst>
          </p:cNvPr>
          <p:cNvSpPr/>
          <p:nvPr/>
        </p:nvSpPr>
        <p:spPr>
          <a:xfrm>
            <a:off x="8369700" y="2049093"/>
            <a:ext cx="1223058" cy="646331"/>
          </a:xfrm>
          <a:prstGeom prst="rect">
            <a:avLst/>
          </a:prstGeom>
        </p:spPr>
        <p:txBody>
          <a:bodyPr wrap="square">
            <a:spAutoFit/>
          </a:bodyPr>
          <a:lstStyle/>
          <a:p>
            <a:pPr algn="l"/>
            <a:endParaRPr lang="en-US">
              <a:effectLst>
                <a:outerShdw blurRad="38100" dist="38100" dir="2700000" algn="tl">
                  <a:srgbClr val="000000">
                    <a:alpha val="43137"/>
                  </a:srgbClr>
                </a:outerShdw>
              </a:effectLst>
            </a:endParaRPr>
          </a:p>
          <a:p>
            <a:pPr algn="l"/>
            <a:r>
              <a:rPr lang="en-US">
                <a:effectLst>
                  <a:outerShdw blurRad="38100" dist="38100" dir="2700000" algn="tl">
                    <a:srgbClr val="000000">
                      <a:alpha val="43137"/>
                    </a:srgbClr>
                  </a:outerShdw>
                </a:effectLst>
              </a:rPr>
              <a:t>  output:</a:t>
            </a:r>
            <a:endParaRPr lang="he-IL"/>
          </a:p>
        </p:txBody>
      </p:sp>
      <p:pic>
        <p:nvPicPr>
          <p:cNvPr id="9" name="תמונה 8">
            <a:extLst>
              <a:ext uri="{FF2B5EF4-FFF2-40B4-BE49-F238E27FC236}">
                <a16:creationId xmlns:a16="http://schemas.microsoft.com/office/drawing/2014/main" id="{E62E8518-55FF-4F53-B364-4D883222DA75}"/>
              </a:ext>
            </a:extLst>
          </p:cNvPr>
          <p:cNvPicPr>
            <a:picLocks noChangeAspect="1"/>
          </p:cNvPicPr>
          <p:nvPr/>
        </p:nvPicPr>
        <p:blipFill>
          <a:blip r:embed="rId4"/>
          <a:stretch>
            <a:fillRect/>
          </a:stretch>
        </p:blipFill>
        <p:spPr>
          <a:xfrm>
            <a:off x="8573307" y="2695424"/>
            <a:ext cx="3096057" cy="1247949"/>
          </a:xfrm>
          <a:prstGeom prst="rect">
            <a:avLst/>
          </a:prstGeom>
        </p:spPr>
      </p:pic>
    </p:spTree>
    <p:extLst>
      <p:ext uri="{BB962C8B-B14F-4D97-AF65-F5344CB8AC3E}">
        <p14:creationId xmlns:p14="http://schemas.microsoft.com/office/powerpoint/2010/main" val="159584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714EEA89-46E0-4D4F-9582-F423A195DB9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4" name="מלבן 3">
            <a:extLst>
              <a:ext uri="{FF2B5EF4-FFF2-40B4-BE49-F238E27FC236}">
                <a16:creationId xmlns:a16="http://schemas.microsoft.com/office/drawing/2014/main" id="{FF7295A1-D36A-492B-A7B3-67A121EBBE66}"/>
              </a:ext>
            </a:extLst>
          </p:cNvPr>
          <p:cNvSpPr/>
          <p:nvPr/>
        </p:nvSpPr>
        <p:spPr>
          <a:xfrm>
            <a:off x="11517225" y="72509"/>
            <a:ext cx="551754" cy="369332"/>
          </a:xfrm>
          <a:prstGeom prst="rect">
            <a:avLst/>
          </a:prstGeom>
        </p:spPr>
        <p:txBody>
          <a:bodyPr wrap="none">
            <a:spAutoFit/>
          </a:bodyPr>
          <a:lstStyle/>
          <a:p>
            <a:r>
              <a:rPr lang="he-IL">
                <a:solidFill>
                  <a:srgbClr val="222222"/>
                </a:solidFil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rPr>
              <a:t>ב"ה</a:t>
            </a:r>
            <a:endParaRPr lang="he-IL">
              <a:effectLst>
                <a:outerShdw blurRad="50800" dist="38100" dir="5400000" algn="t" rotWithShape="0">
                  <a:prstClr val="black">
                    <a:alpha val="40000"/>
                  </a:prstClr>
                </a:outerShdw>
              </a:effectLst>
              <a:latin typeface="Segoe UI Semilight" panose="020B0402040204020203" pitchFamily="34" charset="0"/>
              <a:cs typeface="Segoe UI Semilight" panose="020B0402040204020203" pitchFamily="34" charset="0"/>
            </a:endParaRPr>
          </a:p>
        </p:txBody>
      </p:sp>
      <p:sp>
        <p:nvSpPr>
          <p:cNvPr id="2" name="מלבן 1">
            <a:extLst>
              <a:ext uri="{FF2B5EF4-FFF2-40B4-BE49-F238E27FC236}">
                <a16:creationId xmlns:a16="http://schemas.microsoft.com/office/drawing/2014/main" id="{8100C439-6F79-4892-B792-9C9C4E008492}"/>
              </a:ext>
            </a:extLst>
          </p:cNvPr>
          <p:cNvSpPr/>
          <p:nvPr/>
        </p:nvSpPr>
        <p:spPr>
          <a:xfrm>
            <a:off x="12820890" y="734228"/>
            <a:ext cx="4019309" cy="523220"/>
          </a:xfrm>
          <a:prstGeom prst="rect">
            <a:avLst/>
          </a:prstGeom>
        </p:spPr>
        <p:txBody>
          <a:bodyPr wrap="square">
            <a:spAutoFit/>
          </a:bodyPr>
          <a:lstStyle/>
          <a:p>
            <a:endParaRPr lang="he-IL" sz="1400"/>
          </a:p>
          <a:p>
            <a:endParaRPr lang="he-IL" sz="1400"/>
          </a:p>
        </p:txBody>
      </p:sp>
      <p:sp>
        <p:nvSpPr>
          <p:cNvPr id="7" name="מלבן 6">
            <a:extLst>
              <a:ext uri="{FF2B5EF4-FFF2-40B4-BE49-F238E27FC236}">
                <a16:creationId xmlns:a16="http://schemas.microsoft.com/office/drawing/2014/main" id="{E3C645B8-EB06-4368-9235-42590CF41AF7}"/>
              </a:ext>
            </a:extLst>
          </p:cNvPr>
          <p:cNvSpPr/>
          <p:nvPr/>
        </p:nvSpPr>
        <p:spPr>
          <a:xfrm>
            <a:off x="12782307" y="626507"/>
            <a:ext cx="3429001" cy="1323439"/>
          </a:xfrm>
          <a:prstGeom prst="rect">
            <a:avLst/>
          </a:prstGeom>
        </p:spPr>
        <p:txBody>
          <a:bodyPr wrap="square">
            <a:spAutoFit/>
          </a:bodyPr>
          <a:lstStyle/>
          <a:p>
            <a:r>
              <a:rPr lang="he-IL" sz="1600"/>
              <a:t>לא כל מה שכתוב בדוקיומנטציה אכן קיים בשפה.</a:t>
            </a:r>
          </a:p>
          <a:p>
            <a:r>
              <a:rPr lang="he-IL" sz="1600"/>
              <a:t>אחד הדברים שמצאנו בדוקיומנטציה ואין בשפה זה האפשרות לבחור מספר רנדומלי...</a:t>
            </a:r>
          </a:p>
        </p:txBody>
      </p:sp>
      <p:sp>
        <p:nvSpPr>
          <p:cNvPr id="8" name="מלבן 7">
            <a:extLst>
              <a:ext uri="{FF2B5EF4-FFF2-40B4-BE49-F238E27FC236}">
                <a16:creationId xmlns:a16="http://schemas.microsoft.com/office/drawing/2014/main" id="{5861BC54-590B-45A5-A69F-3B19590DD8C2}"/>
              </a:ext>
            </a:extLst>
          </p:cNvPr>
          <p:cNvSpPr/>
          <p:nvPr/>
        </p:nvSpPr>
        <p:spPr>
          <a:xfrm>
            <a:off x="1940791" y="72508"/>
            <a:ext cx="8309775" cy="1446550"/>
          </a:xfrm>
          <a:prstGeom prst="rect">
            <a:avLst/>
          </a:prstGeom>
        </p:spPr>
        <p:txBody>
          <a:bodyPr wrap="none">
            <a:spAutoFit/>
          </a:bodyPr>
          <a:lstStyle/>
          <a:p>
            <a:pPr algn="ctr"/>
            <a:r>
              <a:rPr lang="en-US" sz="3200">
                <a:effectLst>
                  <a:outerShdw blurRad="38100" dist="38100" dir="2700000" algn="tl">
                    <a:srgbClr val="000000">
                      <a:alpha val="43137"/>
                    </a:srgbClr>
                  </a:outerShdw>
                </a:effectLst>
              </a:rPr>
              <a:t>Notes</a:t>
            </a:r>
          </a:p>
          <a:p>
            <a:pPr algn="ctr"/>
            <a:endParaRPr lang="en-US" sz="3600">
              <a:effectLst>
                <a:outerShdw blurRad="38100" dist="38100" dir="2700000" algn="tl">
                  <a:srgbClr val="000000">
                    <a:alpha val="43137"/>
                  </a:srgbClr>
                </a:outerShdw>
              </a:effectLst>
            </a:endParaRPr>
          </a:p>
          <a:p>
            <a:pPr algn="ctr"/>
            <a:r>
              <a:rPr lang="en-US" sz="2000">
                <a:effectLst>
                  <a:outerShdw blurRad="38100" dist="38100" dir="2700000" algn="tl">
                    <a:srgbClr val="000000">
                      <a:alpha val="43137"/>
                    </a:srgbClr>
                  </a:outerShdw>
                </a:effectLst>
              </a:rPr>
              <a:t>This is an example from the documentation- not implemented in the language</a:t>
            </a:r>
            <a:endParaRPr lang="he-IL" sz="2000">
              <a:effectLst>
                <a:outerShdw blurRad="38100" dist="38100" dir="2700000" algn="tl">
                  <a:srgbClr val="000000">
                    <a:alpha val="43137"/>
                  </a:srgbClr>
                </a:outerShdw>
              </a:effectLst>
            </a:endParaRPr>
          </a:p>
        </p:txBody>
      </p:sp>
      <p:pic>
        <p:nvPicPr>
          <p:cNvPr id="3" name="תמונה 2">
            <a:extLst>
              <a:ext uri="{FF2B5EF4-FFF2-40B4-BE49-F238E27FC236}">
                <a16:creationId xmlns:a16="http://schemas.microsoft.com/office/drawing/2014/main" id="{D9373DD1-62E5-43A3-9803-4E298EF7356E}"/>
              </a:ext>
            </a:extLst>
          </p:cNvPr>
          <p:cNvPicPr>
            <a:picLocks noChangeAspect="1"/>
          </p:cNvPicPr>
          <p:nvPr/>
        </p:nvPicPr>
        <p:blipFill>
          <a:blip r:embed="rId4"/>
          <a:stretch>
            <a:fillRect/>
          </a:stretch>
        </p:blipFill>
        <p:spPr>
          <a:xfrm>
            <a:off x="2275620" y="1949946"/>
            <a:ext cx="7640116" cy="1600423"/>
          </a:xfrm>
          <a:prstGeom prst="rect">
            <a:avLst/>
          </a:prstGeom>
        </p:spPr>
      </p:pic>
    </p:spTree>
    <p:extLst>
      <p:ext uri="{BB962C8B-B14F-4D97-AF65-F5344CB8AC3E}">
        <p14:creationId xmlns:p14="http://schemas.microsoft.com/office/powerpoint/2010/main" val="1972436076"/>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16447</TotalTime>
  <Words>5783</Words>
  <Application>Microsoft Office PowerPoint</Application>
  <PresentationFormat>מסך רחב</PresentationFormat>
  <Paragraphs>731</Paragraphs>
  <Slides>33</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33</vt:i4>
      </vt:variant>
    </vt:vector>
  </HeadingPairs>
  <TitlesOfParts>
    <vt:vector size="41" baseType="lpstr">
      <vt:lpstr>__jetbrains_e4195f</vt:lpstr>
      <vt:lpstr>Arial</vt:lpstr>
      <vt:lpstr>Arial Unicode MS</vt:lpstr>
      <vt:lpstr>Calibri</vt:lpstr>
      <vt:lpstr>Calibri Light</vt:lpstr>
      <vt:lpstr>Segoe UI Semilight</vt:lpstr>
      <vt:lpstr>Wingdings</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יסכה פיטוסי</dc:creator>
  <cp:lastModifiedBy>יסכה פיטוסי</cp:lastModifiedBy>
  <cp:revision>336</cp:revision>
  <dcterms:created xsi:type="dcterms:W3CDTF">2025-06-25T15:13:11Z</dcterms:created>
  <dcterms:modified xsi:type="dcterms:W3CDTF">2026-06-18T10:11:08Z</dcterms:modified>
</cp:coreProperties>
</file>